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title>
      <c:tx>
        <c:rich>
          <a:bodyPr/>
          <a:lstStyle/>
          <a:p>
            <a:r>
              <a:rPr lang="en" sz="165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Teacher-target custom loss · epoch 1–60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Training loss</c:v>
          </c:tx>
          <c:spPr>
            <a:ln w="23813">
              <a:solidFill>
                <a:srgbClr val="0369A1"/>
              </a:solidFill>
            </a:ln>
          </c:spPr>
          <c:marker>
            <c:symbol val="none"/>
          </c:marker>
          <c:cat>
            <c:numRef>
              <c:f>'Chart Data'!$A$2:$A$61</c:f>
              <c:numCache>
                <c:formatCode>General</c:formatCod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numCache>
            </c:numRef>
          </c:cat>
          <c:val>
            <c:numRef>
              <c:f>'Chart Data'!$B$2:$B$61</c:f>
              <c:numCache>
                <c:formatCode>General</c:formatCode>
                <c:ptCount val="60"/>
                <c:pt idx="0">
                  <c:v>79.267127990722699</c:v>
                </c:pt>
                <c:pt idx="1">
                  <c:v>10.3434906005859</c:v>
                </c:pt>
                <c:pt idx="2">
                  <c:v>5.2573013305664098</c:v>
                </c:pt>
                <c:pt idx="3">
                  <c:v>5.6751289367675799</c:v>
                </c:pt>
                <c:pt idx="4">
                  <c:v>4.55456495285034</c:v>
                </c:pt>
                <c:pt idx="5">
                  <c:v>3.4166069030761701</c:v>
                </c:pt>
                <c:pt idx="6">
                  <c:v>1.0638000965118399</c:v>
                </c:pt>
                <c:pt idx="7">
                  <c:v>0.61636745929717995</c:v>
                </c:pt>
                <c:pt idx="8">
                  <c:v>0.57114553451538097</c:v>
                </c:pt>
                <c:pt idx="9">
                  <c:v>0.33230131864547702</c:v>
                </c:pt>
                <c:pt idx="10">
                  <c:v>0.21669058501720401</c:v>
                </c:pt>
                <c:pt idx="11">
                  <c:v>0.17346702516078899</c:v>
                </c:pt>
                <c:pt idx="12">
                  <c:v>0.23495499789714799</c:v>
                </c:pt>
                <c:pt idx="13">
                  <c:v>0.66851049661636397</c:v>
                </c:pt>
                <c:pt idx="14">
                  <c:v>0.19895562529563901</c:v>
                </c:pt>
                <c:pt idx="15">
                  <c:v>0.31367579102516202</c:v>
                </c:pt>
                <c:pt idx="16">
                  <c:v>1.89712297916412</c:v>
                </c:pt>
                <c:pt idx="17">
                  <c:v>2.5652623176574698</c:v>
                </c:pt>
                <c:pt idx="18">
                  <c:v>5.5096602439880398</c:v>
                </c:pt>
                <c:pt idx="19">
                  <c:v>4.0572566986084002</c:v>
                </c:pt>
                <c:pt idx="20">
                  <c:v>1.17045474052429</c:v>
                </c:pt>
                <c:pt idx="21">
                  <c:v>1.86815798282623</c:v>
                </c:pt>
                <c:pt idx="22">
                  <c:v>2.5327167510986301</c:v>
                </c:pt>
                <c:pt idx="23">
                  <c:v>0.74561339616775502</c:v>
                </c:pt>
                <c:pt idx="24">
                  <c:v>0.25472992658615101</c:v>
                </c:pt>
                <c:pt idx="25">
                  <c:v>0.28791561722755399</c:v>
                </c:pt>
                <c:pt idx="26">
                  <c:v>0.229591995477676</c:v>
                </c:pt>
                <c:pt idx="27">
                  <c:v>0.188643604516983</c:v>
                </c:pt>
                <c:pt idx="28">
                  <c:v>0.89566659927368197</c:v>
                </c:pt>
                <c:pt idx="29">
                  <c:v>13.3488254547119</c:v>
                </c:pt>
                <c:pt idx="30">
                  <c:v>43.062808990478501</c:v>
                </c:pt>
                <c:pt idx="31">
                  <c:v>4.56117486953735</c:v>
                </c:pt>
                <c:pt idx="32">
                  <c:v>2.98299312591553</c:v>
                </c:pt>
                <c:pt idx="33">
                  <c:v>0.80575293302536</c:v>
                </c:pt>
                <c:pt idx="34">
                  <c:v>0.26772674918174699</c:v>
                </c:pt>
                <c:pt idx="35">
                  <c:v>0.228140383958817</c:v>
                </c:pt>
                <c:pt idx="36">
                  <c:v>0.19180265069007901</c:v>
                </c:pt>
                <c:pt idx="37">
                  <c:v>0.176673173904419</c:v>
                </c:pt>
                <c:pt idx="38">
                  <c:v>0.39667552709579501</c:v>
                </c:pt>
                <c:pt idx="39">
                  <c:v>0.25797003507614102</c:v>
                </c:pt>
                <c:pt idx="40">
                  <c:v>0.20035307109355899</c:v>
                </c:pt>
                <c:pt idx="41">
                  <c:v>0.45072817802429199</c:v>
                </c:pt>
                <c:pt idx="42">
                  <c:v>1.0420843362808201</c:v>
                </c:pt>
                <c:pt idx="43">
                  <c:v>0.37545156478881803</c:v>
                </c:pt>
                <c:pt idx="44">
                  <c:v>0.16901233792305001</c:v>
                </c:pt>
                <c:pt idx="45">
                  <c:v>0.478464305400848</c:v>
                </c:pt>
                <c:pt idx="46">
                  <c:v>1.0670700073242201</c:v>
                </c:pt>
                <c:pt idx="47">
                  <c:v>1.5139358043670701</c:v>
                </c:pt>
                <c:pt idx="48">
                  <c:v>3.7336895465850799</c:v>
                </c:pt>
                <c:pt idx="49">
                  <c:v>4.8587813377380398</c:v>
                </c:pt>
                <c:pt idx="50">
                  <c:v>1.6186167001724201</c:v>
                </c:pt>
                <c:pt idx="51">
                  <c:v>0.470589250326157</c:v>
                </c:pt>
                <c:pt idx="52">
                  <c:v>0.24833485484123199</c:v>
                </c:pt>
                <c:pt idx="53">
                  <c:v>0.37493169307708701</c:v>
                </c:pt>
                <c:pt idx="54">
                  <c:v>1.1404503583908101</c:v>
                </c:pt>
                <c:pt idx="55">
                  <c:v>0.45669502019882202</c:v>
                </c:pt>
                <c:pt idx="56">
                  <c:v>1.15052342414856</c:v>
                </c:pt>
                <c:pt idx="57">
                  <c:v>2.1601645946502699</c:v>
                </c:pt>
                <c:pt idx="58">
                  <c:v>1.3621790409088099</c:v>
                </c:pt>
                <c:pt idx="59">
                  <c:v>3.2040946483612101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41-CC49-B167-A8BF4444382F}"/>
            </c:ext>
          </c:extLst>
        </c:ser>
        <c:ser>
          <c:idx val="1"/>
          <c:order val="1"/>
          <c:tx>
            <c:v>Validation loss</c:v>
          </c:tx>
          <c:spPr>
            <a:ln w="28575">
              <a:solidFill>
                <a:srgbClr val="6D28D9"/>
              </a:solidFill>
            </a:ln>
          </c:spPr>
          <c:marker>
            <c:symbol val="none"/>
          </c:marker>
          <c:cat>
            <c:numRef>
              <c:f>'Chart Data'!$C$2:$C$61</c:f>
              <c:numCache>
                <c:formatCode>General</c:formatCode>
                <c:ptCount val="6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</c:numCache>
            </c:numRef>
          </c:cat>
          <c:val>
            <c:numRef>
              <c:f>'Chart Data'!$D$2:$D$61</c:f>
              <c:numCache>
                <c:formatCode>General</c:formatCode>
                <c:ptCount val="60"/>
                <c:pt idx="0">
                  <c:v>42.297332763671903</c:v>
                </c:pt>
                <c:pt idx="1">
                  <c:v>30.0927848815918</c:v>
                </c:pt>
                <c:pt idx="2">
                  <c:v>10.610322952270501</c:v>
                </c:pt>
                <c:pt idx="3">
                  <c:v>5.4936327934265101</c:v>
                </c:pt>
                <c:pt idx="4">
                  <c:v>4.66823482513428</c:v>
                </c:pt>
                <c:pt idx="5">
                  <c:v>3.8165240287780802</c:v>
                </c:pt>
                <c:pt idx="6">
                  <c:v>5.8650574684143102</c:v>
                </c:pt>
                <c:pt idx="7">
                  <c:v>5.4877238273620597</c:v>
                </c:pt>
                <c:pt idx="8">
                  <c:v>7.8213591575622603</c:v>
                </c:pt>
                <c:pt idx="9">
                  <c:v>6.1710071563720703</c:v>
                </c:pt>
                <c:pt idx="10">
                  <c:v>2.1984810829162602</c:v>
                </c:pt>
                <c:pt idx="11">
                  <c:v>4.1302680969238299</c:v>
                </c:pt>
                <c:pt idx="12">
                  <c:v>1.86925828456879</c:v>
                </c:pt>
                <c:pt idx="13">
                  <c:v>12.996034622192401</c:v>
                </c:pt>
                <c:pt idx="14">
                  <c:v>18.4481010437012</c:v>
                </c:pt>
                <c:pt idx="15">
                  <c:v>27.2939338684082</c:v>
                </c:pt>
                <c:pt idx="16">
                  <c:v>142.91499328613301</c:v>
                </c:pt>
                <c:pt idx="17">
                  <c:v>254.92500305175801</c:v>
                </c:pt>
                <c:pt idx="18">
                  <c:v>146.19601440429699</c:v>
                </c:pt>
                <c:pt idx="19">
                  <c:v>143.11129760742199</c:v>
                </c:pt>
                <c:pt idx="20">
                  <c:v>66.191940307617202</c:v>
                </c:pt>
                <c:pt idx="21">
                  <c:v>5.0239610671997097</c:v>
                </c:pt>
                <c:pt idx="22">
                  <c:v>2.7647395133972199</c:v>
                </c:pt>
                <c:pt idx="23">
                  <c:v>0.63464879989624001</c:v>
                </c:pt>
                <c:pt idx="24">
                  <c:v>0.52540963888168302</c:v>
                </c:pt>
                <c:pt idx="25">
                  <c:v>0.83300858736038197</c:v>
                </c:pt>
                <c:pt idx="26">
                  <c:v>0.55552220344543501</c:v>
                </c:pt>
                <c:pt idx="27">
                  <c:v>0.74785286188125599</c:v>
                </c:pt>
                <c:pt idx="28">
                  <c:v>11.6544275283813</c:v>
                </c:pt>
                <c:pt idx="29">
                  <c:v>60.568370819091797</c:v>
                </c:pt>
                <c:pt idx="30">
                  <c:v>14.5459032058716</c:v>
                </c:pt>
                <c:pt idx="31">
                  <c:v>4.0941572189331099</c:v>
                </c:pt>
                <c:pt idx="32">
                  <c:v>3.1076455116271999</c:v>
                </c:pt>
                <c:pt idx="33">
                  <c:v>15.1290187835693</c:v>
                </c:pt>
                <c:pt idx="34">
                  <c:v>31.7361946105957</c:v>
                </c:pt>
                <c:pt idx="35">
                  <c:v>24.908496856689499</c:v>
                </c:pt>
                <c:pt idx="36">
                  <c:v>27.997442245483398</c:v>
                </c:pt>
                <c:pt idx="37">
                  <c:v>26.276691436767599</c:v>
                </c:pt>
                <c:pt idx="38">
                  <c:v>4.6058411598205602</c:v>
                </c:pt>
                <c:pt idx="39">
                  <c:v>0.760581195354462</c:v>
                </c:pt>
                <c:pt idx="40">
                  <c:v>1.3142192363739</c:v>
                </c:pt>
                <c:pt idx="41">
                  <c:v>13.3708753585815</c:v>
                </c:pt>
                <c:pt idx="42">
                  <c:v>28.5981254577637</c:v>
                </c:pt>
                <c:pt idx="43">
                  <c:v>33.299350738525398</c:v>
                </c:pt>
                <c:pt idx="44">
                  <c:v>24.993515014648398</c:v>
                </c:pt>
                <c:pt idx="45">
                  <c:v>22.515672683715799</c:v>
                </c:pt>
                <c:pt idx="46">
                  <c:v>40.667160034179702</c:v>
                </c:pt>
                <c:pt idx="47">
                  <c:v>82.877853393554702</c:v>
                </c:pt>
                <c:pt idx="48">
                  <c:v>7.44476222991943</c:v>
                </c:pt>
                <c:pt idx="49">
                  <c:v>2.7838482856750502</c:v>
                </c:pt>
                <c:pt idx="50">
                  <c:v>4.2108817100524902</c:v>
                </c:pt>
                <c:pt idx="51">
                  <c:v>1.78833615779877</c:v>
                </c:pt>
                <c:pt idx="52">
                  <c:v>3.595370054245</c:v>
                </c:pt>
                <c:pt idx="53">
                  <c:v>23.571756362915</c:v>
                </c:pt>
                <c:pt idx="54">
                  <c:v>15.381792068481399</c:v>
                </c:pt>
                <c:pt idx="55">
                  <c:v>42.245582580566399</c:v>
                </c:pt>
                <c:pt idx="56">
                  <c:v>90.26806640625</c:v>
                </c:pt>
                <c:pt idx="57">
                  <c:v>66.681495666503906</c:v>
                </c:pt>
                <c:pt idx="58">
                  <c:v>43.450244903564503</c:v>
                </c:pt>
                <c:pt idx="59">
                  <c:v>71.714584350585895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41-CC49-B167-A8BF444438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tickLblSkip val="10"/>
        <c:noMultiLvlLbl val="1"/>
      </c:catAx>
      <c:valAx>
        <c:axId val="48672768"/>
        <c:scaling>
          <c:orientation val="minMax"/>
          <c:max val="28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8FAFC"/>
        </a:solidFill>
      </c:spPr>
    </c:plotArea>
    <c:legend>
      <c:legendPos val="b"/>
      <c:overlay val="0"/>
      <c:txPr>
        <a:bodyPr anchorCtr="1"/>
        <a:lstStyle/>
        <a:p>
          <a:pPr>
            <a:defRPr sz="1575">
              <a:latin typeface="PingFang TC"/>
              <a:ea typeface="PingFang TC"/>
              <a:cs typeface="PingFang TC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8FAFC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title>
      <c:tx>
        <c:rich>
          <a:bodyPr/>
          <a:lstStyle/>
          <a:p>
            <a:r>
              <a:rPr lang="en" sz="165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log10(mean full-output MAE) · raw output units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Real cross-domain image swap · n=5</c:v>
          </c:tx>
          <c:spPr>
            <a:solidFill>
              <a:srgbClr val="0369A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Final USA</c:v>
                </c:pt>
                <c:pt idx="1">
                  <c:v>Final Taiwan</c:v>
                </c:pt>
                <c:pt idx="2">
                  <c:v>Best USA</c:v>
                </c:pt>
                <c:pt idx="3">
                  <c:v>Best Taiwan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-7.0129459299191801</c:v>
                </c:pt>
                <c:pt idx="1">
                  <c:v>-7.0129459299191801</c:v>
                </c:pt>
                <c:pt idx="2">
                  <c:v>-6.4920876742873403</c:v>
                </c:pt>
                <c:pt idx="3">
                  <c:v>-6.4920876742873403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94-4E4C-A71F-49231A52132F}"/>
            </c:ext>
          </c:extLst>
        </c:ser>
        <c:ser>
          <c:idx val="1"/>
          <c:order val="1"/>
          <c:tx>
            <c:v>Prior-eight-pair state · n=4</c:v>
          </c:tx>
          <c:spPr>
            <a:solidFill>
              <a:srgbClr val="6D28D9"/>
            </a:solidFill>
          </c:spPr>
          <c:invertIfNegative val="1"/>
          <c:cat>
            <c:strRef>
              <c:f>'Chart Data'!$C$2:$C$5</c:f>
              <c:strCache>
                <c:ptCount val="4"/>
                <c:pt idx="0">
                  <c:v>Final USA</c:v>
                </c:pt>
                <c:pt idx="1">
                  <c:v>Final Taiwan</c:v>
                </c:pt>
                <c:pt idx="2">
                  <c:v>Best USA</c:v>
                </c:pt>
                <c:pt idx="3">
                  <c:v>Best Taiwan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0.27142063453665699</c:v>
                </c:pt>
                <c:pt idx="1">
                  <c:v>0.27142073627707802</c:v>
                </c:pt>
                <c:pt idx="2">
                  <c:v>0.31089142876250597</c:v>
                </c:pt>
                <c:pt idx="3">
                  <c:v>0.31089137320870402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294-4E4C-A71F-49231A521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-9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  <c:spPr>
        <a:solidFill>
          <a:srgbClr val="F8FAFC"/>
        </a:solidFill>
      </c:spPr>
    </c:plotArea>
    <c:legend>
      <c:legendPos val="b"/>
      <c:overlay val="0"/>
      <c:txPr>
        <a:bodyPr anchorCtr="1"/>
        <a:lstStyle/>
        <a:p>
          <a:pPr>
            <a:defRPr sz="1575">
              <a:latin typeface="PingFang TC"/>
              <a:ea typeface="PingFang TC"/>
              <a:cs typeface="PingFang TC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8FAFC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title>
      <c:tx>
        <c:rich>
          <a:bodyPr/>
          <a:lstStyle/>
          <a:p>
            <a:r>
              <a:rPr lang="en" sz="165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log10(activation MAE) · same real-image swap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final</c:v>
          </c:tx>
          <c:spPr>
            <a:ln w="28575">
              <a:solidFill>
                <a:srgbClr val="6D28D9"/>
              </a:solidFill>
            </a:ln>
          </c:spPr>
          <c:marker>
            <c:symbol val="none"/>
          </c:marker>
          <c:cat>
            <c:strRef>
              <c:f>'Chart Data'!$A$2:$A$9</c:f>
              <c:strCache>
                <c:ptCount val="8"/>
                <c:pt idx="0">
                  <c:v>Stem</c:v>
                </c:pt>
                <c:pt idx="1">
                  <c:v>3c</c:v>
                </c:pt>
                <c:pt idx="2">
                  <c:v>4d</c:v>
                </c:pt>
                <c:pt idx="3">
                  <c:v>5d</c:v>
                </c:pt>
                <c:pt idx="4">
                  <c:v>6e</c:v>
                </c:pt>
                <c:pt idx="5">
                  <c:v>7b</c:v>
                </c:pt>
                <c:pt idx="6">
                  <c:v>Top</c:v>
                </c:pt>
                <c:pt idx="7">
                  <c:v>Flatten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0.88682677062973503</c:v>
                </c:pt>
                <c:pt idx="1">
                  <c:v>-2.46278854688493</c:v>
                </c:pt>
                <c:pt idx="2">
                  <c:v>-3.7105551157345502</c:v>
                </c:pt>
                <c:pt idx="3">
                  <c:v>-5.0663117262329296</c:v>
                </c:pt>
                <c:pt idx="4">
                  <c:v>-6.4908741328120803</c:v>
                </c:pt>
                <c:pt idx="5">
                  <c:v>-7.7041055804411096</c:v>
                </c:pt>
                <c:pt idx="6">
                  <c:v>-7.5398780057864503</c:v>
                </c:pt>
                <c:pt idx="7">
                  <c:v>-6.9680829414161902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74-194E-90CB-67002553604E}"/>
            </c:ext>
          </c:extLst>
        </c:ser>
        <c:ser>
          <c:idx val="1"/>
          <c:order val="1"/>
          <c:tx>
            <c:v>best</c:v>
          </c:tx>
          <c:spPr>
            <a:ln w="28575">
              <a:solidFill>
                <a:srgbClr val="0369A1"/>
              </a:solidFill>
            </a:ln>
          </c:spPr>
          <c:marker>
            <c:symbol val="none"/>
          </c:marker>
          <c:cat>
            <c:strRef>
              <c:f>'Chart Data'!$C$2:$C$9</c:f>
              <c:strCache>
                <c:ptCount val="8"/>
                <c:pt idx="0">
                  <c:v>Stem</c:v>
                </c:pt>
                <c:pt idx="1">
                  <c:v>3c</c:v>
                </c:pt>
                <c:pt idx="2">
                  <c:v>4d</c:v>
                </c:pt>
                <c:pt idx="3">
                  <c:v>5d</c:v>
                </c:pt>
                <c:pt idx="4">
                  <c:v>6e</c:v>
                </c:pt>
                <c:pt idx="5">
                  <c:v>7b</c:v>
                </c:pt>
                <c:pt idx="6">
                  <c:v>Top</c:v>
                </c:pt>
                <c:pt idx="7">
                  <c:v>Flatten</c:v>
                </c:pt>
              </c:strCache>
            </c:strRef>
          </c:cat>
          <c:val>
            <c:numRef>
              <c:f>'Chart Data'!$D$2:$D$9</c:f>
              <c:numCache>
                <c:formatCode>General</c:formatCode>
                <c:ptCount val="8"/>
                <c:pt idx="0">
                  <c:v>0.88632172844135604</c:v>
                </c:pt>
                <c:pt idx="1">
                  <c:v>-2.4594992993906399</c:v>
                </c:pt>
                <c:pt idx="2">
                  <c:v>-3.7058937047329699</c:v>
                </c:pt>
                <c:pt idx="3">
                  <c:v>-5.0693814962284298</c:v>
                </c:pt>
                <c:pt idx="4">
                  <c:v>-6.4153374934936798</c:v>
                </c:pt>
                <c:pt idx="5">
                  <c:v>-7.6334455524337503</c:v>
                </c:pt>
                <c:pt idx="6">
                  <c:v>-7.4977556824263001</c:v>
                </c:pt>
                <c:pt idx="7">
                  <c:v>-6.8890583107622199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874-194E-90CB-67002553604E}"/>
            </c:ext>
          </c:extLst>
        </c:ser>
        <c:ser>
          <c:idx val="2"/>
          <c:order val="2"/>
          <c:tx>
            <c:v>Fresh 2801</c:v>
          </c:tx>
          <c:spPr>
            <a:ln w="28575">
              <a:solidFill>
                <a:srgbClr val="64748B"/>
              </a:solidFill>
            </a:ln>
          </c:spPr>
          <c:marker>
            <c:symbol val="none"/>
          </c:marker>
          <c:cat>
            <c:strRef>
              <c:f>'Chart Data'!$E$2:$E$9</c:f>
              <c:strCache>
                <c:ptCount val="8"/>
                <c:pt idx="0">
                  <c:v>Stem</c:v>
                </c:pt>
                <c:pt idx="1">
                  <c:v>3c</c:v>
                </c:pt>
                <c:pt idx="2">
                  <c:v>4d</c:v>
                </c:pt>
                <c:pt idx="3">
                  <c:v>5d</c:v>
                </c:pt>
                <c:pt idx="4">
                  <c:v>6e</c:v>
                </c:pt>
                <c:pt idx="5">
                  <c:v>7b</c:v>
                </c:pt>
                <c:pt idx="6">
                  <c:v>Top</c:v>
                </c:pt>
                <c:pt idx="7">
                  <c:v>Flatten</c:v>
                </c:pt>
              </c:strCache>
            </c:strRef>
          </c:cat>
          <c:val>
            <c:numRef>
              <c:f>'Chart Data'!$F$2:$F$9</c:f>
              <c:numCache>
                <c:formatCode>General</c:formatCode>
                <c:ptCount val="8"/>
                <c:pt idx="0">
                  <c:v>0.85449910735222101</c:v>
                </c:pt>
                <c:pt idx="1">
                  <c:v>-2.2035393878068898</c:v>
                </c:pt>
                <c:pt idx="2">
                  <c:v>-3.4397341013893299</c:v>
                </c:pt>
                <c:pt idx="3">
                  <c:v>-4.8577187379886801</c:v>
                </c:pt>
                <c:pt idx="4">
                  <c:v>-6.3765973015399897</c:v>
                </c:pt>
                <c:pt idx="5">
                  <c:v>-7.9413787147068202</c:v>
                </c:pt>
                <c:pt idx="6">
                  <c:v>-8.3621746271981703</c:v>
                </c:pt>
                <c:pt idx="7">
                  <c:v>-8.1963782210014706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874-194E-90CB-6700255360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"/>
          <c:min val="-1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  <c:spPr>
        <a:solidFill>
          <a:srgbClr val="F8FAFC"/>
        </a:solidFill>
      </c:spPr>
    </c:plotArea>
    <c:legend>
      <c:legendPos val="b"/>
      <c:overlay val="0"/>
      <c:txPr>
        <a:bodyPr anchorCtr="1"/>
        <a:lstStyle/>
        <a:p>
          <a:pPr>
            <a:defRPr sz="1575">
              <a:latin typeface="PingFang TC"/>
              <a:ea typeface="PingFang TC"/>
              <a:cs typeface="PingFang TC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8FAFC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title>
      <c:tx>
        <c:rich>
          <a:bodyPr/>
          <a:lstStyle/>
          <a:p>
            <a:r>
              <a:rPr lang="en" sz="165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log10(gradient RMS) · actual supervised loss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Median gradient RMS</c:v>
          </c:tx>
          <c:spPr>
            <a:solidFill>
              <a:srgbClr val="6D28D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Final image</c:v>
                </c:pt>
                <c:pt idx="1">
                  <c:v>Final state</c:v>
                </c:pt>
                <c:pt idx="2">
                  <c:v>Best image</c:v>
                </c:pt>
                <c:pt idx="3">
                  <c:v>Best state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-14.009893707276699</c:v>
                </c:pt>
                <c:pt idx="1">
                  <c:v>-0.719715032842279</c:v>
                </c:pt>
                <c:pt idx="2">
                  <c:v>-14.588448684932599</c:v>
                </c:pt>
                <c:pt idx="3">
                  <c:v>-0.53717335966033097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72-9F4C-9EE3-72E1BFB7A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"/>
          <c:min val="-16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  <a:endParaRPr lang="zh-TW"/>
          </a:p>
        </c:txPr>
        <c:crossAx val="48650112"/>
        <c:crosses val="autoZero"/>
        <c:crossBetween val="between"/>
        <c:majorUnit val="4"/>
      </c:valAx>
      <c:spPr>
        <a:solidFill>
          <a:srgbClr val="F8FAFC"/>
        </a:solidFill>
      </c:spPr>
    </c:plotArea>
    <c:plotVisOnly val="1"/>
    <c:dispBlanksAs val="zero"/>
    <c:showDLblsOverMax val="1"/>
  </c:chart>
  <c:spPr>
    <a:solidFill>
      <a:srgbClr val="F8FAFC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title>
      <c:tx>
        <c:rich>
          <a:bodyPr/>
          <a:lstStyle/>
          <a:p>
            <a:r>
              <a:rPr lang="en" sz="165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log10(median top RMS / median stem RMS)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Top / stem orders</c:v>
          </c:tx>
          <c:spPr>
            <a:solidFill>
              <a:srgbClr val="6D28D9"/>
            </a:solidFill>
          </c:spPr>
          <c:invertIfNegative val="1"/>
          <c:cat>
            <c:numRef>
              <c:f>'Chart Data'!$A$2:$A$4</c:f>
              <c:numCache>
                <c:formatCode>General</c:formatCode>
                <c:ptCount val="3"/>
                <c:pt idx="0">
                  <c:v>3101</c:v>
                </c:pt>
                <c:pt idx="1">
                  <c:v>3102</c:v>
                </c:pt>
                <c:pt idx="2">
                  <c:v>3103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9.4032603088066509</c:v>
                </c:pt>
                <c:pt idx="1">
                  <c:v>9.3036137982703799</c:v>
                </c:pt>
                <c:pt idx="2">
                  <c:v>9.3215033006763193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80F-424D-BB75-D7CD3C1F43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PingFang TC"/>
                <a:ea typeface="PingFang TC"/>
                <a:cs typeface="PingFang TC"/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  <c:spPr>
        <a:solidFill>
          <a:srgbClr val="F8FAFC"/>
        </a:solidFill>
      </c:spPr>
    </c:plotArea>
    <c:plotVisOnly val="1"/>
    <c:dispBlanksAs val="zero"/>
    <c:showDLblsOverMax val="1"/>
  </c:chart>
  <c:spPr>
    <a:solidFill>
      <a:srgbClr val="F8FAFC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B6 Investigation</a:t>
            </a:r>
          </a:p>
          <a:p>
            <a:r>
              <a:t>&amp; Evidence-Grounded Agents</a:t>
            </a:r>
          </a:p>
          <a:p>
            <a:r>
              <a:t>Evidence: </a:t>
            </a:r>
          </a:p>
          <a:p>
            <a:r>
              <a:t>Repository HEAD e1a1bc5c75a085e1b39629986b98302f1842fe4b, audit 2026-10-09</a:t>
            </a:r>
          </a:p>
          <a:p>
            <a:endParaRPr/>
          </a:p>
          <a:p>
            <a:r>
              <a:t>Quantitative full precision and report provenance: evidence/Project2-Final-Report-evidence-coverage.json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2 成果與目前驗證狀態</a:t>
            </a:r>
          </a:p>
          <a:p>
            <a:r>
              <a:t>Evidence: docs/PROJECT2.md §§5–27; private course summaries verified against local original slides 3–11 and Agent assignment</a:t>
            </a:r>
          </a:p>
          <a:p>
            <a:r>
              <a:t>projects/project2/agent/artifacts/do-new-v2/step5/runs/p25-baseline-20261005/run.json; docs/PROJECT2_AUDIT.md §15</a:t>
            </a:r>
          </a:p>
          <a:p>
            <a:r>
              <a:t>projects/project2/agent/artifacts/do-new-v2/step6/report.json; {usa,taiwan}/{final,best}/manifest.json; production frame PNGs; projects/project2/modelb6/step6.py</a:t>
            </a:r>
          </a:p>
          <a:p>
            <a:r>
              <a:t>docs/PROJECT2_AUDIT.md §§27,32; projects/project2/agent/FRAMEWORK_REVIEW.md; professor_baseline.py; evidence_agent.py</a:t>
            </a:r>
          </a:p>
          <a:p>
            <a:r>
              <a:t>Repository HEAD e1a1bc5c75a085e1b39629986b98302f1842fe4b, audit 2026-10-09</a:t>
            </a:r>
          </a:p>
          <a:p>
            <a:r>
              <a:t>額外 v2：Vision live 已驗收；Diagnosis / Unified 為 LIVE VERIFICATION PENDING。駕駛品質為 NOT VERIFIED。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v6 update 2026-10-14; supersedes earlier pending/status statements in these notes. Source: projects/project2/agent/LIVE_REVIEW_20261014.md; run IDs 20261014-222611-diagnosis-676c58ed and 222629-unified-8cc86599 COMPLETED (preload), 225523-diagnosis-079d9899 and 225544-unified-d3d736b7 FAILED (verify). Manifests checked. Source HEAD 0098f886 with uncommitted runtime changes. 96 offline tests pass; application-required model calls are implemented but revised live NOT VERIFIED, not autonomous tool selection. No new API calls or model experiments.</a:t>
            </a:r>
          </a:p>
          <a:p>
            <a:r>
              <a:t>v7 update 2026-10-14 supersedes earlier pending statements. Source projects/project2/agent/LIVE_REVIEW_20261014.md and audit44. Run20261014-230632-diagnosis-5ae5d652 COMPLETED29.301s4requiredtools; run20261014-230705-unified-598a0b14 COMPLETED6.857s2requiredtools. Oneattempt each;12manifestentries each match; tool outputs match canonicalreaders; savedPythonhashes match current. Tool selection APPLICATION_REQUIRED_MODEL_CALLS. Report accepted only with documented review corrections: fresh-gradient numbers source is /output/p210-gradient-controls/summary.json, not P28reference_controls; image-invariance primary source P27 controlled interventions, not loss gradients alone; still-image traffic visibility does not establish motion/lane lead correspondence. Reviewed versions are not verbatim Gemini outputs. Source runtime unchanged;96offline tests retained. No new assistant APIcalls,training,commit orpush. Drivingquality,solecause,modelrepair and autonomousselection remain NOTVERIFIED.</a:t>
            </a:r>
          </a:p>
          <a:p>
            <a:r>
              <a:t>Professor-review refinement 2026-10-14, slide2. Supersedes prior conflicting status summaries in these notes. Source PPTX SHA f35dc38d563d60a6a00617e65cde276ecd5137d980f497dd9f1036453c370126. Evidence and exact current claims: professor-review-refinement/build/evidence-audit.json and outline.md. Course requirement/independent investigation/DoNew scope remain separate. Diagnosis4tools29.301s,Unified2tools6.857s,oneattempt12hashes each: LIVE EXECUTION CONFIRMED; 本次內容已核對並另存修正稿（2026-10-16；限指定兩次實測） per latest user instruction. Application chooses required tools; no autonomous selection claim.96offline tests are existing receipt,not newAPItests. Original raw Vision excerpt SHA2e85dc9deb1f3a95a61dbb87b02ce32aa9dda88f4957444629fe1e96551aaf6c, image SHA8c54890341c34a1a7dee89ef4b402513a2c8d922de778d62c63b9e613686e7f7. Image/state interventions differentn5/4; not globalcausality. State-policy943count is0–40m historicalprotocol,notStep6near941. Fixed120lossratio6.481130956086707,not epochlossratio. Actual source records: projects/project2/agent/artifacts/live-runs/20261014-230632-diagnosis-5ae5d652 and 20261014-230705-unified-598a0b14. Content corrections remain review candidates, not final signoff. No APIcalls/retraining/codechanges/commit/push. Drivingquality,solecause,effectiverepair remainNOTVERIFIED.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  <a:p>
            <a:r>
              <a:t>2026-10-16 本次核對完成：以原始兩次成功run、24個manifest檔、6個成功工具payload、canonical readers及原始圖片重新檢查。Diagnosis數值正確；9.30–9.40 orders改引P210，image-invariance以P27為主。Unified只描述可見車輛、路徑及車道線不規則；單張不能確認移動、同車道或model lead對應。修正稿非Gemini原文。結果限已測資料；非使用者簽核、所有未來輸出可靠度、駕駛準確度或自主選工具。詳見reports/project2/Agent-Content-Review-20261016.md。本次狀態取代之前本次內容已核對並另存修正稿（2026-10-16；限指定兩次實測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學生貢獻的三個層次</a:t>
            </a:r>
          </a:p>
          <a:p>
            <a:r>
              <a:t>Evidence: docs/PROJECT2.md §§5–27; private course summaries verified against local original slides 3–11 and Agent assignment</a:t>
            </a:r>
          </a:p>
          <a:p>
            <a:r>
              <a:t>projects/project2/modelb6/corrections.py; step5_data.py; step5.py; docker/Dockerfile.modelb6; docker-compose.yaml; docs/PROJECT2_AUDIT.md §§12–15</a:t>
            </a:r>
          </a:p>
          <a:p>
            <a:r>
              <a:t>projects/project2/agent/artifacts/do-new-v2/p27-sensitivity/results.json; projects/project2/modelb6/step7_sensitivity.py; docs/PROJECT2_AUDIT.md §18</a:t>
            </a:r>
          </a:p>
          <a:p>
            <a:r>
              <a:t>projects/project2/agent/artifacts/do-new-v2/p28-encoder-audit/{results,reference_controls}.json; step8_encoder_audit.py; docs/PROJECT2_AUDIT.md §19</a:t>
            </a:r>
          </a:p>
          <a:p>
            <a:r>
              <a:t>projects/project2/agent/artifacts/do-new-v2/p29-gradient-audit/{summary,interpretation}.json; step9_gradient_audit.py; docs/PROJECT2_AUDIT.md §20</a:t>
            </a:r>
          </a:p>
          <a:p>
            <a:r>
              <a:t>projects/project2/agent/artifacts/do-new-v2/p210-gradient-controls/summary.json; step10_gradient_controls.py; docs/PROJECT2_AUDIT.md §§21,23</a:t>
            </a:r>
          </a:p>
          <a:p>
            <a:r>
              <a:t>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endParaRPr/>
          </a:p>
          <a:p>
            <a:r>
              <a:t>Quantitative full precision and report provenance: evidence/Project2-Final-Report-evidence-coverage.json</a:t>
            </a:r>
          </a:p>
          <a:p>
            <a:r>
              <a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a:t>
            </a:r>
          </a:p>
          <a:p>
            <a:r>
              <a:t>Presentation content review: Map preserves scope: course core vs engineering improvements vs student investigations. Same existing G/S/M sources; stage order summarizes the established evidence, not proof of a unique causal chain. Dates unchanged.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兩條工作流共享同一份實驗證據</a:t>
            </a:r>
          </a:p>
          <a:p>
            <a:r>
              <a:t>Evidence: projects/project2/modelb6/corrections.py; step5_data.py; step5.py; docker/Dockerfile.modelb6; docker-compose.yaml; docs/PROJECT2_AUDIT.md §§12–15</a:t>
            </a:r>
          </a:p>
          <a:p>
            <a:r>
              <a:t>projects/project2/agent/artifacts/do-new-v2/step5/runs/p25-baseline-20261005/run.json; docs/PROJECT2_AUDIT.md §15</a:t>
            </a:r>
          </a:p>
          <a:p>
            <a:r>
              <a:t>projects/project2/agent/artifacts/do-new-v2/step6/report.json; {usa,taiwan}/{final,best}/manifest.json; production frame PNGs; projects/project2/modelb6/step6.py</a:t>
            </a:r>
          </a:p>
          <a:p>
            <a:r>
              <a:t>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r>
              <a:t>Project 1 環境只作既有基礎；本報告貢獻限於 Project 2。來源唯讀，derived / output 分離。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B6 的四輸入與分支</a:t>
            </a:r>
          </a:p>
          <a:p>
            <a:r>
              <a:t>Evidence: projects/project2/modelb6/corrections.py; step5_data.py; step5.py; docker/Dockerfile.modelb6; docker-compose.yaml; docs/PROJECT2_AUDIT.md §§12–15</a:t>
            </a:r>
          </a:p>
          <a:p>
            <a:r>
              <a:t>projects/project2/agent/artifacts/do-new-v2/p27-sensitivity/results.json; projects/project2/modelb6/step7_sensitivity.py; docs/PROJECT2_AUDIT.md §18</a:t>
            </a:r>
          </a:p>
          <a:p>
            <a:r>
              <a:t>Repository HEAD e1a1bc5c75a085e1b39629986b98302f1842fe4b, audit 2026-10-09</a:t>
            </a:r>
          </a:p>
          <a:p>
            <a:r>
              <a:t>Image：(1,12,128,256)；desire：8；traffic：2；state：512。輸出共 2383 值，分為 12 sections。</a:t>
            </a:r>
          </a:p>
          <a:p>
            <a:r>
              <a:t>meta / desire_pred / pose 直接讀取 image embedding；path / lane / lead 等經 recurrent 分支。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38-page review refinement 2026-10-15. Current visible content supersedes prior conflicting notes. Source backup SHA b3bd1bd357402e98f78dfa9e3e619bad0f26a317d44c59a95d03c97b620c675b. Source external/aJLL/ModelB6/modelB6.py::get_model,EffNet,RNN,fork1,fork2,fork3. Concatenate transformed desire8,traffic2,embedding1024 then Dense1024 relu; previous state512 participates in gates separately; out11 feeds fork1 and returns nextstate. one_minus is a learned Dense, not assumed 1-z. Feedback belongs to caller.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訓練資料與 teacher forcing</a:t>
            </a:r>
          </a:p>
          <a:p>
            <a:r>
              <a:t>Evidence: docs/PROJECT2.md §§5–27; private course summaries verified against local original slides 3–11 and Agent assignment</a:t>
            </a:r>
          </a:p>
          <a:p>
            <a:r>
              <a:t>projects/project2/modelb6/corrections.py; step5_data.py; step5.py; docker/Dockerfile.modelb6; docker-compose.yaml; docs/PROJECT2_AUDIT.md §§12–15</a:t>
            </a:r>
          </a:p>
          <a:p>
            <a:r>
              <a:t>projects/project2/agent/artifacts/do-new-v2/step5/runs/p25-baseline-20261005/run.json; docs/PROJECT2_AUDIT.md §15</a:t>
            </a:r>
          </a:p>
          <a:p>
            <a:r>
              <a:t>Repository HEAD e1a1bc5c75a085e1b39629986b98302f1842fe4b, audit 2026-10-09</a:t>
            </a:r>
          </a:p>
          <a:p>
            <a:r>
              <a:t>影像 pair (i,i+1) 對應 teacher row i；input state 使用前一列 512-value latent，序列起點為 zero。教師輸出提供訓練目標，並非獨立人工 ground truth。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資料與 checkpoint 的修正層</a:t>
            </a:r>
          </a:p>
          <a:p>
            <a:r>
              <a:t>Evidence: projects/project2/modelb6/corrections.py; step5_data.py; step5.py; docker/Dockerfile.modelb6; docker-compose.yaml; docs/PROJECT2_AUDIT.md §§12–15</a:t>
            </a:r>
          </a:p>
          <a:p>
            <a:r>
              <a:t>Repository HEAD e1a1bc5c75a085e1b39629986b98302f1842fe4b, audit 2026-10-09</a:t>
            </a:r>
          </a:p>
          <a:p>
            <a:r>
              <a:t>保留教授 model、output slices 與 custom loss；修正放在 student-owned wrapper。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正式訓練前的執行 gate</a:t>
            </a:r>
          </a:p>
          <a:p>
            <a:r>
              <a:t>Evidence: projects/project2/modelb6/corrections.py; step5_data.py; step5.py; docker/Dockerfile.modelb6; docker-compose.yaml; docs/PROJECT2_AUDIT.md §§12–15</a:t>
            </a:r>
          </a:p>
          <a:p>
            <a:r>
              <a:t>projects/project2/agent/artifacts/do-new-v2/step5/runs/p25-baseline-20261005/run.json; docs/PROJECT2_AUDIT.md §15</a:t>
            </a:r>
          </a:p>
          <a:p>
            <a:r>
              <a:t>Repository HEAD e1a1bc5c75a085e1b39629986b98302f1842fe4b, audit 2026-10-09</a:t>
            </a:r>
          </a:p>
          <a:p>
            <a:r>
              <a:t>資料與教授 source 保持唯讀。derived 以 staging、atomic publish、completion marker 發布；run 拒絕覆蓋既有結果。Resume 是新訓練片段，未還原 optimizer / scheduler。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60 epochs 的正式 baseline 訓練</a:t>
            </a:r>
          </a:p>
          <a:p>
            <a:r>
              <a:t>Evidence: projects/project2/agent/artifacts/do-new-v2/step5/runs/p25-baseline-20261005/run.json; docs/PROJECT2_AUDIT.md §15</a:t>
            </a:r>
          </a:p>
          <a:p>
            <a:r>
              <a:t>Repository HEAD e1a1bc5c75a085e1b39629986b98302f1842fe4b, audit 2026-10-09</a:t>
            </a:r>
          </a:p>
          <a:p>
            <a:r>
              <a:t>Run：p25-baseline-20261005。Batch 2；每 epoch 20 / 10 steps；Adam；cosine 1e-3 至 5e-4。</a:t>
            </a:r>
          </a:p>
          <a:p>
            <a:r>
              <a:t>custom loss：0.3 path + 0.3 left lane + 0.3 right lane + 0.1 full output。訓練完成尚不構成品質驗證。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38-page review refinement 2026-10-15. Current visible content supersedes prior conflicting notes. Source backup SHA b3bd1bd357402e98f78dfa9e3e619bad0f26a317d44c59a95d03c97b620c675b. step5.py train(): elapsed timer begins before compiled_model and ends after final model.save. Excludes pretraining validate_all. 60epochs x20steps xbatch2,10validationsteps.13,039,435params. run p25-baseline-20261005.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Validation loss 的波動與 final / best 差距</a:t>
            </a:r>
          </a:p>
          <a:p>
            <a:r>
              <a:t>Evidence: projects/project2/agent/artifacts/do-new-v2/step5/runs/p25-baseline-20261005/run.json; docs/PROJECT2_AUDIT.md §15</a:t>
            </a:r>
          </a:p>
          <a:p>
            <a:r>
              <a:t>Repository HEAD e1a1bc5c75a085e1b39629986b98302f1842fe4b, audit 2026-10-09</a:t>
            </a:r>
          </a:p>
          <a:p>
            <a:r>
              <a:t>Best val_loss = 0.5254096388816833（epoch 25）</a:t>
            </a:r>
          </a:p>
          <a:p>
            <a:r>
              <a:t>Final val_loss = 71.71458435058594；final training loss = 3.204094648361206。</a:t>
            </a:r>
          </a:p>
          <a:p>
            <a:r>
              <a:t>LIKELY / SUGGESTED：波動與後期惡化符合不穩定／可能 overfitting；單一 validation sequence 無法確立原因。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Editable chart values (log10 where axis states so): [{"name":"Training loss","values":[79.2671279907227,10.3434906005859,5.25730133056641,5.67512893676758,4.55456495285034,3.41660690307617,1.06380009651184,0.61636745929718,0.571145534515381,0.332301318645477,0.216690585017204,0.173467025160789,0.234954997897148,0.668510496616364,0.198955625295639,0.313675791025162,1.89712297916412,2.56526231765747,5.50966024398804,4.0572566986084,1.17045474052429,1.86815798282623,2.53271675109863,0.745613396167755,0.254729926586151,0.287915617227554,0.229591995477676,0.188643604516983,0.895666599273682,13.3488254547119,43.0628089904785,4.56117486953735,2.98299312591553,0.80575293302536,0.267726749181747,0.228140383958817,0.191802650690079,0.176673173904419,0.396675527095795,0.257970035076141,0.200353071093559,0.450728178024292,1.04208433628082,0.375451564788818,0.16901233792305,0.478464305400848,1.06707000732422,1.51393580436707,3.73368954658508,4.85878133773804,1.61861670017242,0.470589250326157,0.248334854841232,0.374931693077087,1.14045035839081,0.456695020198822,1.15052342414856,2.16016459465027,1.36217904090881,3.20409464836121],"smooth":false,"line":{"fill":"#0369A1","width":2.5},"marker":{"symbol":"none"}},{"name":"Validation loss","values":[42.2973327636719,30.0927848815918,10.6103229522705,5.49363279342651,4.66823482513428,3.81652402877808,5.86505746841431,5.48772382736206,7.82135915756226,6.17100715637207,2.19848108291626,4.13026809692383,1.86925828456879,12.9960346221924,18.4481010437012,27.2939338684082,142.914993286133,254.925003051758,146.196014404297,143.111297607422,66.1919403076172,5.02396106719971,2.76473951339722,0.63464879989624,0.525409638881683,0.833008587360382,0.555522203445435,0.747852861881256,11.6544275283813,60.5683708190918,14.5459032058716,4.09415721893311,3.1076455116272,15.1290187835693,31.7361946105957,24.9084968566895,27.9974422454834,26.2766914367676,4.60584115982056,0.760581195354462,1.3142192363739,13.3708753585815,28.5981254577637,33.2993507385254,24.9935150146484,22.5156726837158,40.6671600341797,82.8778533935547,7.44476222991943,2.78384828567505,4.21088171005249,1.78833615779877,3.595370054245,23.571756362915,15.3817920684814,42.2455825805664,90.26806640625,66.6814956665039,43.4502449035645,71.7145843505859],"smooth":false,"line":{"fill":"#6D28D9","width":3},"marker":{"symbol":"none"}}]</a:t>
            </a:r>
          </a:p>
          <a:p>
            <a:r>
              <a:t>Loss comparison clarification: A is the historical epoch-aggregated custom validation loss, 10 steps x batch2, changing validation windows, previous teacher state. It is not the fixed120 aggregate on slide11 or median18 gradient diagnostic on slide32. Historical values and chart/workbook bytes preserved. Source: Step5 run p25-baseline-20261005 and original evidence coverage E03.</a:t>
            </a:r>
          </a:p>
          <a:p>
            <a:r>
              <a:t>Professor-review refinement 2026-10-14, slide10. Supersedes prior conflicting status summaries in these notes. Source PPTX SHA f35dc38d563d60a6a00617e65cde276ecd5137d980f497dd9f1036453c370126. Evidence and exact current claims: professor-review-refinement/build/evidence-audit.json and outline.md. Course requirement/independent investigation/DoNew scope remain separate. Diagnosis4tools29.301s,Unified2tools6.857s,oneattempt12hashes each: LIVE EXECUTION CONFIRMED; 本次內容已核對並另存修正稿（2026-10-16；限指定兩次實測） per latest user instruction. Application chooses required tools; no autonomous selection claim.96offline tests are existing receipt,not newAPItests. Original raw Vision excerpt SHA2e85dc9deb1f3a95a61dbb87b02ce32aa9dda88f4957444629fe1e96551aaf6c, image SHA8c54890341c34a1a7dee89ef4b402513a2c8d922de778d62c63b9e613686e7f7. Image/state interventions differentn5/4; not globalcausality. State-policy943count is0–40m historicalprotocol,notStep6near941. Fixed120lossratio6.481130956086707,not epochlossratio. Actual source records: projects/project2/agent/artifacts/live-runs/20261014-230632-diagnosis-5ae5d652 and 20261014-230705-unified-598a0b14. Content corrections remain review candidates, not final signoff. No APIcalls/retraining/codechanges/commit/push. Drivingquality,solecause,effectiverepair remainNOTVERIFIED.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Original checkpoint identities: Final B6.keras 157259010 bytes, SHA256 7b3e95e913a4f6a04827ba8ab11739c320c8b0f4be94f2cb8ec0e916dd39bd03. Best B6BW.hdf5 157495320 bytes SHA256 97452bae969c8fc1b107bf2ad2679949b218fe94df7b8be2cb8e56a92148d21a. Original artifacts retained.</a:t>
            </a:r>
          </a:p>
          <a:p>
            <a:r>
              <a:t>v2 claim: Original Best fixed loss 12.208786964416504 vs Final 79.12674713134766</a:t>
            </a:r>
          </a:p>
          <a:p>
            <a:r>
              <a:t>CONFIRMED</a:t>
            </a:r>
          </a:p>
          <a:p>
            <a:endParaRPr/>
          </a:p>
          <a:p>
            <a:r>
              <a:t>Sources:</a:t>
            </a:r>
          </a:p>
          <a:p>
            <a:r>
              <a:t>/Users/2006wu/Desktop/Project2-B6-State-Divergence-Investigation/b6-state-divergence-20261009-01/13-state-loss-audit/fixed-validation-loss-decomposition.json</a:t>
            </a:r>
          </a:p>
          <a:p>
            <a:r>
              <a:t>/Users/2006wu/Desktop/Project2-B6-Geometry-Investigation/b6-geometry-20261009-01/07-loss-gradient/validation120.json</a:t>
            </a:r>
          </a:p>
          <a:p>
            <a:r>
              <a:t>Professor-review refinement 2026-10-14, slide11. Supersedes prior conflicting status summaries in these notes. Source PPTX SHA f35dc38d563d60a6a00617e65cde276ecd5137d980f497dd9f1036453c370126. Evidence and exact current claims: professor-review-refinement/build/evidence-audit.json and outline.md. Course requirement/independent investigation/DoNew scope remain separate. Diagnosis4tools29.301s,Unified2tools6.857s,oneattempt12hashes each: LIVE EXECUTION CONFIRMED; CONTENT REVIEW PENDING per latest user instruction. Application chooses required tools; no autonomous selection claim.96offline tests are existing receipt,not newAPItests. Original raw Vision excerpt SHA2e85dc9deb1f3a95a61dbb87b02ce32aa9dda88f4957444629fe1e96551aaf6c, image SHA8c54890341c34a1a7dee89ef4b402513a2c8d922de778d62c63b9e613686e7f7. Image/state interventions differentn5/4; not globalcausality. State-policy943count is0–40m historicalprotocol,notStep6near941. Fixed120lossratio6.481130956086707,not epochlossratio. Actual source records: projects/project2/agent/artifacts/live-runs/20261014-230632-diagnosis-5ae5d652 and 20261014-230705-unified-598a0b14. Content corrections remain review candidates, not final signoff. No APIcalls/retraining/codechanges/commit/push. Drivingquality,solecause,effectiverepair remainNOTVERIFIED.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Step 6 的可檢查推論管線</a:t>
            </a:r>
          </a:p>
          <a:p>
            <a:r>
              <a:t>Evidence: projects/project2/agent/artifacts/do-new-v2/step6/report.json; {usa,taiwan}/{final,best}/manifest.json; production frame PNGs; projects/project2/modelb6/step6.py</a:t>
            </a:r>
          </a:p>
          <a:p>
            <a:r>
              <a:t>Repository HEAD e1a1bc5c75a085e1b39629986b98302f1842fe4b, audit 2026-10-09</a:t>
            </a:r>
          </a:p>
          <a:p>
            <a:r>
              <a:t>USA right offset -0.5（slide）取代 active parser -0.1；Taiwan path / lane calibration 分別處理。</a:t>
            </a:r>
          </a:p>
          <a:p>
            <a:r>
              <a:t>數值修正：stable softplus 避免有限 logits 導致 exp overflow。Step 6 traffic [0,0] 與 training [1,0] 差異保留在解釋中。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四組完整影片技術驗證</a:t>
            </a:r>
          </a:p>
          <a:p>
            <a:r>
              <a:t>Evidence: projects/project2/agent/artifacts/do-new-v2/step6/report.json; {usa,taiwan}/{final,best}/manifest.json; production frame PNGs; projects/project2/modelb6/step6.py</a:t>
            </a:r>
          </a:p>
          <a:p>
            <a:r>
              <a:t>Repository HEAD e1a1bc5c75a085e1b39629986b98302f1842fe4b, audit 2026-10-09</a:t>
            </a:r>
          </a:p>
          <a:p>
            <a:r>
              <a:t>Raw shape 為 (predictions,2383)，四組皆 finite。Path 指歷史 near-path 索引 4:40（36 個 samples）；lane width ≤0 是診斷閾值。數值為描述性 measures，沒有 ground-truth accuracy。USA --37 是 train-seen。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a:t>
            </a:r>
          </a:p>
          <a:p>
            <a:r>
              <a:t>2026-10-13 metric scope correction: near-path temporal values use step6.py summarize indices4:40, not first20. Numeric values unchanged.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Actual Figure-A Taiwan frame601. Shared teacher previous state, traffic[1,0], same image/preprocess/parser/calibration/projection. Top row camera overlays; bottom original raw residual curves all192 points, no redraw. Original top-down row remains in source. Raw axes differ by role as original; focus is curve morphology, not comparable vertical scale.</a:t>
            </a:r>
          </a:p>
          <a:p>
            <a:r>
              <a:t>v2 claim: Matched same-frame student raw geometry is jagged before visualization</a:t>
            </a:r>
          </a:p>
          <a:p>
            <a:r>
              <a:t>CONFIRMED</a:t>
            </a:r>
          </a:p>
          <a:p>
            <a:r>
              <a:t>Shared teacher-state/traffic[1,0], not the full-clip free-running counter condition. No driving accuracy inference.</a:t>
            </a:r>
          </a:p>
          <a:p>
            <a:r>
              <a:t>Sources:</a:t>
            </a:r>
          </a:p>
          <a:p>
            <a:r>
              <a:t>/Users/2006wu/Desktop/Project2-B6-Geometry-Investigation/b6-geometry-20261009-01/02-teacher-vs-best-vs-final/Figure-A-taiwan-frame-601.png</a:t>
            </a:r>
          </a:p>
          <a:p>
            <a:r>
              <a:t>/Users/2006wu/Desktop/Project2-B6-Geometry-Investigation/b6-geometry-20261009-01/report/B6-Geometry-Investigation-Report.md</a:t>
            </a:r>
          </a:p>
          <a:p>
            <a:r>
              <a:t>38-page review refinement 2026-10-15. Current visible content supersedes prior conflicting notes. Source backup SHA b3bd1bd357402e98f78dfa9e3e619bad0f26a317d44c59a95d03c97b620c675b. Corrected prior slide/notes and reviewer assumption: original diagnose.py::panel explicitly sets shared low/high Y limits for all three raw plots. Embedded crops retained from Figure-A-taiwan-frame-601.png. Three plots already share Y-axis, per original code and visible tick alignment. No new curve redraw or invented measurement. Geometry 357x238.6 original aspect preserved. Shared teacher paststate,traffic[1,0],Taiwan frame601. Comparison concerns shape/relativeposition; not accuracy.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Figure-B USA frame600 contains original own-feedback trajectories. The original raw, parsed and projected plots are embedded without prediction redraw.</a:t>
            </a:r>
          </a:p>
          <a:p>
            <a:r>
              <a:t>v2 claim: Projection maximum difference 1.1368683772161603e-13 px; abnormality upstream of visualization</a:t>
            </a:r>
          </a:p>
          <a:p>
            <a:r>
              <a:t>CONFIRMED</a:t>
            </a:r>
          </a:p>
          <a:p>
            <a:r>
              <a:t>Only tested inputs and settings.</a:t>
            </a:r>
          </a:p>
          <a:p>
            <a:r>
              <a:t>Sources:</a:t>
            </a:r>
          </a:p>
          <a:p>
            <a:r>
              <a:t>/Users/2006wu/Desktop/Project2-B6-Geometry-Investigation/b6-geometry-20261009-01/04-parser-calibration/projection-check.json</a:t>
            </a:r>
          </a:p>
          <a:p>
            <a:r>
              <a:t>/Users/2006wu/Desktop/Project2-B6-Geometry-Investigation/b6-geometry-20261009-01/03-raw-parsed-projected/Figure-B-usa.png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前處理檢查：真實輸入確實不同</a:t>
            </a:r>
          </a:p>
          <a:p>
            <a:r>
              <a:t>Evidence: projects/project2/agent/artifacts/do-new-v2/p27-sensitivity/results.json; projects/project2/modelb6/step7_sensitivity.py; docs/PROJECT2_AUDIT.md §18</a:t>
            </a:r>
          </a:p>
          <a:p>
            <a:r>
              <a:t>projects/project2/agent/artifacts/do-new-v2/p28-encoder-audit/{results,reference_controls}.json; step8_encoder_audit.py; docs/PROJECT2_AUDIT.md §19</a:t>
            </a:r>
          </a:p>
          <a:p>
            <a:r>
              <a:t>Repository HEAD e1a1bc5c75a085e1b39629986b98302f1842fe4b, audit 2026-10-09</a:t>
            </a:r>
          </a:p>
          <a:p>
            <a:r>
              <a:t>重複 identical input 的輸出 bitwise identical。這些檢查排除已檢查 samples 的近似影像／scale mismatch 解釋，未證明所有 preprocessing 都理想。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Previous state 的效應明顯較大</a:t>
            </a:r>
          </a:p>
          <a:p>
            <a:r>
              <a:t>Evidence: projects/project2/agent/artifacts/do-new-v2/p27-sensitivity/results.json; projects/project2/modelb6/step7_sensitivity.py; docs/PROJECT2_AUDIT.md §18</a:t>
            </a:r>
          </a:p>
          <a:p>
            <a:r>
              <a:t>Repository HEAD e1a1bc5c75a085e1b39629986b98302f1842fe4b, audit 2026-10-09</a:t>
            </a:r>
          </a:p>
          <a:p>
            <a:r>
              <a:t>Prior state intervention n=4 / cell；Final USA mean full MAE = 1.8681882426295509；Best USA = 2.0459331007376322。</a:t>
            </a:r>
          </a:p>
          <a:p>
            <a:r>
              <a:t>同一 12-pair window：feedback vs reset 的 mean full MAE 為 1.165 final / 3.033 best（排除首筆）。Direct meta / desire_pred / pose 的 state-intervention difference 恰為 0，符合分支架構。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Editable chart values (log10 where axis states so): [{"name":"Real cross-domain image swap · n=5","values":[-7.01294592991918,-7.01294592991918,-6.49208767428734,-6.49208767428734],"fill":"#0369A1"},{"name":"Prior-eight-pair state · n=4","values":[0.271420634536657,0.271420736277078,0.310891428762506,0.310891373208704],"fill":"#6D28D9"}]</a:t>
            </a:r>
          </a:p>
          <a:p>
            <a:r>
              <a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a:t>
            </a:r>
          </a:p>
          <a:p>
            <a:r>
              <a:t>Professor-review refinement 2026-10-14, slide17. Supersedes prior conflicting status summaries in these notes. Source PPTX SHA f35dc38d563d60a6a00617e65cde276ecd5137d980f497dd9f1036453c370126. Evidence and exact current claims: professor-review-refinement/build/evidence-audit.json and outline.md. Course requirement/independent investigation/DoNew scope remain separate. Diagnosis4tools29.301s,Unified2tools6.857s,oneattempt12hashes each: LIVE EXECUTION CONFIRMED; CONTENT REVIEW PENDING per latest user instruction. Application chooses required tools; no autonomous selection claim.96offline tests are existing receipt,not newAPItests. Original raw Vision excerpt SHA2e85dc9deb1f3a95a61dbb87b02ce32aa9dda88f4957444629fe1e96551aaf6c, image SHA8c54890341c34a1a7dee89ef4b402513a2c8d922de778d62c63b9e613686e7f7. Image/state interventions differentn5/4; not globalcausality. State-policy943count is0–40m historicalprotocol,notStep6near941. Fixed120lossratio6.481130956086707,not epochlossratio. Actual source records: projects/project2/agent/artifacts/live-runs/20261014-230632-diagnosis-5ae5d652 and 20261014-230705-unified-598a0b14. Content corrections remain review candidates, not final signoff. No APIcalls/retraining/codechanges/commit/push. Drivingquality,solecause,effectiverepair remainNOTVERIFIED.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Encoder 內部的影像差異逐層衰減</a:t>
            </a:r>
          </a:p>
          <a:p>
            <a:r>
              <a:t>Evidence: projects/project2/agent/artifacts/do-new-v2/p28-encoder-audit/{results,reference_controls}.json; step8_encoder_audit.py; docs/PROJECT2_AUDIT.md §19</a:t>
            </a:r>
          </a:p>
          <a:p>
            <a:r>
              <a:t>Repository HEAD e1a1bc5c75a085e1b39629986b98302f1842fe4b, audit 2026-10-09</a:t>
            </a:r>
          </a:p>
          <a:p>
            <a:r>
              <a:t>同一 USA-quarter / Taiwan-quarter real swap。Chart 為各 endpoint activation MAE 的 log10，原值保留於 chart data / notes。Final flatten MAE = 1.076e-7，mean activation magnitude ≈2.824。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Editable chart values (log10 where axis states so): [{"name":"final","values":[0.886826770629735,-2.46278854688493,-3.71055511573455,-5.06631172623293,-6.49087413281208,-7.70410558044111,-7.53987800578645,-6.96808294141619],"line":{"fill":"#6D28D9","width":3}},{"name":"best","values":[0.886321728441356,-2.45949929939064,-3.70589370473297,-5.06938149622843,-6.41533749349368,-7.63344555243375,-7.4977556824263,-6.88905831076222],"line":{"fill":"#0369A1","width":3}},{"name":"Fresh 2801","values":[0.854499107352221,-2.20353938780689,-3.43973410138933,-4.85771873798868,-6.37659730153999,-7.94137871470682,-8.36217462719817,-8.19637822100147],"line":{"fill":"#64748B","width":3}}]</a:t>
            </a:r>
          </a:p>
          <a:p>
            <a:r>
              <a:t>Original activation MAE values before log10 transform (same USA-quarter vs Taiwan-quarter image pair):</a:t>
            </a:r>
          </a:p>
          <a:p>
            <a:r>
              <a:t>{</a:t>
            </a:r>
          </a:p>
          <a:p>
            <a:r>
              <a:t>  "final": [</a:t>
            </a:r>
          </a:p>
          <a:p>
            <a:r>
              <a:t>    {</a:t>
            </a:r>
          </a:p>
          <a:p>
            <a:r>
              <a:t>      "layer": "stem_activation",</a:t>
            </a:r>
          </a:p>
          <a:p>
            <a:r>
              <a:t>      "mae": 7.705960359791511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"block3c_add",</a:t>
            </a:r>
          </a:p>
          <a:p>
            <a:r>
              <a:t>      "mae": 0.003445176317072196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"block4d_add",</a:t>
            </a:r>
          </a:p>
          <a:p>
            <a:r>
              <a:t>      "mae": 0.00019473538981690746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"block5d_add",</a:t>
            </a:r>
          </a:p>
          <a:p>
            <a:r>
              <a:t>      "mae": 0.000008583971632939817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"block6e_add",</a:t>
            </a:r>
          </a:p>
          <a:p>
            <a:r>
              <a:t>      "mae": 3.229429939193114e-7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"block7b_add",</a:t>
            </a:r>
          </a:p>
          <a:p>
            <a:r>
              <a:t>      "mae": 1.97648908149197e-8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"top_activation",</a:t>
            </a:r>
          </a:p>
          <a:p>
            <a:r>
              <a:t>      "mae": 2.8848417473041496e-8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"flatten",</a:t>
            </a:r>
          </a:p>
          <a:p>
            <a:r>
              <a:t>      "mae": 1.0762596502900124e-7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"best": [</a:t>
            </a:r>
          </a:p>
          <a:p>
            <a:r>
              <a:t>    {</a:t>
            </a:r>
          </a:p>
          <a:p>
            <a:r>
              <a:t>      "layer": "stem_activation",</a:t>
            </a:r>
          </a:p>
          <a:p>
            <a:r>
              <a:t>      "mae": 7.697004286873069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"block3c_add",</a:t>
            </a:r>
          </a:p>
          <a:p>
            <a:r>
              <a:t>      "mae": 0.0034713683589278808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"block4d_add",</a:t>
            </a:r>
          </a:p>
          <a:p>
            <a:r>
              <a:t>      "mae": 0.00019683679964931468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"block5d_add",</a:t>
            </a:r>
          </a:p>
          <a:p>
            <a:r>
              <a:t>      "mae": 0.000008523510564373282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"block6e_add",</a:t>
            </a:r>
          </a:p>
          <a:p>
            <a:r>
              <a:t>      "mae": 3.842930289885352e-7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"block7b_add",</a:t>
            </a:r>
          </a:p>
          <a:p>
            <a:r>
              <a:t>      "mae": 2.325704041471578e-8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"top_activation",</a:t>
            </a:r>
          </a:p>
          <a:p>
            <a:r>
              <a:t>      "mae": 3.178661762087193e-8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"flatten",</a:t>
            </a:r>
          </a:p>
          <a:p>
            <a:r>
              <a:t>      "mae": 1.291045919060707e-7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"fresh_reference": [</a:t>
            </a:r>
          </a:p>
          <a:p>
            <a:r>
              <a:t>    {</a:t>
            </a:r>
          </a:p>
          <a:p>
            <a:r>
              <a:t>      "layer": "stem_activation",</a:t>
            </a:r>
          </a:p>
          <a:p>
            <a:r>
              <a:t>      "mae": 7.153179238111761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"block3c_add",</a:t>
            </a:r>
          </a:p>
          <a:p>
            <a:r>
              <a:t>      "mae": 0.00625836101907636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"block4d_add",</a:t>
            </a:r>
          </a:p>
          <a:p>
            <a:r>
              <a:t>      "mae": 0.0003633004188905139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"block5d_add",</a:t>
            </a:r>
          </a:p>
          <a:p>
            <a:r>
              <a:t>      "mae": 0.000013876542240356949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"block6e_add",</a:t>
            </a:r>
          </a:p>
          <a:p>
            <a:r>
              <a:t>      "mae": 4.20148384954972e-7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"block7b_add",</a:t>
            </a:r>
          </a:p>
          <a:p>
            <a:r>
              <a:t>      "mae": 1.1445144634099822e-8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"top_activation",</a:t>
            </a:r>
          </a:p>
          <a:p>
            <a:r>
              <a:t>      "mae": 4.343355453457391e-9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"layer": "flatten",</a:t>
            </a:r>
          </a:p>
          <a:p>
            <a:r>
              <a:t>      "mae": 6.362411859948264e-9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 input 的局部 loss gradient 極小</a:t>
            </a:r>
          </a:p>
          <a:p>
            <a:r>
              <a:t>Evidence: projects/project2/agent/artifacts/do-new-v2/p29-gradient-audit/{summary,interpretation}.json; step9_gradient_audit.py; docs/PROJECT2_AUDIT.md §20</a:t>
            </a:r>
          </a:p>
          <a:p>
            <a:r>
              <a:t>Repository HEAD e1a1bc5c75a085e1b39629986b98302f1842fe4b, audit 2026-10-09</a:t>
            </a:r>
          </a:p>
          <a:p>
            <a:r>
              <a:t>18 samples、original condition 的 median。Final image RMS = 9.774764271e-15；state RMS = 0.1906711418。</a:t>
            </a:r>
          </a:p>
          <a:p>
            <a:r>
              <a:t>Best image RMS = 2.579593744e-15；state RMS = 0.2902863671。RMS 用於不同 tensor size 的比較；tiny nonzero gradient 不是 numerical zero。局部 derivative 並非全域 causal attribution。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Editable chart values (log10 where axis states so): [{"name":"Median gradient RMS","values":[-14.0098937072767,-0.719715032842279,-14.5884486849326,-0.537173359660331],"fill":"#6D28D9"}]</a:t>
            </a:r>
          </a:p>
          <a:p>
            <a:r>
              <a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Fresh controls：衰減在訓練前已存在</a:t>
            </a:r>
          </a:p>
          <a:p>
            <a:r>
              <a:t>Evidence: projects/project2/agent/artifacts/do-new-v2/p210-gradient-controls/summary.json; step10_gradient_controls.py; docs/PROJECT2_AUDIT.md §§21,23</a:t>
            </a:r>
          </a:p>
          <a:p>
            <a:r>
              <a:t>Repository HEAD e1a1bc5c75a085e1b39629986b98302f1842fe4b, audit 2026-10-09</a:t>
            </a:r>
          </a:p>
          <a:p>
            <a:r>
              <a:t>同一 18 cached samples、原 loss / targets / native inputs / teacher state。Top / stem gradient RMS 的 ratios of medians 轉為 log10 orders。</a:t>
            </a:r>
          </a:p>
          <a:p>
            <a:r>
              <a:t>Fresh seeds 3101 / 3102 / 3103 分別 9.4032603088 / 9.3036137983 / 9.3215033007 orders；不等同 historical P2.5 initialization，也未單獨隔離 initializer。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Editable chart values (log10 where axis states so): [{"name":"Top / stem orders","values":[9.40326030880665,9.30361379827038,9.32150330067632],"fill":"#6D28D9"}]</a:t>
            </a:r>
          </a:p>
          <a:p>
            <a:r>
              <a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512-state output slice [1871:2383]. Actual current teacher target has state supervised inside .1 MSE all2383; no BPTT. This diagram expresses actual data flow, not a proven unique cause.</a:t>
            </a:r>
          </a:p>
          <a:p>
            <a:r>
              <a:t>v2 claim: Training uses teacher previous state; free running uses own previous state</a:t>
            </a:r>
          </a:p>
          <a:p>
            <a:r>
              <a:t>CONFIRMED</a:t>
            </a:r>
          </a:p>
          <a:p>
            <a:endParaRPr/>
          </a:p>
          <a:p>
            <a:r>
              <a:t>Sources:</a:t>
            </a:r>
          </a:p>
          <a:p>
            <a:r>
              <a:t>/Users/2006wu/Desktop/Project2-B6-State-Divergence-Investigation/b6-state-divergence-20261009-01/report/B6-State-Divergence-Investigation-Report.md</a:t>
            </a:r>
          </a:p>
          <a:p>
            <a:r>
              <a:t>/Users/2006wu/Desktop/Project2-B6-Mixed-State-Training/b6-mixed-state-20261009-01/report/B6-Mixed-State-Training-Investigation-Report.md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Same-frame evidence is USA Final frame65. The colored curves come from original source figure, teacher black, student free red, teacher-state dashed green. The full-sequence metrics are independently shown on right. Traffic[0,0], desire0. Width counter uses fixed first40. Teacher forcing starts atzero and uses teacher previousstate thereafter.</a:t>
            </a:r>
          </a:p>
          <a:p>
            <a:r>
              <a:t>v2 claim: Original Final width failures USA1006/1199 Taiwan943/1201; teacher-forced zero both</a:t>
            </a:r>
          </a:p>
          <a:p>
            <a:r>
              <a:t>CONFIRMED</a:t>
            </a:r>
          </a:p>
          <a:p>
            <a:r>
              <a:t>Full-sequence first40 counters; exact long-run counts can be numerically sensitive.</a:t>
            </a:r>
          </a:p>
          <a:p>
            <a:r>
              <a:t>Sources:</a:t>
            </a:r>
          </a:p>
          <a:p>
            <a:r>
              <a:t>/Users/2006wu/Desktop/Project2-B6-State-Divergence-Investigation/b6-state-divergence-20261009-01/04-state-vs-geometry/usa-final-rollout-summary.json</a:t>
            </a:r>
          </a:p>
          <a:p>
            <a:r>
              <a:t>/Users/2006wu/Desktop/Project2-B6-State-Divergence-Investigation/b6-state-divergence-20261009-01/04-state-vs-geometry/taiwan-final-rollout-summary.json</a:t>
            </a:r>
          </a:p>
          <a:p>
            <a:r>
              <a:t>/Users/2006wu/Desktop/Project2-B6-State-Divergence-Investigation/b6-state-divergence-20261009-01/recheck-20261009/Recheck-Report.md</a:t>
            </a:r>
          </a:p>
          <a:p>
            <a:r>
              <a:t>Professor-review refinement 2026-10-14, slide22. Supersedes prior conflicting status summaries in these notes. Source PPTX SHA f35dc38d563d60a6a00617e65cde276ecd5137d980f497dd9f1036453c370126. Evidence and exact current claims: professor-review-refinement/build/evidence-audit.json and outline.md. Course requirement/independent investigation/DoNew scope remain separate. Diagnosis4tools29.301s,Unified2tools6.857s,oneattempt12hashes each: LIVE EXECUTION CONFIRMED; CONTENT REVIEW PENDING per latest user instruction. Application chooses required tools; no autonomous selection claim.96offline tests are existing receipt,not newAPItests. Original raw Vision excerpt SHA2e85dc9deb1f3a95a61dbb87b02ce32aa9dda88f4957444629fe1e96551aaf6c, image SHA8c54890341c34a1a7dee89ef4b402513a2c8d922de778d62c63b9e613686e7f7. Image/state interventions differentn5/4; not globalcausality. State-policy943count is0–40m historicalprotocol,notStep6near941. Fixed120lossratio6.481130956086707,not epochlossratio. Actual source records: projects/project2/agent/artifacts/live-runs/20261014-230632-diagnosis-5ae5d652 and 20261014-230705-unified-598a0b14. Content corrections remain review candidates, not final signoff. No APIcalls/retraining/codechanges/commit/push. Drivingquality,solecause,effectiverepair remainNOTVERIFIED.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Taiwan Final single injectionframe1 width count943→1006 (+63). For injectionframe135 next100frame width/pathout bothzero, but Taiwan pathout returns282,width352. USA analogous returns245/313. Full sequences and batch-size caveats in recheck. This is temporal dependence, not a scalarRMS-only explanation.</a:t>
            </a:r>
          </a:p>
          <a:p>
            <a:r>
              <a:t>v2 claim: Taiwan injection adverse943→1006; frame135 temporary, pathout282 width352</a:t>
            </a:r>
          </a:p>
          <a:p>
            <a:r>
              <a:t>CONFIRMED</a:t>
            </a:r>
          </a:p>
          <a:p>
            <a:r>
              <a:t>Every tested single-injection branch eventually fails again. Teacher previousstate is causal past information.</a:t>
            </a:r>
          </a:p>
          <a:p>
            <a:r>
              <a:t>Sources:</a:t>
            </a:r>
          </a:p>
          <a:p>
            <a:r>
              <a:t>/Users/2006wu/Desktop/Project2-B6-State-Divergence-Investigation/b6-state-divergence-20261009-01/recheck-20261009/all-injection-outcomes.json</a:t>
            </a:r>
          </a:p>
          <a:p>
            <a:r>
              <a:t>/Users/2006wu/Desktop/Project2-B6-State-Divergence-Investigation/b6-state-divergence-20261009-01/recheck-20261009/Recheck-Report.md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Independent matched initialization experiment, not mixed-state E0. Same freshseed4201 architecture/data/optimizer/loss. Variant only depthwise scaling. Both bestepoch7 of8, fixed120 validation. Raw values stored in decisionJSON.</a:t>
            </a:r>
          </a:p>
          <a:p>
            <a:r>
              <a:t>v2 claim: Depthwise matched8epoch negative result, loss −0.1609%, no60epochpromotion</a:t>
            </a:r>
          </a:p>
          <a:p>
            <a:r>
              <a:t>CONFIRMED</a:t>
            </a:r>
          </a:p>
          <a:p>
            <a:endParaRPr/>
          </a:p>
          <a:p>
            <a:r>
              <a:t>Sources:</a:t>
            </a:r>
          </a:p>
          <a:p>
            <a:r>
              <a:t>/Users/2006wu/Desktop/Project2-B6-Geometry-Investigation/b6-geometry-20261009-01/09-controlled-fixes/short-training-decision.json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Bernoulli row-level selection, not averaging teacher/student vectors. Frozen originalBest cached separately per recording, causally aligned previousrow; original teacher currenttargets unchanged. NoBPTT. Actual selected82/320 and162/320. Same rowplan two20rowwindowsperepoch; not historical60epochtrajectory.</a:t>
            </a:r>
          </a:p>
          <a:p>
            <a:r>
              <a:t>v2 claim: E0q0 E1q.25 E2q.5 same8x20x2 seed4201 Adam loss data; frozenBest previousstate cache</a:t>
            </a:r>
          </a:p>
          <a:p>
            <a:r>
              <a:t>CONFIRMED</a:t>
            </a:r>
          </a:p>
          <a:p>
            <a:endParaRPr/>
          </a:p>
          <a:p>
            <a:r>
              <a:t>Sources:</a:t>
            </a:r>
          </a:p>
          <a:p>
            <a:r>
              <a:t>/Users/2006wu/Desktop/Project2-B6-Mixed-State-Training/b6-mixed-state-20261009-01/02-design/mixed-state-design.md</a:t>
            </a:r>
          </a:p>
          <a:p>
            <a:r>
              <a:t>/Users/2006wu/Desktop/Project2-B6-Mixed-State-Training/b6-mixed-state-20261009-01/report/B6-Mixed-State-Training-Investigation-Report.md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Full precision source values in09-free-running-evaluation summaries and08-fixed-validation; table uses roundeddisplay. StateRMS=current512studentstate vs teachercurrentstate. Pathout counts first40, outputgeometry not vehicledeparture. Allwidthcounts0. E0 already has almostnofailures so not attribute old-vs-new gains to mixing.</a:t>
            </a:r>
          </a:p>
          <a:p>
            <a:r>
              <a:t>v2 claim: E0E1E2 fixedloss14.4614/16.3557/17.5898 USApathout0/14/412 Taiwan2/164/731 RMS8.237/16.280/13.075 and8.259/16.286/13.066</a:t>
            </a:r>
          </a:p>
          <a:p>
            <a:r>
              <a:t>CONFIRMED</a:t>
            </a:r>
          </a:p>
          <a:p>
            <a:endParaRPr/>
          </a:p>
          <a:p>
            <a:r>
              <a:t>Sources:</a:t>
            </a:r>
          </a:p>
          <a:p>
            <a:r>
              <a:t>/Users/2006wu/Desktop/Project2-B6-Mixed-State-Training/b6-mixed-state-20261009-01/09-free-running-evaluation/E0-summary.json</a:t>
            </a:r>
          </a:p>
          <a:p>
            <a:r>
              <a:t>/Users/2006wu/Desktop/Project2-B6-Mixed-State-Training/b6-mixed-state-20261009-01/09-free-running-evaluation/E1-summary.json</a:t>
            </a:r>
          </a:p>
          <a:p>
            <a:r>
              <a:t>/Users/2006wu/Desktop/Project2-B6-Mixed-State-Training/b6-mixed-state-20261009-01/09-free-running-evaluation/E2-summary.json</a:t>
            </a:r>
          </a:p>
          <a:p>
            <a:r>
              <a:t>/Users/2006wu/Desktop/Project2-B6-Mixed-State-Training/b6-mixed-state-20261009-01/report/B6-Mixed-State-Training-Investigation-Report.md</a:t>
            </a:r>
          </a:p>
          <a:p>
            <a:r>
              <a:t>/Users/2006wu/Desktop/Project2-B6-Mixed-State-Training/b6-mixed-state-20261009-01/12-promotion-decision/decision.json</a:t>
            </a:r>
          </a:p>
          <a:p>
            <a:r>
              <a:t>38-page review refinement 2026-10-15. Current visible content supersedes prior conflicting notes. Source backup SHA b3bd1bd357402e98f78dfa9e3e619bad0f26a317d44c59a95d03c97b620c675b. Original promotion gates unchanged: BOTH domains failure counts nonincreasing, one nonzero failure count &gt;=20% lower; state RMS &gt;=10% lower and temporal change &lt;=10% increase; path/lane MAE &lt;=10% increase; effective image response &gt;=80% baseline; finite/reload/repeat checks. E0 zero floor is not a retrospective gate pass. E1/E2 regress. Full state RMS values retained visibly. Source b6-mixed-state-20261009-01/12-promotion-decision/decision.json and 09-free-running-evaluation/E0,E1,E2-summary.json.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 E2 vsE0: pathMAE.4701591228→.4102017058m =−12.753%, temporalchange.01329675265→.29306456957m/pair =22.0403×. PointwiseMAE teacher-validcapped40; temporalfirst40. TaiwanMAE.47804583→.49290171worse, E1temporal improvesbutstate/geometry/aggregateimitationgatesfail. Scope limited frozenBestformulation.</a:t>
            </a:r>
          </a:p>
          <a:p>
            <a:r>
              <a:t>v2 claim: E2USApathMAEimproves12.8% temporalpathchange~22x whilefreegeometryregresses</a:t>
            </a:r>
          </a:p>
          <a:p>
            <a:r>
              <a:t>CONFIRMED</a:t>
            </a:r>
          </a:p>
          <a:p>
            <a:r>
              <a:t>Only tested frozen-Best formulation; not allmixedstateorsequenceawaretraining.</a:t>
            </a:r>
          </a:p>
          <a:p>
            <a:r>
              <a:t>Sources:</a:t>
            </a:r>
          </a:p>
          <a:p>
            <a:r>
              <a:t>/Users/2006wu/Desktop/Project2-B6-Mixed-State-Training/b6-mixed-state-20261009-01/09-free-running-evaluation/E0-summary.json</a:t>
            </a:r>
          </a:p>
          <a:p>
            <a:r>
              <a:t>/Users/2006wu/Desktop/Project2-B6-Mixed-State-Training/b6-mixed-state-20261009-01/09-free-running-evaluation/E1-summary.json</a:t>
            </a:r>
          </a:p>
          <a:p>
            <a:r>
              <a:t>/Users/2006wu/Desktop/Project2-B6-Mixed-State-Training/b6-mixed-state-20261009-01/09-free-running-evaluation/E2-summary.json</a:t>
            </a:r>
          </a:p>
          <a:p>
            <a:r>
              <a:t>/Users/2006wu/Desktop/Project2-B6-Mixed-State-Training/b6-mixed-state-20261009-01/12-promotion-decision/conclusion.json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CONFIRMED findings apply to tested models/sequences/conditions. LIKELY/SUGGESTED weakvisualcorrection plus recurrentfeedback maycontribute; exacttrainablerootcause and universalexposurebias notverified. Two repairhypotheses refersdepthwise andfrozenBestmixedstatefamily (E1/E2), not exactlytwoindividualruns.</a:t>
            </a:r>
          </a:p>
          <a:p>
            <a:r>
              <a:t>v2 claim: Geometry/state mechanism narrowed; two testedrepairhypothesesrejected</a:t>
            </a:r>
          </a:p>
          <a:p>
            <a:r>
              <a:t>CONFIRMED</a:t>
            </a:r>
          </a:p>
          <a:p>
            <a:endParaRPr/>
          </a:p>
          <a:p>
            <a:r>
              <a:t>Sources:</a:t>
            </a:r>
          </a:p>
          <a:p>
            <a:r>
              <a:t>/Users/2006wu/Desktop/Project2-B6-Geometry-Investigation/b6-geometry-20261009-01/report/B6-Geometry-Investigation-Report.md</a:t>
            </a:r>
          </a:p>
          <a:p>
            <a:r>
              <a:t>/Users/2006wu/Desktop/Project2-B6-State-Divergence-Investigation/b6-state-divergence-20261009-01/recheck-20261009/Recheck-Report.md</a:t>
            </a:r>
          </a:p>
          <a:p>
            <a:r>
              <a:t>/Users/2006wu/Desktop/Project2-B6-Mixed-State-Training/b6-mixed-state-20261009-01/12-promotion-decision/conclusion.json</a:t>
            </a:r>
          </a:p>
          <a:p>
            <a:r>
              <a:t>v2 claim: Recurrentinstability andweakvisualcorrection possible mechanism</a:t>
            </a:r>
          </a:p>
          <a:p>
            <a:r>
              <a:t>LIKELY / SUGGESTED</a:t>
            </a:r>
          </a:p>
          <a:p>
            <a:r>
              <a:t>Unique trainable rootcause, universalexposurebias, effective repair, drivingquality, safety andautonomousperformance NOT VERIFIED.</a:t>
            </a:r>
          </a:p>
          <a:p>
            <a:r>
              <a:t>Sources:</a:t>
            </a:r>
          </a:p>
          <a:p>
            <a:r>
              <a:t>/Users/2006wu/Desktop/Project2-B6-State-Divergence-Investigation/b6-state-divergence-20261009-01/report/B6-State-Divergence-Investigation-Report.md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CONTENT REVIEW PENDING.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CONFIRMED，CONTENT REVIEW PENDING。數據、條件與未驗證範圍沿用原始證據。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 基線在獨立 Python 環境執行</a:t>
            </a:r>
          </a:p>
          <a:p>
            <a:r>
              <a:t>Evidence: docs/PROJECT2_AUDIT.md §§27,32; projects/project2/agent/FRAMEWORK_REVIEW.md; professor_baseline.py; evidence_agent.py</a:t>
            </a:r>
          </a:p>
          <a:p>
            <a:r>
              <a:t>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r>
              <a:t>CONFIRMED：audit 記錄完整 user-submitted baseline receipt。旅行細節只是示範回答，未驗證或預訂。Student default model ID 為 gemini-3.8-flash，可由 GEMINI_MODEL_ID 覆寫；此為目前 source 設定。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 adapter 處理 Agno API 相容性</a:t>
            </a:r>
          </a:p>
          <a:p>
            <a:r>
              <a:t>Evidence: docs/PROJECT2_AUDIT.md §§27,32; projects/project2/agent/FRAMEWORK_REVIEW.md; professor_baseline.py; evidence_agent.py</a:t>
            </a:r>
          </a:p>
          <a:p>
            <a:r>
              <a:t>projects/project2/agent/professor_baseline.py; baseline_tests.py; git e1a1bc5 diff</a:t>
            </a:r>
          </a:p>
          <a:p>
            <a:r>
              <a:t>Repository HEAD e1a1bc5c75a085e1b39629986b98302f1842fe4b, audit 2026-10-09</a:t>
            </a:r>
          </a:p>
          <a:p>
            <a:r>
              <a:t>確認 6 Agent constructors、1 active request；不直接改寫教授檔案。Baseline offline tests 檢查實際 construction / registered tools。相容 adapter 不改變 Agent architecture level。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5-Level review 與實作的架構定位</a:t>
            </a:r>
          </a:p>
          <a:p>
            <a:r>
              <a:t>Evidence: docs/PROJECT2_AUDIT.md §§27,32; projects/project2/agent/FRAMEWORK_REVIEW.md; professor_baseline.py; evidence_agent.py</a:t>
            </a:r>
          </a:p>
          <a:p>
            <a:r>
              <a:t>Repository HEAD e1a1bc5c75a085e1b39629986b98302f1842fe4b, audit 2026-10-09</a:t>
            </a:r>
          </a:p>
          <a:p>
            <a:r>
              <a:t>LIKELY / SUGGESTED：依 assigned framework 與實際配置分析。ReasoningTools 本身不建立 Level 3；多個 examples 不構成 Team。沒有 persistent memory、retrieval index、delegation 或 background job architecture。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38-page review refinement 2026-10-15. Current visible content supersedes prior conflicting notes. Source backup SHA b3bd1bd357402e98f78dfa9e3e619bad0f26a317d44c59a95d03c97b620c675b. Source projects/project2/agent/FRAMEWORK_REVIEW.md; assigned framework mapping is engineering inference, not author judgement. Level5 requires persistent agentic systems. No Level2 session knowledge configuration,3longterm memory,4team,5persistentworkflow architecture.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原始 Do New：用 experiment facts 支持回答</a:t>
            </a:r>
          </a:p>
          <a:p>
            <a:r>
              <a:t>Evidence: docs/PROJECT2_AUDIT.md §§27,32; projects/project2/agent/FRAMEWORK_REVIEW.md; professor_baseline.py; evidence_agent.py</a:t>
            </a:r>
          </a:p>
          <a:p>
            <a:r>
              <a:t>Repository HEAD e1a1bc5c75a085e1b39629986b98302f1842fe4b, audit 2026-10-09</a:t>
            </a:r>
          </a:p>
          <a:p>
            <a:r>
              <a:t>CONFIRMED：audit §27 記錄 user receipt 驗收；來源數據仍可檢查。Live integration 成功不保證每句科學解釋正確，當時的機制解釋限制保留。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Presentation content review: Actual prompt fromgit e1a1bc5 evidence_agent.py main. Table eight values fromdocs/PROJECT2_AUDIT.md§27 matched live submitted receipt SHA256bf8b431759149d4e6003ed437438e6e6700e6596c2b01036d67723af53255c7e. Diagnosticlossmedians notStep5epochloss. Only reported phrase near machine precision zero is quoted; other answer content explicitly audit summary, not fabricated transcript. v1source/tests/exportscript removed during cleanup, retrievable inGit e1a1bc5; current workingdirectory has v2, notfreshv1acceptance.</a:t>
            </a:r>
          </a:p>
          <a:p>
            <a:r>
              <a:t>C is original-condition median across18 individual samples:6 USA train(--37),6 USA validation(--32),6 Taiwan diagnostic extension. Desirezeros,traffic[1,0], previous teacher state; original custom loss, no optimizer updates. 144 trials include4 conditions x2 checkpoints x18samples, but displayed loss is original-condition only, not the median over all144. Taiwan targets are diagnostic teacher targets, not historical training or human ground truth. Sources: PROJECT2_AUDIT.md section20 and27. A/B/C protocol distinction added; existing accepted-answer summary remains nonverbatim.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New v2：數值、影像與整合三種模式</a:t>
            </a:r>
          </a:p>
          <a:p>
            <a:r>
              <a:t>Evidence: 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r>
              <a:t>Diagnosis：讀取多實驗數值；Vision：實際 approved PNG bytes + structured report；Unified：兩者共同解釋。</a:t>
            </a:r>
          </a:p>
          <a:p>
            <a:r>
              <a:t>沒有多 Agent delegation，也沒有新增 training / inference experiments。Canonical export 是既有 production evidence 的唯讀副本。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Presentation content review: Baseline currentactive agno2 travel/ReasoningTools. Professor reference includes other separate inactive examples (search/image/etc), so this table compares active baseline and our course-specific evidence integration; does notclaim professor source hasno image example. All extensions singleagent tools/instructions Level1 architecture, notTeam orpersistentmemory. v2onlyread-onlyexisting evidence, no newinference/training. Original current sourceandhistoricalacceptance status separated.</a:t>
            </a:r>
          </a:p>
          <a:p>
            <a:r>
              <a:t>v6 update 2026-10-14; supersedes earlier pending/status statements in these notes. Source: projects/project2/agent/LIVE_REVIEW_20261014.md; run IDs 20261014-222611-diagnosis-676c58ed and 222629-unified-8cc86599 COMPLETED (preload), 225523-diagnosis-079d9899 and 225544-unified-d3d736b7 FAILED (verify). Manifests checked. Source HEAD 0098f886 with uncommitted runtime changes. 96 offline tests pass; application-required model calls are implemented but revised live NOT VERIFIED, not autonomous tool selection. No new API calls or model experiments.</a:t>
            </a:r>
          </a:p>
          <a:p>
            <a:r>
              <a:t>v7 update 2026-10-14 supersedes earlier pending statements. Source projects/project2/agent/LIVE_REVIEW_20261014.md and audit44. Run20261014-230632-diagnosis-5ae5d652 COMPLETED29.301s4requiredtools; run20261014-230705-unified-598a0b14 COMPLETED6.857s2requiredtools. Oneattempt each;12manifestentries each match; tool outputs match canonicalreaders; savedPythonhashes match current. Tool selection APPLICATION_REQUIRED_MODEL_CALLS. Report accepted only with documented review corrections: fresh-gradient numbers source is /output/p210-gradient-controls/summary.json, not P28reference_controls; image-invariance primary source P27 controlled interventions, not loss gradients alone; still-image traffic visibility does not establish motion/lane lead correspondence. Reviewed versions are not verbatim Gemini outputs. Source runtime unchanged;96offline tests retained. No new assistant APIcalls,training,commit orpush. Drivingquality,solecause,modelrepair and autonomousselection remain NOTVERIFIED.</a:t>
            </a:r>
          </a:p>
          <a:p>
            <a:r>
              <a:t>Professor-review refinement 2026-10-14, slide33. Supersedes prior conflicting status summaries in these notes. Source PPTX SHA f35dc38d563d60a6a00617e65cde276ecd5137d980f497dd9f1036453c370126. Evidence and exact current claims: professor-review-refinement/build/evidence-audit.json and outline.md. Course requirement/independent investigation/DoNew scope remain separate. Diagnosis4tools29.301s,Unified2tools6.857s,oneattempt12hashes each: LIVE EXECUTION CONFIRMED; 本次內容已核對並另存修正稿（2026-10-16；限指定兩次實測） per latest user instruction. Application chooses required tools; no autonomous selection claim.96offline tests are existing receipt,not newAPItests. Original raw Vision excerpt SHA2e85dc9deb1f3a95a61dbb87b02ce32aa9dda88f4957444629fe1e96551aaf6c, image SHA8c54890341c34a1a7dee89ef4b402513a2c8d922de778d62c63b9e613686e7f7. Image/state interventions differentn5/4; not globalcausality. State-policy943count is0–40m historicalprotocol,notStep6near941. Fixed120lossratio6.481130956086707,not epochlossratio. Actual source records: projects/project2/agent/artifacts/live-runs/20261014-230632-diagnosis-5ae5d652 and 20261014-230705-unified-598a0b14. Content corrections remain review candidates, not final signoff. No APIcalls/retraining/codechanges/commit/push. Drivingquality,solecause,effectiverepair remainNOTVERIFIED.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  <a:p>
            <a:r>
              <a:t>2026-10-16 本次核對完成：以原始兩次成功run、24個manifest檔、6個成功工具payload、canonical readers及原始圖片重新檢查。Diagnosis數值正確；9.30–9.40 orders改引P210，image-invariance以P27為主。Unified只描述可見車輛、路徑及車道線不規則；單張不能確認移動、同車道或model lead對應。修正稿非Gemini原文。結果限已測資料；非使用者簽核、所有未來輸出可靠度、駕駛準確度或自主選工具。詳見reports/project2/Agent-Content-Review-20261016.md。本次狀態取代之前本次內容已核對並另存修正稿（2026-10-16；限指定兩次實測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八個工具與可追溯 evidence export</a:t>
            </a:r>
          </a:p>
          <a:p>
            <a:r>
              <a:t>Evidence: docs/PROJECT2_AUDIT.md §§29–32; projects/project2/agent/{vision_agent,diagnosis_agent,v2_evidence,v2_tests,prepare_v2}.py; DO_NEW_V2.md</a:t>
            </a:r>
          </a:p>
          <a:p>
            <a:r>
              <a:t>build/audit-data.json; private read-only Docker inspection receipt</a:t>
            </a:r>
          </a:p>
          <a:p>
            <a:r>
              <a:t>Repository HEAD e1a1bc5c75a085e1b39629986b98302f1842fe4b, audit 2026-10-09</a:t>
            </a:r>
          </a:p>
          <a:p>
            <a:r>
              <a:t>26 canonical files：10 evidence JSON、4 cell manifests、12 PNGs。本次全部 byte count / SHA-256 匹配 export manifest。路徑 allowlist、拒絕 symlink／escape、完成狀態與 finite 檢查限制工具輸入。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Professor-review refinement 2026-10-14, slide34. Supersedes prior conflicting status summaries in these notes. Source PPTX SHA f35dc38d563d60a6a00617e65cde276ecd5137d980f497dd9f1036453c370126. Evidence and exact current claims: professor-review-refinement/build/evidence-audit.json and outline.md. Course requirement/independent investigation/DoNew scope remain separate. Diagnosis4tools29.301s,Unified2tools6.857s,oneattempt12hashes each: LIVE EXECUTION CONFIRMED; 本次內容已核對並另存修正稿（2026-10-16；限指定兩次實測） per latest user instruction. Application chooses required tools; no autonomous selection claim.96offline tests are existing receipt,not newAPItests. Original raw Vision excerpt SHA2e85dc9deb1f3a95a61dbb87b02ce32aa9dda88f4957444629fe1e96551aaf6c, image SHA8c54890341c34a1a7dee89ef4b402513a2c8d922de778d62c63b9e613686e7f7. Image/state interventions differentn5/4; not globalcausality. State-policy943count is0–40m historicalprotocol,notStep6near941. Fixed120lossratio6.481130956086707,not epochlossratio. Actual source records: projects/project2/agent/artifacts/live-runs/20261014-230632-diagnosis-5ae5d652 and 20261014-230705-unified-598a0b14. Content corrections remain review candidates, not final signoff. No APIcalls/retraining/codechanges/commit/push. Drivingquality,solecause,effectiverepair remainNOTVERIFIED.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Vision live：實際影像與定性報告</a:t>
            </a:r>
          </a:p>
          <a:p>
            <a:r>
              <a:t>Evidence: 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r>
              <a:t>CONFIRMED：user receipt 經原 image / hash / report 核對，audit §30。Single still image 只支持空間觀察；無法證明 temporal zigzag、quantitative accuracy 或 safety。Offline mode report=null，gemini_executed=false。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Presentation content review: Actual unchanged canonicalUSAfinalframe1, SHA2568c54890341c34a1a7dee89ef4b402513a2c8d922de778d62c63b9e613686e7f7. Audit§30 live receipt complete/imagegroundedreport. Four visible observations are faithful paraphrase from inspected audit; no transcript or providerreasoning invented. No newAPIcall. Thisoneimage doesnotconfirm temporalinstability, quantitativegroundtruth orcausality. offline report=null remains noGemini observation.</a:t>
            </a:r>
          </a:p>
          <a:p>
            <a:r>
              <a:t>Professor-review refinement 2026-10-14, slide35. Supersedes prior conflicting status summaries in these notes. Source PPTX SHA f35dc38d563d60a6a00617e65cde276ecd5137d980f497dd9f1036453c370126. Evidence and exact current claims: professor-review-refinement/build/evidence-audit.json and outline.md. Course requirement/independent investigation/DoNew scope remain separate. Diagnosis4tools29.301s,Unified2tools6.857s,oneattempt12hashes each: LIVE EXECUTION CONFIRMED; 本次內容已核對並另存修正稿（2026-10-16；限指定兩次實測） per latest user instruction. Application chooses required tools; no autonomous selection claim.96offline tests are existing receipt,not newAPItests. Original raw Vision excerpt SHA2e85dc9deb1f3a95a61dbb87b02ce32aa9dda88f4957444629fe1e96551aaf6c, image SHA8c54890341c34a1a7dee89ef4b402513a2c8d922de778d62c63b9e613686e7f7. Image/state interventions differentn5/4; not globalcausality. State-policy943count is0–40m historicalprotocol,notStep6near941. Fixed120lossratio6.481130956086707,not epochlossratio. Actual source records: projects/project2/agent/artifacts/live-runs/20261014-230632-diagnosis-5ae5d652 and 20261014-230705-unified-598a0b14. Content corrections remain review candidates, not final signoff. No APIcalls/retraining/codechanges/commit/push. Drivingquality,solecause,effectiverepair remainNOTVERIFIED.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Diagnosis / Unified 的 live 驗收仍待完成</a:t>
            </a:r>
          </a:p>
          <a:p>
            <a:r>
              <a:t>Evidence: 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r>
              <a:t>NOT VERIFIED：尚無完成的 live report。Quota exhaustion 是外部阻擋紀錄，未證明功能失敗。先前 503 也保留在歷史。</a:t>
            </a:r>
          </a:p>
          <a:p>
            <a:r>
              <a:t>PLANNED：配額恢復後重試，依 completed response 與人工 evidence review 驗收；更新本頁 status 區即可。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2026-10-13 live evidence agent-live-20261012-01: Diagnosis actual eight tools and matching canonical payloads, fifth provider call429 per-minute input-token limit250000, no final answer. Unified canonical Taiwan/best/frame1 actual inline PNG784912bytes,1200x900,SHA2562a46e36a96b78ed0ff6edd9e9f256240cca06fd1f0b405ecc95d4122bf849a5d; firstcall503, no tools/answer. BothPENDING; userdeferredretry. Sources: Project2-Agent-Live-Verification/agent-live-20261012-01/report/acceptance.json and mode attempt01/provider-calls.json.</a:t>
            </a:r>
          </a:p>
          <a:p>
            <a:r>
              <a:t>v6 update 2026-10-14; supersedes earlier pending/status statements in these notes. Source: projects/project2/agent/LIVE_REVIEW_20261014.md; run IDs 20261014-222611-diagnosis-676c58ed and 222629-unified-8cc86599 COMPLETED (preload), 225523-diagnosis-079d9899 and 225544-unified-d3d736b7 FAILED (verify). Manifests checked. Source HEAD 0098f886 with uncommitted runtime changes. 96 offline tests pass; application-required model calls are implemented but revised live NOT VERIFIED, not autonomous tool selection. No new API calls or model experiments.</a:t>
            </a:r>
          </a:p>
          <a:p>
            <a:r>
              <a:t>v7 update 2026-10-14 supersedes earlier pending statements. Source projects/project2/agent/LIVE_REVIEW_20261014.md and audit44. Run20261014-230632-diagnosis-5ae5d652 COMPLETED29.301s4requiredtools; run20261014-230705-unified-598a0b14 COMPLETED6.857s2requiredtools. Oneattempt each;12manifestentries each match; tool outputs match canonicalreaders; savedPythonhashes match current. Tool selection APPLICATION_REQUIRED_MODEL_CALLS. Report accepted only with documented review corrections: fresh-gradient numbers source is /output/p210-gradient-controls/summary.json, not P28reference_controls; image-invariance primary source P27 controlled interventions, not loss gradients alone; still-image traffic visibility does not establish motion/lane lead correspondence. Reviewed versions are not verbatim Gemini outputs. Source runtime unchanged;96offline tests retained. No new assistant APIcalls,training,commit orpush. Drivingquality,solecause,modelrepair and autonomousselection remain NOTVERIFIED.</a:t>
            </a:r>
          </a:p>
          <a:p>
            <a:r>
              <a:t>Professor-review refinement 2026-10-14, slide36. Supersedes prior conflicting status summaries in these notes. Source PPTX SHA f35dc38d563d60a6a00617e65cde276ecd5137d980f497dd9f1036453c370126. Evidence and exact current claims: professor-review-refinement/build/evidence-audit.json and outline.md. Course requirement/independent investigation/DoNew scope remain separate. Diagnosis4tools29.301s,Unified2tools6.857s,oneattempt12hashes each: LIVE EXECUTION CONFIRMED; 本次內容已核對並另存修正稿（2026-10-16；限指定兩次實測） per latest user instruction. Application chooses required tools; no autonomous selection claim.96offline tests are existing receipt,not newAPItests. Original raw Vision excerpt SHA2e85dc9deb1f3a95a61dbb87b02ce32aa9dda88f4957444629fe1e96551aaf6c, image SHA8c54890341c34a1a7dee89ef4b402513a2c8d922de778d62c63b9e613686e7f7. Image/state interventions differentn5/4; not globalcausality. State-policy943count is0–40m historicalprotocol,notStep6near941. Fixed120lossratio6.481130956086707,not epochlossratio. Actual source records: projects/project2/agent/artifacts/live-runs/20261014-230632-diagnosis-5ae5d652 and 20261014-230705-unified-598a0b14. Content corrections remain review candidates, not final signoff. No APIcalls/retraining/codechanges/commit/push. Drivingquality,solecause,effectiverepair remainNOTVERIFIED.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Exact raw excerpts from live-runs/20261014-230632-diagnosis-5ae5d652/result.json (29.301sec,4tools) and 20261014-230705-unified-598a0b14/result.json (6.857sec,2tools). Both oneattempt12hashes. Diagnosis excerpt field report contains parenthetical quote. Unified report.numerical_disagreements prefix excerpt. English is verbatim aside from line wraps/outer quotes. Chinese interpretation is presentation summary, not quote. Source/reference_controls fresh-gradient misattribution and single-image movingvehicles wording still require review. Raw outputs preserved; 本次內容已核對並另存修正稿（2026-10-16；限指定兩次實測）. No autonomous tool selection.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  <a:p>
            <a:r>
              <a:t>2026-10-16 本次核對完成：以原始兩次成功run、24個manifest檔、6個成功工具payload、canonical readers及原始圖片重新檢查。Diagnosis數值正確；9.30–9.40 orders改引P210，image-invariance以P27為主。Unified只描述可見車輛、路徑及車道線不規則；單張不能確認移動、同車道或model lead對應。修正稿非Gemini原文。結果限已測資料；非使用者簽核、所有未來輸出可靠度、駕駛準確度或自主選工具。詳見reports/project2/Agent-Content-Review-20261016.md。本次狀態取代之前本次內容已核對並另存修正稿（2026-10-16；限指定兩次實測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Offline、live 與 driving quality 分層</a:t>
            </a:r>
          </a:p>
          <a:p>
            <a:r>
              <a:t>Evidence: projects/project2/agent/artifacts/do-new-v2/step6/report.json; {usa,taiwan}/{final,best}/manifest.json; production frame PNGs; projects/project2/modelb6/step6.py</a:t>
            </a:r>
          </a:p>
          <a:p>
            <a:r>
              <a:t>docs/PROJECT2_AUDIT.md §§27,32; projects/project2/agent/FRAMEWORK_REVIEW.md; professor_baseline.py; evidence_agent.py</a:t>
            </a:r>
          </a:p>
          <a:p>
            <a:r>
              <a:t>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r>
              <a:t>Agent 歷史 offline suite：55/55（20 existing +35 v2），最新紀錄 2026-10-06。Offline checks、live acceptance 與駕駛品質各自驗證，不能互相取代。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a:t>
            </a:r>
          </a:p>
          <a:p>
            <a:r>
              <a:t>Presentation content review: Current unittestdiscovery current-agent-tests.log:44 tests PASS withoutAPIcalls. Historical55 count includes nowremovedv1only11tests. Current44=6baseline+3modelselection+35v2. All currentsourcefileslisted inAgentREADME; removed evidence_agent.py/do_new_tests.py/prepare_demo.py stayinGite1a1bc5. All existingvisible datespreserved, including2026-10-06; coverand36 untouched. No newliveacceptance.</a:t>
            </a:r>
          </a:p>
          <a:p>
            <a:r>
              <a:t>v6 update 2026-10-14; supersedes earlier pending/status statements in these notes. Source: projects/project2/agent/LIVE_REVIEW_20261014.md; run IDs 20261014-222611-diagnosis-676c58ed and 222629-unified-8cc86599 COMPLETED (preload), 225523-diagnosis-079d9899 and 225544-unified-d3d736b7 FAILED (verify). Manifests checked. Source HEAD 0098f886 with uncommitted runtime changes. 96 offline tests pass; application-required model calls are implemented but revised live NOT VERIFIED, not autonomous tool selection. No new API calls or model experiments.</a:t>
            </a:r>
          </a:p>
          <a:p>
            <a:r>
              <a:t>v7 update 2026-10-14 supersedes earlier pending statements. Source projects/project2/agent/LIVE_REVIEW_20261014.md and audit44. Run20261014-230632-diagnosis-5ae5d652 COMPLETED29.301s4requiredtools; run20261014-230705-unified-598a0b14 COMPLETED6.857s2requiredtools. Oneattempt each;12manifestentries each match; tool outputs match canonicalreaders; savedPythonhashes match current. Tool selection APPLICATION_REQUIRED_MODEL_CALLS. Report accepted only with documented review corrections: fresh-gradient numbers source is /output/p210-gradient-controls/summary.json, not P28reference_controls; image-invariance primary source P27 controlled interventions, not loss gradients alone; still-image traffic visibility does not establish motion/lane lead correspondence. Reviewed versions are not verbatim Gemini outputs. Source runtime unchanged;96offline tests retained. No new assistant APIcalls,training,commit orpush. Drivingquality,solecause,modelrepair and autonomousselection remain NOTVERIFIED.</a:t>
            </a:r>
          </a:p>
          <a:p>
            <a:r>
              <a:t>Professor-review refinement 2026-10-14, slide37. Supersedes prior conflicting status summaries in these notes. Source PPTX SHA f35dc38d563d60a6a00617e65cde276ecd5137d980f497dd9f1036453c370126. Evidence and exact current claims: professor-review-refinement/build/evidence-audit.json and outline.md. Course requirement/independent investigation/DoNew scope remain separate. Diagnosis4tools29.301s,Unified2tools6.857s,oneattempt12hashes each: LIVE EXECUTION CONFIRMED; 本次內容已核對並另存修正稿（2026-10-16；限指定兩次實測） per latest user instruction. Application chooses required tools; no autonomous selection claim.96offline tests are existing receipt,not newAPItests. Original raw Vision excerpt SHA2e85dc9deb1f3a95a61dbb87b02ce32aa9dda88f4957444629fe1e96551aaf6c, image SHA8c54890341c34a1a7dee89ef4b402513a2c8d922de778d62c63b9e613686e7f7. Image/state interventions differentn5/4; not globalcausality. State-policy943count is0–40m historicalprotocol,notStep6near941. Fixed120lossratio6.481130956086707,not epochlossratio. Actual source records: projects/project2/agent/artifacts/live-runs/20261014-230632-diagnosis-5ae5d652 and 20261014-230705-unified-598a0b14. Content corrections remain review candidates, not final signoff. No APIcalls/retraining/codechanges/commit/push. Drivingquality,solecause,effectiverepair remainNOTVERIFIED.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  <a:p>
            <a:r>
              <a:t>2026-10-16 本次核對完成：以原始兩次成功run、24個manifest檔、6個成功工具payload、canonical readers及原始圖片重新檢查。Diagnosis數值正確；9.30–9.40 orders改引P210，image-invariance以P27為主。Unified只描述可見車輛、路徑及車道線不規則；單張不能確認移動、同車道或model lead對應。修正稿非Gemini原文。結果限已測資料；非使用者簽核、所有未來輸出可靠度、駕駛準確度或自主選工具。詳見reports/project2/Agent-Content-Review-20261016.md。本次狀態取代之前本次內容已核對並另存修正稿（2026-10-16；限指定兩次實測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2 建立的工程成果</a:t>
            </a:r>
          </a:p>
          <a:p>
            <a:r>
              <a:t>Evidence: projects/project2/agent/artifacts/do-new-v2/step5/runs/p25-baseline-20261005/run.json; docs/PROJECT2_AUDIT.md §15</a:t>
            </a:r>
          </a:p>
          <a:p>
            <a:r>
              <a:t>projects/project2/agent/artifacts/do-new-v2/step6/report.json; {usa,taiwan}/{final,best}/manifest.json; production frame PNGs; projects/project2/modelb6/step6.py</a:t>
            </a:r>
          </a:p>
          <a:p>
            <a:r>
              <a:t>projects/project2/agent/artifacts/do-new-v2/p27-sensitivity/results.json; projects/project2/modelb6/step7_sensitivity.py; docs/PROJECT2_AUDIT.md §18</a:t>
            </a:r>
          </a:p>
          <a:p>
            <a:r>
              <a:t>projects/project2/agent/artifacts/do-new-v2/p28-encoder-audit/{results,reference_controls}.json; step8_encoder_audit.py; docs/PROJECT2_AUDIT.md §19</a:t>
            </a:r>
          </a:p>
          <a:p>
            <a:r>
              <a:t>projects/project2/agent/artifacts/do-new-v2/p29-gradient-audit/{summary,interpretation}.json; step9_gradient_audit.py; docs/PROJECT2_AUDIT.md §20</a:t>
            </a:r>
          </a:p>
          <a:p>
            <a:r>
              <a:t>projects/project2/agent/artifacts/do-new-v2/p210-gradient-controls/summary.json; step10_gradient_controls.py; docs/PROJECT2_AUDIT.md §§21,23</a:t>
            </a:r>
          </a:p>
          <a:p>
            <a:r>
              <a:t>docs/PROJECT2_AUDIT.md §§27,32; projects/project2/agent/FRAMEWORK_REVIEW.md; professor_baseline.py; evidence_agent.py</a:t>
            </a:r>
          </a:p>
          <a:p>
            <a:r>
              <a:t>docs/PROJECT2_AUDIT.md §§29–32; projects/project2/agent/{vision_agent,diagnosis_agent,v2_evidence,v2_tests,prepare_v2}.py; DO_NEW_V2.md</a:t>
            </a:r>
          </a:p>
          <a:p>
            <a:r>
              <a:t>Repository HEAD e1a1bc5c75a085e1b39629986b98302f1842fe4b, audit 2026-10-09</a:t>
            </a:r>
          </a:p>
          <a:p>
            <a:r>
              <a:t>VALIDATION BOUNDARY · NOT VERIFIED</a:t>
            </a:r>
          </a:p>
          <a:p>
            <a:r>
              <a:t>Driving quality；Diagnosis / Unified final live acceptance；唯一 causal mechanism 與有效 model repair。</a:t>
            </a:r>
          </a:p>
          <a:p>
            <a:r>
              <a:t>Quantitative full precision and report provenance: evidence/Project2-Final-Report-evidence-coverage.json</a:t>
            </a:r>
          </a:p>
          <a:p>
            <a:r>
              <a:t>v2 integration: see evidence/Project2-Final-Report-v2-evidence-coverage.json. Corrected state recheck supersedes old interpretation. Teacher previous state is past information. Frozen-Best mixed-state conclusion is limited to tested formulation. Original course/Agent claims remain historical.</a:t>
            </a:r>
          </a:p>
          <a:p>
            <a:r>
              <a:t>Concrete concluding findings replace generic work inventory. Evidence: fixed120 validation source(G01); raw geometry(G02/G03), image/state intervention(E05/S02), depthwise(G04) and frozen-Best mixed-state(M02/M03) decisions. Preserve confirmed tested findings separately from not verified mechanism, repair and driving quality. Original course-core and live evidence coverage preserved; Project3 remains planned.</a:t>
            </a:r>
          </a:p>
          <a:p>
            <a:r>
              <a:t>v6 update 2026-10-14; supersedes earlier pending/status statements in these notes. Source: projects/project2/agent/LIVE_REVIEW_20261014.md; run IDs 20261014-222611-diagnosis-676c58ed and 222629-unified-8cc86599 COMPLETED (preload), 225523-diagnosis-079d9899 and 225544-unified-d3d736b7 FAILED (verify). Manifests checked. Source HEAD 0098f886 with uncommitted runtime changes. 96 offline tests pass; application-required model calls are implemented but revised live NOT VERIFIED, not autonomous tool selection. No new API calls or model experiments.</a:t>
            </a:r>
          </a:p>
          <a:p>
            <a:r>
              <a:t>v7 update 2026-10-14 supersedes earlier pending statements. Source projects/project2/agent/LIVE_REVIEW_20261014.md and audit44. Run20261014-230632-diagnosis-5ae5d652 COMPLETED29.301s4requiredtools; run20261014-230705-unified-598a0b14 COMPLETED6.857s2requiredtools. Oneattempt each;12manifestentries each match; tool outputs match canonicalreaders; savedPythonhashes match current. Tool selection APPLICATION_REQUIRED_MODEL_CALLS. Report accepted only with documented review corrections: fresh-gradient numbers source is /output/p210-gradient-controls/summary.json, not P28reference_controls; image-invariance primary source P27 controlled interventions, not loss gradients alone; still-image traffic visibility does not establish motion/lane lead correspondence. Reviewed versions are not verbatim Gemini outputs. Source runtime unchanged;96offline tests retained. No new assistant APIcalls,training,commit orpush. Drivingquality,solecause,modelrepair and autonomousselection remain NOTVERIFIED.</a:t>
            </a:r>
          </a:p>
          <a:p>
            <a:r>
              <a:t>Professor-review refinement 2026-10-14, slide38. Supersedes prior conflicting status summaries in these notes. Source PPTX SHA f35dc38d563d60a6a00617e65cde276ecd5137d980f497dd9f1036453c370126. Evidence and exact current claims: professor-review-refinement/build/evidence-audit.json and outline.md. Course requirement/independent investigation/DoNew scope remain separate. Diagnosis4tools29.301s,Unified2tools6.857s,oneattempt12hashes each: LIVE EXECUTION CONFIRMED; 本次內容已核對並另存修正稿（2026-10-16；限指定兩次實測） per latest user instruction. Application chooses required tools; no autonomous selection claim.96offline tests are existing receipt,not newAPItests. Original raw Vision excerpt SHA2e85dc9deb1f3a95a61dbb87b02ce32aa9dda88f4957444629fe1e96551aaf6c, image SHA8c54890341c34a1a7dee89ef4b402513a2c8d922de778d62c63b9e613686e7f7. Image/state interventions differentn5/4; not globalcausality. State-policy943count is0–40m historicalprotocol,notStep6near941. Fixed120lossratio6.481130956086707,not epochlossratio. Actual source records: projects/project2/agent/artifacts/live-runs/20261014-230632-diagnosis-5ae5d652 and 20261014-230705-unified-598a0b14. Content corrections remain review candidates, not final signoff. No APIcalls/retraining/codechanges/commit/push. Drivingquality,solecause,effectiverepair remainNOTVERIFIED.</a:t>
            </a:r>
          </a:p>
          <a:p>
            <a:r>
              <a:t>38-page review refinement 2026-10-15. Current visible content supersedes prior conflicting notes. Source backup SHA b3bd1bd357402e98f78dfa9e3e619bad0f26a317d44c59a95d03c97b620c675b. Evidence and claim boundaries retained from source v7. See build/outline.md and review report for change scope. Required/independent/DoNew scopes distinct. Drivingquality,solecause,effectiverepair NOT VERIFIED. Diagnosis/Unified LIVE EXECUTION CONFIRMED; 本次內容已核對並另存修正稿（2026-10-16；限指定兩次實測）. No new API/training/codechanges/commit/push.</a:t>
            </a:r>
          </a:p>
          <a:p>
            <a:r>
              <a:t>來源補充 2026-10-16：本頁中文敘述對應既有實驗與程式紀錄，詳細來源沿用原 notes。Raw英文回答節錄保持原文；中文摘要不代替原文。Diagnosis／Unified：LIVE EXECUTION CONFIRMED，本次內容已核對並另存修正稿（2026-10-16；限指定兩次實測）。數據、條件與未驗證範圍沿用原始證據。</a:t>
            </a:r>
          </a:p>
          <a:p>
            <a:r>
              <a:t>2026-10-16 本次核對完成：以原始兩次成功run、24個manifest檔、6個成功工具payload、canonical readers及原始圖片重新檢查。Diagnosis數值正確；9.30–9.40 orders改引P210，image-invariance以P27為主。Unified只描述可見車輛、路徑及車道線不規則；單張不能確認移動、同車道或model lead對應。修正稿非Gemini原文。結果限已測資料；非使用者簽核、所有未來輸出可靠度、駕駛準確度或自主選工具。詳見reports/project2/Agent-Content-Review-20261016.md。本次狀態取代之前本次內容已核對並另存修正稿（2026-10-16；限指定兩次實測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70A4A8-3F01-4801-A93B-8934DA4DF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9814DF9-1CA3-4F0A-9459-C28244718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40CE081-9DED-4670-94F3-EB676B3A9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3194EAF-E081-4573-9D07-7131BB6C0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1FFADFA-C7B2-4A77-8650-733315C7C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2D73BD7-8569-42FD-9C14-90C015FA1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653B483-13FA-4EAA-B560-B27D6FAF4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BDB8725-6113-4F1A-8F7F-129B6A9447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F8D39EE-8466-46FF-BCED-19A81FC0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D97D819-CCA1-473C-B996-4DBE281B9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1-textbox-0">
            <a:extLst>
              <a:ext uri="{FF2B5EF4-FFF2-40B4-BE49-F238E27FC236}">
                <a16:creationId xmlns:a16="http://schemas.microsoft.com/office/drawing/2014/main" id="{E3BEF7C5-1062-413C-AA57-A7B7155E97C5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" name="p1-textbox-1">
            <a:extLst>
              <a:ext uri="{FF2B5EF4-FFF2-40B4-BE49-F238E27FC236}">
                <a16:creationId xmlns:a16="http://schemas.microsoft.com/office/drawing/2014/main" id="{61DC856C-59E1-4944-8C5C-6EAA1C983A0F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108204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Model B6 Investigation</a:t>
            </a:r>
          </a:p>
          <a:p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&amp; Evidence-Grounded Agents</a:t>
            </a:r>
          </a:p>
        </p:txBody>
      </p:sp>
      <p:sp>
        <p:nvSpPr>
          <p:cNvPr id="3" name="p1-textbox-2">
            <a:extLst>
              <a:ext uri="{FF2B5EF4-FFF2-40B4-BE49-F238E27FC236}">
                <a16:creationId xmlns:a16="http://schemas.microsoft.com/office/drawing/2014/main" id="{F5FE3B50-9039-400E-8141-CDC3E04A29E8}"/>
              </a:ext>
            </a:extLst>
          </p:cNvPr>
          <p:cNvSpPr>
            <a:spLocks noGrp="1"/>
          </p:cNvSpPr>
          <p:nvPr/>
        </p:nvSpPr>
        <p:spPr>
          <a:xfrm>
            <a:off x="685800" y="35909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DDD6FE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550" b="0">
                <a:solidFill>
                  <a:srgbClr val="DDD6FE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DDD6FE"/>
                </a:solidFill>
                <a:latin typeface="PingFang TC"/>
                <a:ea typeface="PingFang TC"/>
                <a:cs typeface="PingFang TC"/>
              </a:rPr>
              <a:t>訓練模型、追查異常，讓 AI 讀取實驗結果</a:t>
            </a:r>
          </a:p>
        </p:txBody>
      </p:sp>
      <p:sp>
        <p:nvSpPr>
          <p:cNvPr id="4" name="p1-rect-3">
            <a:extLst>
              <a:ext uri="{FF2B5EF4-FFF2-40B4-BE49-F238E27FC236}">
                <a16:creationId xmlns:a16="http://schemas.microsoft.com/office/drawing/2014/main" id="{9A9A9F73-389D-4F94-91C5-0DE42E3D1F26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0820400" cy="14288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p1-textbox-4">
            <a:extLst>
              <a:ext uri="{FF2B5EF4-FFF2-40B4-BE49-F238E27FC236}">
                <a16:creationId xmlns:a16="http://schemas.microsoft.com/office/drawing/2014/main" id="{1AEB87F4-5044-44CF-AC46-1910CD06F4FC}"/>
              </a:ext>
            </a:extLst>
          </p:cNvPr>
          <p:cNvSpPr>
            <a:spLocks noGrp="1"/>
          </p:cNvSpPr>
          <p:nvPr/>
        </p:nvSpPr>
        <p:spPr>
          <a:xfrm>
            <a:off x="685800" y="48672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CBD5E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CBD5E1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CBD5E1"/>
                </a:solidFill>
                <a:latin typeface="PingFang TC"/>
                <a:ea typeface="PingFang TC"/>
                <a:cs typeface="PingFang TC"/>
              </a:rPr>
              <a:t>MODEL B6  /  AGNO  /  DIAGNOSTICS</a:t>
            </a:r>
          </a:p>
        </p:txBody>
      </p:sp>
      <p:sp>
        <p:nvSpPr>
          <p:cNvPr id="6" name="p1-textbox-5">
            <a:extLst>
              <a:ext uri="{FF2B5EF4-FFF2-40B4-BE49-F238E27FC236}">
                <a16:creationId xmlns:a16="http://schemas.microsoft.com/office/drawing/2014/main" id="{FE1D70C8-7D75-4FCD-AD03-CDB677225B96}"/>
              </a:ext>
            </a:extLst>
          </p:cNvPr>
          <p:cNvSpPr>
            <a:spLocks noGrp="1"/>
          </p:cNvSpPr>
          <p:nvPr/>
        </p:nvSpPr>
        <p:spPr>
          <a:xfrm>
            <a:off x="685800" y="56292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巫承志  /  113033225  /  動機28</a:t>
            </a:r>
          </a:p>
        </p:txBody>
      </p:sp>
      <p:sp>
        <p:nvSpPr>
          <p:cNvPr id="7" name="p1-textbox-6">
            <a:extLst>
              <a:ext uri="{FF2B5EF4-FFF2-40B4-BE49-F238E27FC236}">
                <a16:creationId xmlns:a16="http://schemas.microsoft.com/office/drawing/2014/main" id="{0B0CF1A9-964D-4029-ADF0-54D3A1ADD21E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0820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94A3B8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94A3B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94A3B8"/>
                </a:solidFill>
                <a:latin typeface="PingFang TC"/>
                <a:ea typeface="PingFang TC"/>
                <a:cs typeface="PingFang TC"/>
              </a:rPr>
              <a:t>FINAL REPORT   ·   2026.10.09</a:t>
            </a:r>
          </a:p>
        </p:txBody>
      </p:sp>
    </p:spTree>
    <p:extLst>
      <p:ext uri="{BB962C8B-B14F-4D97-AF65-F5344CB8AC3E}">
        <p14:creationId xmlns:p14="http://schemas.microsoft.com/office/powerpoint/2010/main" val="194948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2-textbox-0">
            <a:extLst>
              <a:ext uri="{FF2B5EF4-FFF2-40B4-BE49-F238E27FC236}">
                <a16:creationId xmlns:a16="http://schemas.microsoft.com/office/drawing/2014/main" id="{786E9348-3D40-4E47-A2ED-6DAFC3A512AC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課程完成狀態</a:t>
            </a:r>
          </a:p>
        </p:txBody>
      </p:sp>
      <p:sp>
        <p:nvSpPr>
          <p:cNvPr id="2" name="p2-textbox-1">
            <a:extLst>
              <a:ext uri="{FF2B5EF4-FFF2-40B4-BE49-F238E27FC236}">
                <a16:creationId xmlns:a16="http://schemas.microsoft.com/office/drawing/2014/main" id="{D3DFA51A-F72A-45ED-8805-104C7969AE86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課程要求已完成，新增功能也已實測</a:t>
            </a:r>
          </a:p>
        </p:txBody>
      </p:sp>
      <p:sp>
        <p:nvSpPr>
          <p:cNvPr id="3" name="p2-rect-2">
            <a:extLst>
              <a:ext uri="{FF2B5EF4-FFF2-40B4-BE49-F238E27FC236}">
                <a16:creationId xmlns:a16="http://schemas.microsoft.com/office/drawing/2014/main" id="{E6BAD5C8-3566-424F-95B6-A9CCD8BF2442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2-textbox-3">
            <a:extLst>
              <a:ext uri="{FF2B5EF4-FFF2-40B4-BE49-F238E27FC236}">
                <a16:creationId xmlns:a16="http://schemas.microsoft.com/office/drawing/2014/main" id="{F2119AFF-F59B-4212-8965-57DBEDEC9CA8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</a:t>
            </a:r>
          </a:p>
        </p:txBody>
      </p:sp>
      <p:sp>
        <p:nvSpPr>
          <p:cNvPr id="5" name="p2-textbox-4">
            <a:extLst>
              <a:ext uri="{FF2B5EF4-FFF2-40B4-BE49-F238E27FC236}">
                <a16:creationId xmlns:a16="http://schemas.microsoft.com/office/drawing/2014/main" id="{BC3EE55D-D349-4F30-BAF1-708A890048EC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B6D4270-8C44-44C6-826E-2E3905872A4B}"/>
              </a:ext>
            </a:extLst>
          </p:cNvPr>
          <p:cNvGraphicFramePr/>
          <p:nvPr/>
        </p:nvGraphicFramePr>
        <p:xfrm>
          <a:off x="685800" y="1571625"/>
          <a:ext cx="10820400" cy="247650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課程要求</a:t>
                      </a:r>
                    </a:p>
                  </a:txBody>
                  <a:tcPr marT="38100" marB="38100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完成內容與紀錄</a:t>
                      </a:r>
                    </a:p>
                  </a:txBody>
                  <a:tcPr marT="38100" marB="38100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目前狀態</a:t>
                      </a:r>
                    </a:p>
                  </a:txBody>
                  <a:tcPr marT="38100" marB="38100" anchor="ctr"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Step 5 訓練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60 epochs；保留 Final／Best 模型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Step 6 驗證</a:t>
                      </a:r>
                    </a:p>
                  </a:txBody>
                  <a:tcPr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美國／台灣 × Final／Best</a:t>
                      </a:r>
                    </a:p>
                  </a:txBody>
                  <a:tcPr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</a:t>
                      </a:r>
                    </a:p>
                  </a:txBody>
                  <a:tcPr marT="38100" marB="381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Agno / agent.py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獨立環境、相容處理、Baseline 實測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5-Level / Do New</a:t>
                      </a:r>
                    </a:p>
                  </a:txBody>
                  <a:tcPr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架構分級分析、Evidence Agent</a:t>
                      </a:r>
                    </a:p>
                  </a:txBody>
                  <a:tcPr marT="38100" marB="381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</a:t>
                      </a:r>
                    </a:p>
                  </a:txBody>
                  <a:tcPr marT="38100" marB="381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p2-textbox-5">
            <a:extLst>
              <a:ext uri="{FF2B5EF4-FFF2-40B4-BE49-F238E27FC236}">
                <a16:creationId xmlns:a16="http://schemas.microsoft.com/office/drawing/2014/main" id="{CA15001D-CBDA-4D50-B475-271B120089CB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endParaRPr/>
          </a:p>
        </p:txBody>
      </p:sp>
      <p:sp>
        <p:nvSpPr>
          <p:cNvPr id="9" name="review2-2-0">
            <a:extLst>
              <a:ext uri="{FF2B5EF4-FFF2-40B4-BE49-F238E27FC236}">
                <a16:creationId xmlns:a16="http://schemas.microsoft.com/office/drawing/2014/main" id="{985D42D1-72D1-4921-A905-02EF9732CE6B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新增功能：本次實測與內容核對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C6C8A2A-FC69-4F37-9487-47334854C2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811772"/>
              </p:ext>
            </p:extLst>
          </p:nvPr>
        </p:nvGraphicFramePr>
        <p:xfrm>
          <a:off x="685800" y="4657725"/>
          <a:ext cx="10820400" cy="15240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功能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執行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回答內容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Evidence Agent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lang="en-US" sz="1575" b="0" dirty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PASS</a:t>
                      </a:r>
                      <a:endParaRPr sz="1575" b="0" dirty="0">
                        <a:solidFill>
                          <a:srgbClr val="0F172A"/>
                        </a:solidFill>
                        <a:latin typeface="PingFang TC"/>
                        <a:ea typeface="PingFang TC"/>
                        <a:cs typeface="PingFang TC"/>
                      </a:endParaRP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已審核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Vision Agent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PASS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單張已審核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Diagnosis／Unified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PASS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 dirty="0" err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已核對並修正</a:t>
                      </a:r>
                      <a:endParaRPr sz="1575" b="0" dirty="0">
                        <a:solidFill>
                          <a:srgbClr val="0F172A"/>
                        </a:solidFill>
                        <a:latin typeface="PingFang TC"/>
                        <a:ea typeface="PingFang TC"/>
                        <a:cs typeface="PingFang TC"/>
                      </a:endParaRP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7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dited text 101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4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我完成的工作，以及怎麼追查模型問題</a:t>
            </a:r>
          </a:p>
        </p:txBody>
      </p:sp>
      <p:sp>
        <p:nvSpPr>
          <p:cNvPr id="102" name="Edited text 102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03" name="Rule 103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Edited text 104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05" name="Edited text 105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學生工作與調查路線</a:t>
            </a:r>
          </a:p>
        </p:txBody>
      </p:sp>
      <p:sp>
        <p:nvSpPr>
          <p:cNvPr id="106" name="Edited text 106"/>
          <p:cNvSpPr txBox="1"/>
          <p:nvPr/>
        </p:nvSpPr>
        <p:spPr>
          <a:xfrm>
            <a:off x="685800" y="1619250"/>
            <a:ext cx="3238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950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課程要求</a:t>
            </a:r>
          </a:p>
        </p:txBody>
      </p:sp>
      <p:sp>
        <p:nvSpPr>
          <p:cNvPr id="107" name="Edited text 107"/>
          <p:cNvSpPr txBox="1"/>
          <p:nvPr/>
        </p:nvSpPr>
        <p:spPr>
          <a:xfrm>
            <a:off x="685800" y="2066925"/>
            <a:ext cx="3286125" cy="657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模型訓練、四組驗證</a:t>
            </a:r>
          </a:p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Agent 與 Do New</a:t>
            </a:r>
          </a:p>
        </p:txBody>
      </p:sp>
      <p:sp>
        <p:nvSpPr>
          <p:cNvPr id="108" name="Edited text 108"/>
          <p:cNvSpPr txBox="1"/>
          <p:nvPr/>
        </p:nvSpPr>
        <p:spPr>
          <a:xfrm>
            <a:off x="4448175" y="1619250"/>
            <a:ext cx="3238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950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改善</a:t>
            </a:r>
          </a:p>
        </p:txBody>
      </p:sp>
      <p:sp>
        <p:nvSpPr>
          <p:cNvPr id="109" name="Edited text 109"/>
          <p:cNvSpPr txBox="1"/>
          <p:nvPr/>
        </p:nvSpPr>
        <p:spPr>
          <a:xfrm>
            <a:off x="4448175" y="2066925"/>
            <a:ext cx="3286125" cy="657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把資料配對、環境</a:t>
            </a:r>
          </a:p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和結果檔案檢查好</a:t>
            </a:r>
          </a:p>
        </p:txBody>
      </p:sp>
      <p:sp>
        <p:nvSpPr>
          <p:cNvPr id="110" name="Edited text 110"/>
          <p:cNvSpPr txBox="1"/>
          <p:nvPr/>
        </p:nvSpPr>
        <p:spPr>
          <a:xfrm>
            <a:off x="8210550" y="1619250"/>
            <a:ext cx="3238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950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自行設計的調查</a:t>
            </a:r>
          </a:p>
        </p:txBody>
      </p:sp>
      <p:sp>
        <p:nvSpPr>
          <p:cNvPr id="111" name="Edited text 111"/>
          <p:cNvSpPr txBox="1"/>
          <p:nvPr/>
        </p:nvSpPr>
        <p:spPr>
          <a:xfrm>
            <a:off x="8210550" y="2066925"/>
            <a:ext cx="3286125" cy="657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用對照實驗追查問題</a:t>
            </a:r>
          </a:p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再測試修復方法</a:t>
            </a:r>
          </a:p>
        </p:txBody>
      </p:sp>
      <p:sp>
        <p:nvSpPr>
          <p:cNvPr id="112" name="Rule 112"/>
          <p:cNvSpPr/>
          <p:nvPr/>
        </p:nvSpPr>
        <p:spPr>
          <a:xfrm>
            <a:off x="685800" y="284797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Edited text 113"/>
          <p:cNvSpPr txBox="1"/>
          <p:nvPr/>
        </p:nvSpPr>
        <p:spPr>
          <a:xfrm>
            <a:off x="685800" y="3086100"/>
            <a:ext cx="108204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1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模型調查如何一步步縮小問題？</a:t>
            </a:r>
          </a:p>
        </p:txBody>
      </p:sp>
      <p:sp>
        <p:nvSpPr>
          <p:cNvPr id="114" name="Edited text 114"/>
          <p:cNvSpPr txBox="1"/>
          <p:nvPr/>
        </p:nvSpPr>
        <p:spPr>
          <a:xfrm>
            <a:off x="685800" y="3752850"/>
            <a:ext cx="20097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01  發現問題</a:t>
            </a:r>
          </a:p>
        </p:txBody>
      </p:sp>
      <p:sp>
        <p:nvSpPr>
          <p:cNvPr id="115" name="Edited text 115"/>
          <p:cNvSpPr txBox="1"/>
          <p:nvPr/>
        </p:nvSpPr>
        <p:spPr>
          <a:xfrm>
            <a:off x="685800" y="4305300"/>
            <a:ext cx="2009775" cy="971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模型直接輸出</a:t>
            </a:r>
          </a:p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就已出現鋸齒</a:t>
            </a:r>
          </a:p>
        </p:txBody>
      </p:sp>
      <p:sp>
        <p:nvSpPr>
          <p:cNvPr id="116" name="Edited text 116"/>
          <p:cNvSpPr txBox="1"/>
          <p:nvPr/>
        </p:nvSpPr>
        <p:spPr>
          <a:xfrm>
            <a:off x="685800" y="5467350"/>
            <a:ext cx="20097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14–15 頁</a:t>
            </a:r>
          </a:p>
        </p:txBody>
      </p:sp>
      <p:sp>
        <p:nvSpPr>
          <p:cNvPr id="117" name="Edited text 117"/>
          <p:cNvSpPr txBox="1"/>
          <p:nvPr/>
        </p:nvSpPr>
        <p:spPr>
          <a:xfrm>
            <a:off x="2319447" y="3726708"/>
            <a:ext cx="304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0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18" name="Edited text 118"/>
          <p:cNvSpPr txBox="1"/>
          <p:nvPr/>
        </p:nvSpPr>
        <p:spPr>
          <a:xfrm>
            <a:off x="2886075" y="3752850"/>
            <a:ext cx="20097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02  檢查顯示</a:t>
            </a:r>
          </a:p>
        </p:txBody>
      </p:sp>
      <p:sp>
        <p:nvSpPr>
          <p:cNvPr id="119" name="Edited text 119"/>
          <p:cNvSpPr txBox="1"/>
          <p:nvPr/>
        </p:nvSpPr>
        <p:spPr>
          <a:xfrm>
            <a:off x="2886075" y="4305300"/>
            <a:ext cx="2009775" cy="971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資料配對一致</a:t>
            </a:r>
          </a:p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投影和參考相符</a:t>
            </a:r>
          </a:p>
        </p:txBody>
      </p:sp>
      <p:sp>
        <p:nvSpPr>
          <p:cNvPr id="120" name="Edited text 120"/>
          <p:cNvSpPr txBox="1"/>
          <p:nvPr/>
        </p:nvSpPr>
        <p:spPr>
          <a:xfrm>
            <a:off x="2886075" y="5467350"/>
            <a:ext cx="20097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15–16 頁</a:t>
            </a:r>
          </a:p>
        </p:txBody>
      </p:sp>
      <p:sp>
        <p:nvSpPr>
          <p:cNvPr id="121" name="Edited text 121"/>
          <p:cNvSpPr txBox="1"/>
          <p:nvPr/>
        </p:nvSpPr>
        <p:spPr>
          <a:xfrm>
            <a:off x="4519722" y="3726708"/>
            <a:ext cx="304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0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22" name="Edited text 122"/>
          <p:cNvSpPr txBox="1"/>
          <p:nvPr/>
        </p:nvSpPr>
        <p:spPr>
          <a:xfrm>
            <a:off x="5086350" y="3752850"/>
            <a:ext cx="20097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03  只換一項</a:t>
            </a:r>
          </a:p>
        </p:txBody>
      </p:sp>
      <p:sp>
        <p:nvSpPr>
          <p:cNvPr id="123" name="Edited text 123"/>
          <p:cNvSpPr txBox="1"/>
          <p:nvPr/>
        </p:nvSpPr>
        <p:spPr>
          <a:xfrm>
            <a:off x="5086350" y="4305300"/>
            <a:ext cx="2009775" cy="971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換影像差很小</a:t>
            </a:r>
          </a:p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換 state 差很多</a:t>
            </a:r>
          </a:p>
        </p:txBody>
      </p:sp>
      <p:sp>
        <p:nvSpPr>
          <p:cNvPr id="124" name="Edited text 124"/>
          <p:cNvSpPr txBox="1"/>
          <p:nvPr/>
        </p:nvSpPr>
        <p:spPr>
          <a:xfrm>
            <a:off x="5086350" y="5467350"/>
            <a:ext cx="20097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17–23 頁</a:t>
            </a:r>
          </a:p>
        </p:txBody>
      </p:sp>
      <p:sp>
        <p:nvSpPr>
          <p:cNvPr id="125" name="Edited text 125"/>
          <p:cNvSpPr txBox="1"/>
          <p:nvPr/>
        </p:nvSpPr>
        <p:spPr>
          <a:xfrm>
            <a:off x="6719997" y="3726708"/>
            <a:ext cx="304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0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26" name="Edited text 126"/>
          <p:cNvSpPr txBox="1"/>
          <p:nvPr/>
        </p:nvSpPr>
        <p:spPr>
          <a:xfrm>
            <a:off x="7286625" y="3752850"/>
            <a:ext cx="20097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04  測試修復</a:t>
            </a:r>
          </a:p>
        </p:txBody>
      </p:sp>
      <p:sp>
        <p:nvSpPr>
          <p:cNvPr id="127" name="Edited text 127"/>
          <p:cNvSpPr txBox="1"/>
          <p:nvPr/>
        </p:nvSpPr>
        <p:spPr>
          <a:xfrm>
            <a:off x="7286625" y="4305300"/>
            <a:ext cx="2009775" cy="971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Depthwise／</a:t>
            </a:r>
          </a:p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混合 state 短訓練</a:t>
            </a:r>
          </a:p>
        </p:txBody>
      </p:sp>
      <p:sp>
        <p:nvSpPr>
          <p:cNvPr id="128" name="Edited text 128"/>
          <p:cNvSpPr txBox="1"/>
          <p:nvPr/>
        </p:nvSpPr>
        <p:spPr>
          <a:xfrm>
            <a:off x="7286625" y="5467350"/>
            <a:ext cx="20097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24–27 頁</a:t>
            </a:r>
          </a:p>
        </p:txBody>
      </p:sp>
      <p:sp>
        <p:nvSpPr>
          <p:cNvPr id="129" name="Edited text 129"/>
          <p:cNvSpPr txBox="1"/>
          <p:nvPr/>
        </p:nvSpPr>
        <p:spPr>
          <a:xfrm>
            <a:off x="8920272" y="3726708"/>
            <a:ext cx="3048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0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0" name="Edited text 130"/>
          <p:cNvSpPr txBox="1"/>
          <p:nvPr/>
        </p:nvSpPr>
        <p:spPr>
          <a:xfrm>
            <a:off x="9486900" y="3752850"/>
            <a:ext cx="20097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05  做出決策</a:t>
            </a:r>
          </a:p>
        </p:txBody>
      </p:sp>
      <p:sp>
        <p:nvSpPr>
          <p:cNvPr id="131" name="Edited text 131"/>
          <p:cNvSpPr txBox="1"/>
          <p:nvPr/>
        </p:nvSpPr>
        <p:spPr>
          <a:xfrm>
            <a:off x="9486900" y="4305300"/>
            <a:ext cx="2009775" cy="971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未達續訓條件</a:t>
            </a:r>
          </a:p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不做長時間訓練</a:t>
            </a:r>
          </a:p>
        </p:txBody>
      </p:sp>
      <p:sp>
        <p:nvSpPr>
          <p:cNvPr id="132" name="Edited text 132"/>
          <p:cNvSpPr txBox="1"/>
          <p:nvPr/>
        </p:nvSpPr>
        <p:spPr>
          <a:xfrm>
            <a:off x="9486900" y="5467350"/>
            <a:ext cx="20097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28 頁</a:t>
            </a:r>
          </a:p>
        </p:txBody>
      </p:sp>
      <p:sp>
        <p:nvSpPr>
          <p:cNvPr id="133" name="Edited text 133"/>
          <p:cNvSpPr txBox="1"/>
          <p:nvPr/>
        </p:nvSpPr>
        <p:spPr>
          <a:xfrm>
            <a:off x="685800" y="5972175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4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CONFIRMED｜調查步驟與結果都有紀錄。真正原因、有效修復與駕駛品質，仍未證實。</a:t>
            </a:r>
          </a:p>
        </p:txBody>
      </p:sp>
    </p:spTree>
    <p:extLst>
      <p:ext uri="{BB962C8B-B14F-4D97-AF65-F5344CB8AC3E}">
        <p14:creationId xmlns:p14="http://schemas.microsoft.com/office/powerpoint/2010/main" val="1977318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4-textbox-0">
            <a:extLst>
              <a:ext uri="{FF2B5EF4-FFF2-40B4-BE49-F238E27FC236}">
                <a16:creationId xmlns:a16="http://schemas.microsoft.com/office/drawing/2014/main" id="{654037A5-0303-4D5B-AC16-49635DD40D6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系統分工</a:t>
            </a:r>
          </a:p>
        </p:txBody>
      </p:sp>
      <p:sp>
        <p:nvSpPr>
          <p:cNvPr id="2" name="p4-textbox-1">
            <a:extLst>
              <a:ext uri="{FF2B5EF4-FFF2-40B4-BE49-F238E27FC236}">
                <a16:creationId xmlns:a16="http://schemas.microsoft.com/office/drawing/2014/main" id="{C3BA0A84-9F7E-468A-90FA-06511B8F0272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模型訓練與 Agent 分開跑，共用實驗資料</a:t>
            </a:r>
          </a:p>
        </p:txBody>
      </p:sp>
      <p:sp>
        <p:nvSpPr>
          <p:cNvPr id="3" name="p4-rect-2">
            <a:extLst>
              <a:ext uri="{FF2B5EF4-FFF2-40B4-BE49-F238E27FC236}">
                <a16:creationId xmlns:a16="http://schemas.microsoft.com/office/drawing/2014/main" id="{498AB4EB-79F3-4F86-8F35-E3B8EC41598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4-textbox-3">
            <a:extLst>
              <a:ext uri="{FF2B5EF4-FFF2-40B4-BE49-F238E27FC236}">
                <a16:creationId xmlns:a16="http://schemas.microsoft.com/office/drawing/2014/main" id="{E90AA7E9-AAF6-4512-855C-E0FE078498A0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</a:t>
            </a:r>
            <a:r>
              <a:rPr lang="en-US" altLang="zh-TW"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</a:t>
            </a:r>
            <a:endParaRPr sz="1200" b="0" dirty="0">
              <a:solidFill>
                <a:srgbClr val="475569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5" name="p4-textbox-4">
            <a:extLst>
              <a:ext uri="{FF2B5EF4-FFF2-40B4-BE49-F238E27FC236}">
                <a16:creationId xmlns:a16="http://schemas.microsoft.com/office/drawing/2014/main" id="{576C0738-6139-4D3A-B0B0-590A46189C29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6" name="p4-rect-5">
            <a:extLst>
              <a:ext uri="{FF2B5EF4-FFF2-40B4-BE49-F238E27FC236}">
                <a16:creationId xmlns:a16="http://schemas.microsoft.com/office/drawing/2014/main" id="{4471CD3A-6DC7-4901-A672-D6EE99588121}"/>
              </a:ext>
            </a:extLst>
          </p:cNvPr>
          <p:cNvSpPr>
            <a:spLocks noGrp="1"/>
          </p:cNvSpPr>
          <p:nvPr/>
        </p:nvSpPr>
        <p:spPr>
          <a:xfrm>
            <a:off x="685800" y="1736649"/>
            <a:ext cx="10820400" cy="100012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p4-textbox-6">
            <a:extLst>
              <a:ext uri="{FF2B5EF4-FFF2-40B4-BE49-F238E27FC236}">
                <a16:creationId xmlns:a16="http://schemas.microsoft.com/office/drawing/2014/main" id="{58D95365-E534-45E5-8FB0-F8CC0DFFF95B}"/>
              </a:ext>
            </a:extLst>
          </p:cNvPr>
          <p:cNvSpPr>
            <a:spLocks noGrp="1"/>
          </p:cNvSpPr>
          <p:nvPr/>
        </p:nvSpPr>
        <p:spPr>
          <a:xfrm>
            <a:off x="914400" y="1889049"/>
            <a:ext cx="10363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沿用 Project 1</a:t>
            </a:r>
          </a:p>
        </p:txBody>
      </p:sp>
      <p:sp>
        <p:nvSpPr>
          <p:cNvPr id="8" name="p4-textbox-7">
            <a:extLst>
              <a:ext uri="{FF2B5EF4-FFF2-40B4-BE49-F238E27FC236}">
                <a16:creationId xmlns:a16="http://schemas.microsoft.com/office/drawing/2014/main" id="{E34F49CF-6FE9-462D-BFDA-A65DE2F82278}"/>
              </a:ext>
            </a:extLst>
          </p:cNvPr>
          <p:cNvSpPr>
            <a:spLocks noGrp="1"/>
          </p:cNvSpPr>
          <p:nvPr/>
        </p:nvSpPr>
        <p:spPr>
          <a:xfrm>
            <a:off x="914400" y="2279574"/>
            <a:ext cx="10363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OpenPilot / dataB6 / dataC</a:t>
            </a:r>
          </a:p>
        </p:txBody>
      </p:sp>
      <p:sp>
        <p:nvSpPr>
          <p:cNvPr id="9" name="p4-rect-8">
            <a:extLst>
              <a:ext uri="{FF2B5EF4-FFF2-40B4-BE49-F238E27FC236}">
                <a16:creationId xmlns:a16="http://schemas.microsoft.com/office/drawing/2014/main" id="{ECE53694-319F-4EC6-B834-C44596965024}"/>
              </a:ext>
            </a:extLst>
          </p:cNvPr>
          <p:cNvSpPr>
            <a:spLocks noGrp="1"/>
          </p:cNvSpPr>
          <p:nvPr/>
        </p:nvSpPr>
        <p:spPr>
          <a:xfrm>
            <a:off x="685800" y="3298749"/>
            <a:ext cx="3048000" cy="138112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p4-textbox-9">
            <a:extLst>
              <a:ext uri="{FF2B5EF4-FFF2-40B4-BE49-F238E27FC236}">
                <a16:creationId xmlns:a16="http://schemas.microsoft.com/office/drawing/2014/main" id="{98D3A92A-B23F-4DCB-8D21-6AAD6CF2AEDE}"/>
              </a:ext>
            </a:extLst>
          </p:cNvPr>
          <p:cNvSpPr>
            <a:spLocks noGrp="1"/>
          </p:cNvSpPr>
          <p:nvPr/>
        </p:nvSpPr>
        <p:spPr>
          <a:xfrm>
            <a:off x="914400" y="3451149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Model B6</a:t>
            </a:r>
          </a:p>
        </p:txBody>
      </p:sp>
      <p:sp>
        <p:nvSpPr>
          <p:cNvPr id="11" name="p4-textbox-10">
            <a:extLst>
              <a:ext uri="{FF2B5EF4-FFF2-40B4-BE49-F238E27FC236}">
                <a16:creationId xmlns:a16="http://schemas.microsoft.com/office/drawing/2014/main" id="{78F776DB-B203-4BC7-AEBF-8518AA7DF379}"/>
              </a:ext>
            </a:extLst>
          </p:cNvPr>
          <p:cNvSpPr>
            <a:spLocks noGrp="1"/>
          </p:cNvSpPr>
          <p:nvPr/>
        </p:nvSpPr>
        <p:spPr>
          <a:xfrm>
            <a:off x="914400" y="3841674"/>
            <a:ext cx="2590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TensorFlow 2.13.1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Python 3.8 Docker</a:t>
            </a:r>
          </a:p>
        </p:txBody>
      </p:sp>
      <p:sp>
        <p:nvSpPr>
          <p:cNvPr id="12" name="p4-rect-11">
            <a:extLst>
              <a:ext uri="{FF2B5EF4-FFF2-40B4-BE49-F238E27FC236}">
                <a16:creationId xmlns:a16="http://schemas.microsoft.com/office/drawing/2014/main" id="{CA85310E-1652-4F96-8CB9-C2C983E42AA6}"/>
              </a:ext>
            </a:extLst>
          </p:cNvPr>
          <p:cNvSpPr>
            <a:spLocks noGrp="1"/>
          </p:cNvSpPr>
          <p:nvPr/>
        </p:nvSpPr>
        <p:spPr>
          <a:xfrm>
            <a:off x="4572000" y="3298749"/>
            <a:ext cx="3048000" cy="138112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p4-textbox-12">
            <a:extLst>
              <a:ext uri="{FF2B5EF4-FFF2-40B4-BE49-F238E27FC236}">
                <a16:creationId xmlns:a16="http://schemas.microsoft.com/office/drawing/2014/main" id="{E1C43A32-2DFB-47C9-851F-9899AABF47AE}"/>
              </a:ext>
            </a:extLst>
          </p:cNvPr>
          <p:cNvSpPr>
            <a:spLocks noGrp="1"/>
          </p:cNvSpPr>
          <p:nvPr/>
        </p:nvSpPr>
        <p:spPr>
          <a:xfrm>
            <a:off x="4800600" y="3451149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實驗結果</a:t>
            </a:r>
          </a:p>
        </p:txBody>
      </p:sp>
      <p:sp>
        <p:nvSpPr>
          <p:cNvPr id="14" name="p4-textbox-13">
            <a:extLst>
              <a:ext uri="{FF2B5EF4-FFF2-40B4-BE49-F238E27FC236}">
                <a16:creationId xmlns:a16="http://schemas.microsoft.com/office/drawing/2014/main" id="{6E3AC172-270B-422E-A944-4C3801A97FD8}"/>
              </a:ext>
            </a:extLst>
          </p:cNvPr>
          <p:cNvSpPr>
            <a:spLocks noGrp="1"/>
          </p:cNvSpPr>
          <p:nvPr/>
        </p:nvSpPr>
        <p:spPr>
          <a:xfrm>
            <a:off x="4800600" y="3841674"/>
            <a:ext cx="2590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JSON／檔案清單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實際驗證圖片</a:t>
            </a:r>
          </a:p>
        </p:txBody>
      </p:sp>
      <p:sp>
        <p:nvSpPr>
          <p:cNvPr id="15" name="p4-rect-14">
            <a:extLst>
              <a:ext uri="{FF2B5EF4-FFF2-40B4-BE49-F238E27FC236}">
                <a16:creationId xmlns:a16="http://schemas.microsoft.com/office/drawing/2014/main" id="{F2C91F06-8491-4691-AB64-1062699EB243}"/>
              </a:ext>
            </a:extLst>
          </p:cNvPr>
          <p:cNvSpPr>
            <a:spLocks noGrp="1"/>
          </p:cNvSpPr>
          <p:nvPr/>
        </p:nvSpPr>
        <p:spPr>
          <a:xfrm>
            <a:off x="8458200" y="3298749"/>
            <a:ext cx="3048000" cy="138112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p4-textbox-15">
            <a:extLst>
              <a:ext uri="{FF2B5EF4-FFF2-40B4-BE49-F238E27FC236}">
                <a16:creationId xmlns:a16="http://schemas.microsoft.com/office/drawing/2014/main" id="{BC5C004F-1063-4C86-B41B-F1FD9CACDD0F}"/>
              </a:ext>
            </a:extLst>
          </p:cNvPr>
          <p:cNvSpPr>
            <a:spLocks noGrp="1"/>
          </p:cNvSpPr>
          <p:nvPr/>
        </p:nvSpPr>
        <p:spPr>
          <a:xfrm>
            <a:off x="8686800" y="3451149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AI Agent</a:t>
            </a:r>
          </a:p>
        </p:txBody>
      </p:sp>
      <p:sp>
        <p:nvSpPr>
          <p:cNvPr id="17" name="p4-textbox-16">
            <a:extLst>
              <a:ext uri="{FF2B5EF4-FFF2-40B4-BE49-F238E27FC236}">
                <a16:creationId xmlns:a16="http://schemas.microsoft.com/office/drawing/2014/main" id="{58D1B73C-6574-49FA-B5CD-2498066C8509}"/>
              </a:ext>
            </a:extLst>
          </p:cNvPr>
          <p:cNvSpPr>
            <a:spLocks noGrp="1"/>
          </p:cNvSpPr>
          <p:nvPr/>
        </p:nvSpPr>
        <p:spPr>
          <a:xfrm>
            <a:off x="8686800" y="3841674"/>
            <a:ext cx="2590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Agno 3.1.1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Python 3.11 venv</a:t>
            </a:r>
          </a:p>
        </p:txBody>
      </p:sp>
      <p:sp>
        <p:nvSpPr>
          <p:cNvPr id="18" name="p4-rightArrow-17">
            <a:extLst>
              <a:ext uri="{FF2B5EF4-FFF2-40B4-BE49-F238E27FC236}">
                <a16:creationId xmlns:a16="http://schemas.microsoft.com/office/drawing/2014/main" id="{49B9415A-0E1A-4E6E-825B-D13BA3EDAF4F}"/>
              </a:ext>
            </a:extLst>
          </p:cNvPr>
          <p:cNvSpPr>
            <a:spLocks noGrp="1"/>
          </p:cNvSpPr>
          <p:nvPr/>
        </p:nvSpPr>
        <p:spPr>
          <a:xfrm>
            <a:off x="3886200" y="3870249"/>
            <a:ext cx="533400" cy="11430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p4-rightArrow-18">
            <a:extLst>
              <a:ext uri="{FF2B5EF4-FFF2-40B4-BE49-F238E27FC236}">
                <a16:creationId xmlns:a16="http://schemas.microsoft.com/office/drawing/2014/main" id="{9D754754-DC7A-41CE-BB1D-FE18359914CE}"/>
              </a:ext>
            </a:extLst>
          </p:cNvPr>
          <p:cNvSpPr>
            <a:spLocks noGrp="1"/>
          </p:cNvSpPr>
          <p:nvPr/>
        </p:nvSpPr>
        <p:spPr>
          <a:xfrm>
            <a:off x="7772400" y="3870249"/>
            <a:ext cx="533400" cy="11430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p4-textbox-19">
            <a:extLst>
              <a:ext uri="{FF2B5EF4-FFF2-40B4-BE49-F238E27FC236}">
                <a16:creationId xmlns:a16="http://schemas.microsoft.com/office/drawing/2014/main" id="{33BE9FBE-6EE9-4AB4-ABE9-45344DEB7E68}"/>
              </a:ext>
            </a:extLst>
          </p:cNvPr>
          <p:cNvSpPr>
            <a:spLocks noGrp="1"/>
          </p:cNvSpPr>
          <p:nvPr/>
        </p:nvSpPr>
        <p:spPr>
          <a:xfrm>
            <a:off x="685800" y="2889174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沿用的資料只讀取，不改寫</a:t>
            </a:r>
          </a:p>
        </p:txBody>
      </p:sp>
      <p:sp>
        <p:nvSpPr>
          <p:cNvPr id="21" name="p4-rect-20">
            <a:extLst>
              <a:ext uri="{FF2B5EF4-FFF2-40B4-BE49-F238E27FC236}">
                <a16:creationId xmlns:a16="http://schemas.microsoft.com/office/drawing/2014/main" id="{698E9664-BEA7-4195-8F20-800E4171A816}"/>
              </a:ext>
            </a:extLst>
          </p:cNvPr>
          <p:cNvSpPr>
            <a:spLocks noGrp="1"/>
          </p:cNvSpPr>
          <p:nvPr/>
        </p:nvSpPr>
        <p:spPr>
          <a:xfrm>
            <a:off x="685800" y="5057775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p4-textbox-21">
            <a:extLst>
              <a:ext uri="{FF2B5EF4-FFF2-40B4-BE49-F238E27FC236}">
                <a16:creationId xmlns:a16="http://schemas.microsoft.com/office/drawing/2014/main" id="{8F5DF755-2FCB-4522-A800-673DDC6B8066}"/>
              </a:ext>
            </a:extLst>
          </p:cNvPr>
          <p:cNvSpPr>
            <a:spLocks noGrp="1"/>
          </p:cNvSpPr>
          <p:nvPr/>
        </p:nvSpPr>
        <p:spPr>
          <a:xfrm>
            <a:off x="685800" y="522922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Agent 只讀取模型結果，協助分析，不會改動模型。</a:t>
            </a:r>
          </a:p>
        </p:txBody>
      </p:sp>
      <p:sp>
        <p:nvSpPr>
          <p:cNvPr id="23" name="p4-textbox-22">
            <a:extLst>
              <a:ext uri="{FF2B5EF4-FFF2-40B4-BE49-F238E27FC236}">
                <a16:creationId xmlns:a16="http://schemas.microsoft.com/office/drawing/2014/main" id="{75DBE737-3EBD-4390-9113-3F7D376B9260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1 只提供既有環境。本報告呈現 Project 2 的工作，原始資料、處理後資料與輸出分開存放。</a:t>
            </a:r>
          </a:p>
        </p:txBody>
      </p:sp>
    </p:spTree>
    <p:extLst>
      <p:ext uri="{BB962C8B-B14F-4D97-AF65-F5344CB8AC3E}">
        <p14:creationId xmlns:p14="http://schemas.microsoft.com/office/powerpoint/2010/main" val="67172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5-textbox-0">
            <a:extLst>
              <a:ext uri="{FF2B5EF4-FFF2-40B4-BE49-F238E27FC236}">
                <a16:creationId xmlns:a16="http://schemas.microsoft.com/office/drawing/2014/main" id="{459A287E-D0D6-4A99-BDE3-B658039FBDD9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PART A · MODEL B6</a:t>
            </a:r>
          </a:p>
        </p:txBody>
      </p:sp>
      <p:sp>
        <p:nvSpPr>
          <p:cNvPr id="2" name="p5-textbox-1">
            <a:extLst>
              <a:ext uri="{FF2B5EF4-FFF2-40B4-BE49-F238E27FC236}">
                <a16:creationId xmlns:a16="http://schemas.microsoft.com/office/drawing/2014/main" id="{5EA8C2BB-7317-48B1-8E13-6FECCE3CF6E8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Model B6 讀入哪些資料，怎麼產生輸出</a:t>
            </a:r>
          </a:p>
        </p:txBody>
      </p:sp>
      <p:sp>
        <p:nvSpPr>
          <p:cNvPr id="3" name="p5-rect-2">
            <a:extLst>
              <a:ext uri="{FF2B5EF4-FFF2-40B4-BE49-F238E27FC236}">
                <a16:creationId xmlns:a16="http://schemas.microsoft.com/office/drawing/2014/main" id="{087B852C-2D12-4BDA-B8CD-ABF63873A488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5-textbox-3">
            <a:extLst>
              <a:ext uri="{FF2B5EF4-FFF2-40B4-BE49-F238E27FC236}">
                <a16:creationId xmlns:a16="http://schemas.microsoft.com/office/drawing/2014/main" id="{990413DB-9248-4A13-852A-BD1F08620947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</a:t>
            </a:r>
          </a:p>
        </p:txBody>
      </p:sp>
      <p:sp>
        <p:nvSpPr>
          <p:cNvPr id="5" name="p5-textbox-4">
            <a:extLst>
              <a:ext uri="{FF2B5EF4-FFF2-40B4-BE49-F238E27FC236}">
                <a16:creationId xmlns:a16="http://schemas.microsoft.com/office/drawing/2014/main" id="{DBC69D08-AD51-4AC7-93DE-1A5F1755A2B7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32" name="review2-5-0">
            <a:extLst>
              <a:ext uri="{FF2B5EF4-FFF2-40B4-BE49-F238E27FC236}">
                <a16:creationId xmlns:a16="http://schemas.microsoft.com/office/drawing/2014/main" id="{BA084EE6-329C-4520-9AEA-B539CC59D994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905000" cy="72390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review2-5-1">
            <a:extLst>
              <a:ext uri="{FF2B5EF4-FFF2-40B4-BE49-F238E27FC236}">
                <a16:creationId xmlns:a16="http://schemas.microsoft.com/office/drawing/2014/main" id="{9140AE91-9367-4AF0-859A-9CD886B1BBCE}"/>
              </a:ext>
            </a:extLst>
          </p:cNvPr>
          <p:cNvSpPr>
            <a:spLocks noGrp="1"/>
          </p:cNvSpPr>
          <p:nvPr/>
        </p:nvSpPr>
        <p:spPr>
          <a:xfrm>
            <a:off x="838200" y="1771650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連續兩張影像</a:t>
            </a:r>
          </a:p>
        </p:txBody>
      </p:sp>
      <p:sp>
        <p:nvSpPr>
          <p:cNvPr id="34" name="review2-5-2">
            <a:extLst>
              <a:ext uri="{FF2B5EF4-FFF2-40B4-BE49-F238E27FC236}">
                <a16:creationId xmlns:a16="http://schemas.microsoft.com/office/drawing/2014/main" id="{210C229E-55DB-4009-BF25-54E97997E44C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160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12 × 128 × 256</a:t>
            </a:r>
          </a:p>
        </p:txBody>
      </p:sp>
      <p:sp>
        <p:nvSpPr>
          <p:cNvPr id="35" name="review2-5-3">
            <a:extLst>
              <a:ext uri="{FF2B5EF4-FFF2-40B4-BE49-F238E27FC236}">
                <a16:creationId xmlns:a16="http://schemas.microsoft.com/office/drawing/2014/main" id="{BA8B7B9B-1074-4C96-884A-D5C9EB15DF36}"/>
              </a:ext>
            </a:extLst>
          </p:cNvPr>
          <p:cNvSpPr>
            <a:spLocks noGrp="1"/>
          </p:cNvSpPr>
          <p:nvPr/>
        </p:nvSpPr>
        <p:spPr>
          <a:xfrm>
            <a:off x="3086100" y="1657350"/>
            <a:ext cx="2362200" cy="72390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review2-5-4">
            <a:extLst>
              <a:ext uri="{FF2B5EF4-FFF2-40B4-BE49-F238E27FC236}">
                <a16:creationId xmlns:a16="http://schemas.microsoft.com/office/drawing/2014/main" id="{4AB5BC48-D788-41A2-BF20-A4B1CB330371}"/>
              </a:ext>
            </a:extLst>
          </p:cNvPr>
          <p:cNvSpPr>
            <a:spLocks noGrp="1"/>
          </p:cNvSpPr>
          <p:nvPr/>
        </p:nvSpPr>
        <p:spPr>
          <a:xfrm>
            <a:off x="3238500" y="17716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影像特徵擷取</a:t>
            </a:r>
          </a:p>
        </p:txBody>
      </p:sp>
      <p:sp>
        <p:nvSpPr>
          <p:cNvPr id="37" name="review2-5-5">
            <a:extLst>
              <a:ext uri="{FF2B5EF4-FFF2-40B4-BE49-F238E27FC236}">
                <a16:creationId xmlns:a16="http://schemas.microsoft.com/office/drawing/2014/main" id="{520D947C-BA27-4F8A-9D48-D78A6FF01B61}"/>
              </a:ext>
            </a:extLst>
          </p:cNvPr>
          <p:cNvSpPr>
            <a:spLocks noGrp="1"/>
          </p:cNvSpPr>
          <p:nvPr/>
        </p:nvSpPr>
        <p:spPr>
          <a:xfrm>
            <a:off x="3238500" y="2076450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EffNet → flatten 1024</a:t>
            </a:r>
          </a:p>
        </p:txBody>
      </p:sp>
      <p:sp>
        <p:nvSpPr>
          <p:cNvPr id="38" name="review2-5-6">
            <a:extLst>
              <a:ext uri="{FF2B5EF4-FFF2-40B4-BE49-F238E27FC236}">
                <a16:creationId xmlns:a16="http://schemas.microsoft.com/office/drawing/2014/main" id="{4E3CE510-9AF1-42F9-A7CB-E1F3E53834B5}"/>
              </a:ext>
            </a:extLst>
          </p:cNvPr>
          <p:cNvSpPr>
            <a:spLocks noGrp="1"/>
          </p:cNvSpPr>
          <p:nvPr/>
        </p:nvSpPr>
        <p:spPr>
          <a:xfrm>
            <a:off x="8020050" y="1657350"/>
            <a:ext cx="3486150" cy="72390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review2-5-7">
            <a:extLst>
              <a:ext uri="{FF2B5EF4-FFF2-40B4-BE49-F238E27FC236}">
                <a16:creationId xmlns:a16="http://schemas.microsoft.com/office/drawing/2014/main" id="{0E5445CA-4A56-4DD3-AA0E-C51898BED14A}"/>
              </a:ext>
            </a:extLst>
          </p:cNvPr>
          <p:cNvSpPr>
            <a:spLocks noGrp="1"/>
          </p:cNvSpPr>
          <p:nvPr/>
        </p:nvSpPr>
        <p:spPr>
          <a:xfrm>
            <a:off x="8172450" y="1771650"/>
            <a:ext cx="3181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直接輸出分支 · fork2／3</a:t>
            </a:r>
          </a:p>
        </p:txBody>
      </p:sp>
      <p:sp>
        <p:nvSpPr>
          <p:cNvPr id="40" name="review2-5-8">
            <a:extLst>
              <a:ext uri="{FF2B5EF4-FFF2-40B4-BE49-F238E27FC236}">
                <a16:creationId xmlns:a16="http://schemas.microsoft.com/office/drawing/2014/main" id="{A8EEF00C-4EF6-4226-AF06-EFD89DE59516}"/>
              </a:ext>
            </a:extLst>
          </p:cNvPr>
          <p:cNvSpPr>
            <a:spLocks noGrp="1"/>
          </p:cNvSpPr>
          <p:nvPr/>
        </p:nvSpPr>
        <p:spPr>
          <a:xfrm>
            <a:off x="8172450" y="2076450"/>
            <a:ext cx="3181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meta / desire_pred / pose</a:t>
            </a:r>
          </a:p>
        </p:txBody>
      </p:sp>
      <p:sp>
        <p:nvSpPr>
          <p:cNvPr id="41" name="review2-5-9">
            <a:extLst>
              <a:ext uri="{FF2B5EF4-FFF2-40B4-BE49-F238E27FC236}">
                <a16:creationId xmlns:a16="http://schemas.microsoft.com/office/drawing/2014/main" id="{7B879908-99CA-4CCF-9CC4-F1DF27043573}"/>
              </a:ext>
            </a:extLst>
          </p:cNvPr>
          <p:cNvSpPr>
            <a:spLocks noGrp="1"/>
          </p:cNvSpPr>
          <p:nvPr/>
        </p:nvSpPr>
        <p:spPr>
          <a:xfrm>
            <a:off x="2590800" y="2019300"/>
            <a:ext cx="49530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review2-5-10">
            <a:extLst>
              <a:ext uri="{FF2B5EF4-FFF2-40B4-BE49-F238E27FC236}">
                <a16:creationId xmlns:a16="http://schemas.microsoft.com/office/drawing/2014/main" id="{F297C292-14B2-4B05-A92D-748A613039BA}"/>
              </a:ext>
            </a:extLst>
          </p:cNvPr>
          <p:cNvSpPr>
            <a:spLocks noGrp="1"/>
          </p:cNvSpPr>
          <p:nvPr/>
        </p:nvSpPr>
        <p:spPr>
          <a:xfrm>
            <a:off x="5448300" y="2019300"/>
            <a:ext cx="257175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review2-5-11">
            <a:extLst>
              <a:ext uri="{FF2B5EF4-FFF2-40B4-BE49-F238E27FC236}">
                <a16:creationId xmlns:a16="http://schemas.microsoft.com/office/drawing/2014/main" id="{1FE0BD82-BFB9-4FEA-A37F-4029F12C3BCD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2286000" cy="85725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review2-5-12">
            <a:extLst>
              <a:ext uri="{FF2B5EF4-FFF2-40B4-BE49-F238E27FC236}">
                <a16:creationId xmlns:a16="http://schemas.microsoft.com/office/drawing/2014/main" id="{267636D7-39F8-4CB3-B795-74D1D6027153}"/>
              </a:ext>
            </a:extLst>
          </p:cNvPr>
          <p:cNvSpPr>
            <a:spLocks noGrp="1"/>
          </p:cNvSpPr>
          <p:nvPr/>
        </p:nvSpPr>
        <p:spPr>
          <a:xfrm>
            <a:off x="838200" y="306705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Desire／traffic</a:t>
            </a:r>
          </a:p>
        </p:txBody>
      </p:sp>
      <p:sp>
        <p:nvSpPr>
          <p:cNvPr id="45" name="review2-5-13">
            <a:extLst>
              <a:ext uri="{FF2B5EF4-FFF2-40B4-BE49-F238E27FC236}">
                <a16:creationId xmlns:a16="http://schemas.microsoft.com/office/drawing/2014/main" id="{06D4E067-CC78-47F0-8B11-CFFD484A4996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1981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Dense 8／Dense 2</a:t>
            </a:r>
          </a:p>
        </p:txBody>
      </p:sp>
      <p:sp>
        <p:nvSpPr>
          <p:cNvPr id="46" name="review2-5-14">
            <a:extLst>
              <a:ext uri="{FF2B5EF4-FFF2-40B4-BE49-F238E27FC236}">
                <a16:creationId xmlns:a16="http://schemas.microsoft.com/office/drawing/2014/main" id="{71BF8927-82C2-4F6A-ADF8-0AA128CA0398}"/>
              </a:ext>
            </a:extLst>
          </p:cNvPr>
          <p:cNvSpPr>
            <a:spLocks noGrp="1"/>
          </p:cNvSpPr>
          <p:nvPr/>
        </p:nvSpPr>
        <p:spPr>
          <a:xfrm>
            <a:off x="3467100" y="2952750"/>
            <a:ext cx="3371850" cy="85725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review2-5-15">
            <a:extLst>
              <a:ext uri="{FF2B5EF4-FFF2-40B4-BE49-F238E27FC236}">
                <a16:creationId xmlns:a16="http://schemas.microsoft.com/office/drawing/2014/main" id="{1F35D16C-A79F-484C-B499-E8394FFFFEA5}"/>
              </a:ext>
            </a:extLst>
          </p:cNvPr>
          <p:cNvSpPr>
            <a:spLocks noGrp="1"/>
          </p:cNvSpPr>
          <p:nvPr/>
        </p:nvSpPr>
        <p:spPr>
          <a:xfrm>
            <a:off x="3619500" y="3067050"/>
            <a:ext cx="3067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合併特徵＋Dense</a:t>
            </a:r>
          </a:p>
        </p:txBody>
      </p:sp>
      <p:sp>
        <p:nvSpPr>
          <p:cNvPr id="48" name="review2-5-16">
            <a:extLst>
              <a:ext uri="{FF2B5EF4-FFF2-40B4-BE49-F238E27FC236}">
                <a16:creationId xmlns:a16="http://schemas.microsoft.com/office/drawing/2014/main" id="{88CF3FE7-01B5-48CA-B722-F6628BF32FBB}"/>
              </a:ext>
            </a:extLst>
          </p:cNvPr>
          <p:cNvSpPr>
            <a:spLocks noGrp="1"/>
          </p:cNvSpPr>
          <p:nvPr/>
        </p:nvSpPr>
        <p:spPr>
          <a:xfrm>
            <a:off x="3619500" y="337185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影像 1024 + desire 8 + traffic 2</a:t>
            </a:r>
          </a:p>
        </p:txBody>
      </p:sp>
      <p:sp>
        <p:nvSpPr>
          <p:cNvPr id="49" name="review2-5-17">
            <a:extLst>
              <a:ext uri="{FF2B5EF4-FFF2-40B4-BE49-F238E27FC236}">
                <a16:creationId xmlns:a16="http://schemas.microsoft.com/office/drawing/2014/main" id="{3009EFE3-7A30-4437-875A-E7C76CEF3187}"/>
              </a:ext>
            </a:extLst>
          </p:cNvPr>
          <p:cNvSpPr>
            <a:spLocks noGrp="1"/>
          </p:cNvSpPr>
          <p:nvPr/>
        </p:nvSpPr>
        <p:spPr>
          <a:xfrm>
            <a:off x="2971800" y="3381375"/>
            <a:ext cx="49530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review2-5-18">
            <a:extLst>
              <a:ext uri="{FF2B5EF4-FFF2-40B4-BE49-F238E27FC236}">
                <a16:creationId xmlns:a16="http://schemas.microsoft.com/office/drawing/2014/main" id="{E9D070AD-1364-407B-A1A5-73B10F5638EA}"/>
              </a:ext>
            </a:extLst>
          </p:cNvPr>
          <p:cNvSpPr>
            <a:spLocks noGrp="1"/>
          </p:cNvSpPr>
          <p:nvPr/>
        </p:nvSpPr>
        <p:spPr>
          <a:xfrm>
            <a:off x="4267200" y="2381250"/>
            <a:ext cx="0" cy="57150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review2-5-19">
            <a:extLst>
              <a:ext uri="{FF2B5EF4-FFF2-40B4-BE49-F238E27FC236}">
                <a16:creationId xmlns:a16="http://schemas.microsoft.com/office/drawing/2014/main" id="{AD9998B6-AD6C-4C5C-BAB1-5AA4FCED6690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2286000" cy="81915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review2-5-20">
            <a:extLst>
              <a:ext uri="{FF2B5EF4-FFF2-40B4-BE49-F238E27FC236}">
                <a16:creationId xmlns:a16="http://schemas.microsoft.com/office/drawing/2014/main" id="{63A255FF-E818-479C-9F5E-8F1981021059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前一步的 state</a:t>
            </a:r>
          </a:p>
        </p:txBody>
      </p:sp>
      <p:sp>
        <p:nvSpPr>
          <p:cNvPr id="53" name="review2-5-21">
            <a:extLst>
              <a:ext uri="{FF2B5EF4-FFF2-40B4-BE49-F238E27FC236}">
                <a16:creationId xmlns:a16="http://schemas.microsoft.com/office/drawing/2014/main" id="{D2808033-CC58-41CB-81DB-2DC177DB23AD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512 個狀態值</a:t>
            </a:r>
          </a:p>
        </p:txBody>
      </p:sp>
      <p:sp>
        <p:nvSpPr>
          <p:cNvPr id="54" name="review2-5-22">
            <a:extLst>
              <a:ext uri="{FF2B5EF4-FFF2-40B4-BE49-F238E27FC236}">
                <a16:creationId xmlns:a16="http://schemas.microsoft.com/office/drawing/2014/main" id="{FD70CF23-4D0C-4BA7-84A3-EFA5BA1DB611}"/>
              </a:ext>
            </a:extLst>
          </p:cNvPr>
          <p:cNvSpPr>
            <a:spLocks noGrp="1"/>
          </p:cNvSpPr>
          <p:nvPr/>
        </p:nvSpPr>
        <p:spPr>
          <a:xfrm>
            <a:off x="3467100" y="4343400"/>
            <a:ext cx="3371850" cy="81915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review2-5-23">
            <a:extLst>
              <a:ext uri="{FF2B5EF4-FFF2-40B4-BE49-F238E27FC236}">
                <a16:creationId xmlns:a16="http://schemas.microsoft.com/office/drawing/2014/main" id="{6A8C042E-DA0D-4DFA-916A-D0569B64AA2F}"/>
              </a:ext>
            </a:extLst>
          </p:cNvPr>
          <p:cNvSpPr>
            <a:spLocks noGrp="1"/>
          </p:cNvSpPr>
          <p:nvPr/>
        </p:nvSpPr>
        <p:spPr>
          <a:xfrm>
            <a:off x="3619500" y="4457700"/>
            <a:ext cx="3067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循環計算（RNN）</a:t>
            </a:r>
          </a:p>
        </p:txBody>
      </p:sp>
      <p:sp>
        <p:nvSpPr>
          <p:cNvPr id="56" name="review2-5-24">
            <a:extLst>
              <a:ext uri="{FF2B5EF4-FFF2-40B4-BE49-F238E27FC236}">
                <a16:creationId xmlns:a16="http://schemas.microsoft.com/office/drawing/2014/main" id="{1D3980AA-4A1C-4343-9452-AEC25E970718}"/>
              </a:ext>
            </a:extLst>
          </p:cNvPr>
          <p:cNvSpPr>
            <a:spLocks noGrp="1"/>
          </p:cNvSpPr>
          <p:nvPr/>
        </p:nvSpPr>
        <p:spPr>
          <a:xfrm>
            <a:off x="3619500" y="4762500"/>
            <a:ext cx="3067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同時讀取影像特徵與前一步 state</a:t>
            </a:r>
          </a:p>
        </p:txBody>
      </p:sp>
      <p:sp>
        <p:nvSpPr>
          <p:cNvPr id="57" name="review2-5-25">
            <a:extLst>
              <a:ext uri="{FF2B5EF4-FFF2-40B4-BE49-F238E27FC236}">
                <a16:creationId xmlns:a16="http://schemas.microsoft.com/office/drawing/2014/main" id="{CDB26064-53C5-468F-BE35-4629B69AB431}"/>
              </a:ext>
            </a:extLst>
          </p:cNvPr>
          <p:cNvSpPr>
            <a:spLocks noGrp="1"/>
          </p:cNvSpPr>
          <p:nvPr/>
        </p:nvSpPr>
        <p:spPr>
          <a:xfrm>
            <a:off x="2971800" y="4752975"/>
            <a:ext cx="49530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review2-5-26">
            <a:extLst>
              <a:ext uri="{FF2B5EF4-FFF2-40B4-BE49-F238E27FC236}">
                <a16:creationId xmlns:a16="http://schemas.microsoft.com/office/drawing/2014/main" id="{360E3C92-16B5-4FB7-B626-63BC4505688E}"/>
              </a:ext>
            </a:extLst>
          </p:cNvPr>
          <p:cNvSpPr>
            <a:spLocks noGrp="1"/>
          </p:cNvSpPr>
          <p:nvPr/>
        </p:nvSpPr>
        <p:spPr>
          <a:xfrm>
            <a:off x="5153025" y="3810000"/>
            <a:ext cx="0" cy="53340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review2-5-27">
            <a:extLst>
              <a:ext uri="{FF2B5EF4-FFF2-40B4-BE49-F238E27FC236}">
                <a16:creationId xmlns:a16="http://schemas.microsoft.com/office/drawing/2014/main" id="{666982DF-10E9-4A8F-8D7D-DACB41E3BBB4}"/>
              </a:ext>
            </a:extLst>
          </p:cNvPr>
          <p:cNvSpPr>
            <a:spLocks noGrp="1"/>
          </p:cNvSpPr>
          <p:nvPr/>
        </p:nvSpPr>
        <p:spPr>
          <a:xfrm>
            <a:off x="8020050" y="2952750"/>
            <a:ext cx="3486150" cy="85725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review2-5-28">
            <a:extLst>
              <a:ext uri="{FF2B5EF4-FFF2-40B4-BE49-F238E27FC236}">
                <a16:creationId xmlns:a16="http://schemas.microsoft.com/office/drawing/2014/main" id="{6C5FA257-1FDF-4FDF-9815-BA95C5FF46E5}"/>
              </a:ext>
            </a:extLst>
          </p:cNvPr>
          <p:cNvSpPr>
            <a:spLocks noGrp="1"/>
          </p:cNvSpPr>
          <p:nvPr/>
        </p:nvSpPr>
        <p:spPr>
          <a:xfrm>
            <a:off x="8172450" y="3067050"/>
            <a:ext cx="3181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下一步 state · 512</a:t>
            </a:r>
          </a:p>
        </p:txBody>
      </p:sp>
      <p:sp>
        <p:nvSpPr>
          <p:cNvPr id="61" name="review2-5-29">
            <a:extLst>
              <a:ext uri="{FF2B5EF4-FFF2-40B4-BE49-F238E27FC236}">
                <a16:creationId xmlns:a16="http://schemas.microsoft.com/office/drawing/2014/main" id="{D9DE4E55-3A48-4CF6-827D-B6238BD5CF15}"/>
              </a:ext>
            </a:extLst>
          </p:cNvPr>
          <p:cNvSpPr>
            <a:spLocks noGrp="1"/>
          </p:cNvSpPr>
          <p:nvPr/>
        </p:nvSpPr>
        <p:spPr>
          <a:xfrm>
            <a:off x="8172450" y="3371850"/>
            <a:ext cx="3181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out11，回傳給下一次預測使用</a:t>
            </a:r>
          </a:p>
        </p:txBody>
      </p:sp>
      <p:sp>
        <p:nvSpPr>
          <p:cNvPr id="62" name="review2-5-30">
            <a:extLst>
              <a:ext uri="{FF2B5EF4-FFF2-40B4-BE49-F238E27FC236}">
                <a16:creationId xmlns:a16="http://schemas.microsoft.com/office/drawing/2014/main" id="{B1DC55F9-913B-415D-BD61-D413A9CDE02E}"/>
              </a:ext>
            </a:extLst>
          </p:cNvPr>
          <p:cNvSpPr>
            <a:spLocks noGrp="1"/>
          </p:cNvSpPr>
          <p:nvPr/>
        </p:nvSpPr>
        <p:spPr>
          <a:xfrm>
            <a:off x="8020050" y="4343400"/>
            <a:ext cx="3486150" cy="95250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review2-5-31">
            <a:extLst>
              <a:ext uri="{FF2B5EF4-FFF2-40B4-BE49-F238E27FC236}">
                <a16:creationId xmlns:a16="http://schemas.microsoft.com/office/drawing/2014/main" id="{90507420-46DF-41B8-8EDF-016F3FEA2BF3}"/>
              </a:ext>
            </a:extLst>
          </p:cNvPr>
          <p:cNvSpPr>
            <a:spLocks noGrp="1"/>
          </p:cNvSpPr>
          <p:nvPr/>
        </p:nvSpPr>
        <p:spPr>
          <a:xfrm>
            <a:off x="8172450" y="4457700"/>
            <a:ext cx="3181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循環分支輸出 · fork1</a:t>
            </a:r>
          </a:p>
        </p:txBody>
      </p:sp>
      <p:sp>
        <p:nvSpPr>
          <p:cNvPr id="64" name="review2-5-32">
            <a:extLst>
              <a:ext uri="{FF2B5EF4-FFF2-40B4-BE49-F238E27FC236}">
                <a16:creationId xmlns:a16="http://schemas.microsoft.com/office/drawing/2014/main" id="{59E0E4A9-C801-4230-BA0D-30659C14CAF8}"/>
              </a:ext>
            </a:extLst>
          </p:cNvPr>
          <p:cNvSpPr>
            <a:spLocks noGrp="1"/>
          </p:cNvSpPr>
          <p:nvPr/>
        </p:nvSpPr>
        <p:spPr>
          <a:xfrm>
            <a:off x="8172450" y="4762500"/>
            <a:ext cx="3181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path／lanes／lead／long_*</a:t>
            </a:r>
          </a:p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desire_state</a:t>
            </a:r>
          </a:p>
        </p:txBody>
      </p:sp>
      <p:sp>
        <p:nvSpPr>
          <p:cNvPr id="65" name="review2-5-33">
            <a:extLst>
              <a:ext uri="{FF2B5EF4-FFF2-40B4-BE49-F238E27FC236}">
                <a16:creationId xmlns:a16="http://schemas.microsoft.com/office/drawing/2014/main" id="{49C5DCF0-5311-425E-9010-E59F4932D680}"/>
              </a:ext>
            </a:extLst>
          </p:cNvPr>
          <p:cNvSpPr>
            <a:spLocks noGrp="1"/>
          </p:cNvSpPr>
          <p:nvPr/>
        </p:nvSpPr>
        <p:spPr>
          <a:xfrm>
            <a:off x="6838950" y="4752975"/>
            <a:ext cx="59055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review2-5-34">
            <a:extLst>
              <a:ext uri="{FF2B5EF4-FFF2-40B4-BE49-F238E27FC236}">
                <a16:creationId xmlns:a16="http://schemas.microsoft.com/office/drawing/2014/main" id="{628D2165-D570-4138-AA12-3984057FC176}"/>
              </a:ext>
            </a:extLst>
          </p:cNvPr>
          <p:cNvSpPr>
            <a:spLocks noGrp="1"/>
          </p:cNvSpPr>
          <p:nvPr/>
        </p:nvSpPr>
        <p:spPr>
          <a:xfrm>
            <a:off x="7429500" y="3381375"/>
            <a:ext cx="0" cy="137160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review2-5-35">
            <a:extLst>
              <a:ext uri="{FF2B5EF4-FFF2-40B4-BE49-F238E27FC236}">
                <a16:creationId xmlns:a16="http://schemas.microsoft.com/office/drawing/2014/main" id="{5A645F69-41A7-4466-A32E-A1401987A960}"/>
              </a:ext>
            </a:extLst>
          </p:cNvPr>
          <p:cNvSpPr>
            <a:spLocks noGrp="1"/>
          </p:cNvSpPr>
          <p:nvPr/>
        </p:nvSpPr>
        <p:spPr>
          <a:xfrm>
            <a:off x="7429500" y="3381375"/>
            <a:ext cx="59055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review2-5-36">
            <a:extLst>
              <a:ext uri="{FF2B5EF4-FFF2-40B4-BE49-F238E27FC236}">
                <a16:creationId xmlns:a16="http://schemas.microsoft.com/office/drawing/2014/main" id="{26617E34-5FF4-4E9B-B6D9-56AAE4B2BF48}"/>
              </a:ext>
            </a:extLst>
          </p:cNvPr>
          <p:cNvSpPr>
            <a:spLocks noGrp="1"/>
          </p:cNvSpPr>
          <p:nvPr/>
        </p:nvSpPr>
        <p:spPr>
          <a:xfrm>
            <a:off x="9763125" y="3810000"/>
            <a:ext cx="0" cy="53340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review2-5-37">
            <a:extLst>
              <a:ext uri="{FF2B5EF4-FFF2-40B4-BE49-F238E27FC236}">
                <a16:creationId xmlns:a16="http://schemas.microsoft.com/office/drawing/2014/main" id="{5FB04BFF-5707-4DAB-9B95-937BF5F9D77A}"/>
              </a:ext>
            </a:extLst>
          </p:cNvPr>
          <p:cNvSpPr>
            <a:spLocks noGrp="1"/>
          </p:cNvSpPr>
          <p:nvPr/>
        </p:nvSpPr>
        <p:spPr>
          <a:xfrm>
            <a:off x="11506200" y="3381375"/>
            <a:ext cx="15240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review2-5-38">
            <a:extLst>
              <a:ext uri="{FF2B5EF4-FFF2-40B4-BE49-F238E27FC236}">
                <a16:creationId xmlns:a16="http://schemas.microsoft.com/office/drawing/2014/main" id="{72DFF31A-7264-4351-85D2-5F629A903C7E}"/>
              </a:ext>
            </a:extLst>
          </p:cNvPr>
          <p:cNvSpPr>
            <a:spLocks noGrp="1"/>
          </p:cNvSpPr>
          <p:nvPr/>
        </p:nvSpPr>
        <p:spPr>
          <a:xfrm>
            <a:off x="11658600" y="3381375"/>
            <a:ext cx="0" cy="2047875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review2-5-39">
            <a:extLst>
              <a:ext uri="{FF2B5EF4-FFF2-40B4-BE49-F238E27FC236}">
                <a16:creationId xmlns:a16="http://schemas.microsoft.com/office/drawing/2014/main" id="{44A3E87A-C9A2-4615-87FF-E7F2146D6652}"/>
              </a:ext>
            </a:extLst>
          </p:cNvPr>
          <p:cNvSpPr>
            <a:spLocks noGrp="1"/>
          </p:cNvSpPr>
          <p:nvPr/>
        </p:nvSpPr>
        <p:spPr>
          <a:xfrm>
            <a:off x="1828800" y="5429250"/>
            <a:ext cx="9829800" cy="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review2-5-40">
            <a:extLst>
              <a:ext uri="{FF2B5EF4-FFF2-40B4-BE49-F238E27FC236}">
                <a16:creationId xmlns:a16="http://schemas.microsoft.com/office/drawing/2014/main" id="{EDACAE08-6C68-43F2-8C24-40517DE774C3}"/>
              </a:ext>
            </a:extLst>
          </p:cNvPr>
          <p:cNvSpPr>
            <a:spLocks noGrp="1"/>
          </p:cNvSpPr>
          <p:nvPr/>
        </p:nvSpPr>
        <p:spPr>
          <a:xfrm>
            <a:off x="1828800" y="5162550"/>
            <a:ext cx="0" cy="266700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  <a:headEnd type="triangle" w="med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review2-5-41">
            <a:extLst>
              <a:ext uri="{FF2B5EF4-FFF2-40B4-BE49-F238E27FC236}">
                <a16:creationId xmlns:a16="http://schemas.microsoft.com/office/drawing/2014/main" id="{63345AD3-3446-49DE-9B7F-FCFD133C5425}"/>
              </a:ext>
            </a:extLst>
          </p:cNvPr>
          <p:cNvSpPr>
            <a:spLocks noGrp="1"/>
          </p:cNvSpPr>
          <p:nvPr/>
        </p:nvSpPr>
        <p:spPr>
          <a:xfrm>
            <a:off x="685800" y="5495925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state 把前一步資訊帶到下一步；外側箭頭是回饋流程。12 組輸出共 2383 個值。</a:t>
            </a:r>
          </a:p>
        </p:txBody>
      </p:sp>
      <p:sp>
        <p:nvSpPr>
          <p:cNvPr id="74" name="review2-5-42">
            <a:extLst>
              <a:ext uri="{FF2B5EF4-FFF2-40B4-BE49-F238E27FC236}">
                <a16:creationId xmlns:a16="http://schemas.microsoft.com/office/drawing/2014/main" id="{CBBF7BF3-70FD-49BA-AD8B-6707713B0AE0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依 get_model()／RNN() 繪製。Gate 內含可訓練的 Dense，因此不直接套用標準 GRU 公式。</a:t>
            </a:r>
          </a:p>
        </p:txBody>
      </p:sp>
    </p:spTree>
    <p:extLst>
      <p:ext uri="{BB962C8B-B14F-4D97-AF65-F5344CB8AC3E}">
        <p14:creationId xmlns:p14="http://schemas.microsoft.com/office/powerpoint/2010/main" val="1703448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6-textbox-0">
            <a:extLst>
              <a:ext uri="{FF2B5EF4-FFF2-40B4-BE49-F238E27FC236}">
                <a16:creationId xmlns:a16="http://schemas.microsoft.com/office/drawing/2014/main" id="{384B7E73-6365-4677-87E5-09E0B2F16837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STEP 5 · 輸入與訓練目標</a:t>
            </a:r>
          </a:p>
        </p:txBody>
      </p:sp>
      <p:sp>
        <p:nvSpPr>
          <p:cNvPr id="2" name="p6-textbox-1">
            <a:extLst>
              <a:ext uri="{FF2B5EF4-FFF2-40B4-BE49-F238E27FC236}">
                <a16:creationId xmlns:a16="http://schemas.microsoft.com/office/drawing/2014/main" id="{8CB794B1-4A34-4F44-B00D-6296A7696D60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訓練資料與 Teacher forcing（教師引導）</a:t>
            </a:r>
          </a:p>
        </p:txBody>
      </p:sp>
      <p:sp>
        <p:nvSpPr>
          <p:cNvPr id="3" name="p6-rect-2">
            <a:extLst>
              <a:ext uri="{FF2B5EF4-FFF2-40B4-BE49-F238E27FC236}">
                <a16:creationId xmlns:a16="http://schemas.microsoft.com/office/drawing/2014/main" id="{AA6EBC8B-D89A-4BA9-9612-B520FFC561F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6-textbox-3">
            <a:extLst>
              <a:ext uri="{FF2B5EF4-FFF2-40B4-BE49-F238E27FC236}">
                <a16:creationId xmlns:a16="http://schemas.microsoft.com/office/drawing/2014/main" id="{FA2A4327-B321-4510-BC7A-4711A8A61D97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</a:t>
            </a:r>
          </a:p>
        </p:txBody>
      </p:sp>
      <p:sp>
        <p:nvSpPr>
          <p:cNvPr id="5" name="p6-textbox-4">
            <a:extLst>
              <a:ext uri="{FF2B5EF4-FFF2-40B4-BE49-F238E27FC236}">
                <a16:creationId xmlns:a16="http://schemas.microsoft.com/office/drawing/2014/main" id="{3848B1CE-D09E-4A07-A60B-FCD123D71D48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922B624-D676-4AC9-8AC1-3FE0AAB11895}"/>
              </a:ext>
            </a:extLst>
          </p:cNvPr>
          <p:cNvGraphicFramePr/>
          <p:nvPr/>
        </p:nvGraphicFramePr>
        <p:xfrm>
          <a:off x="685800" y="1571625"/>
          <a:ext cx="10820400" cy="344805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資料來源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Teacher 資料列數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用途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--33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1198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訓練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--37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1199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訓練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--32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驗證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supercombo079.keras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每列 2383 個值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訓練目標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p6-textbox-5">
            <a:extLst>
              <a:ext uri="{FF2B5EF4-FFF2-40B4-BE49-F238E27FC236}">
                <a16:creationId xmlns:a16="http://schemas.microsoft.com/office/drawing/2014/main" id="{40C184F5-6382-452E-A06D-1625FE0EBE25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連續影像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(i,i+1)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對應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Teacher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i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列輸出；state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讀取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Teacher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前一列的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512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個值，片段起點設為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0。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模型學的是</a:t>
            </a:r>
            <a:r>
              <a:rPr lang="zh-TW" altLang="en-US" sz="165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教授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的預測，不是人工標註的道路真值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55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7-textbox-0">
            <a:extLst>
              <a:ext uri="{FF2B5EF4-FFF2-40B4-BE49-F238E27FC236}">
                <a16:creationId xmlns:a16="http://schemas.microsoft.com/office/drawing/2014/main" id="{E96E9D80-325B-40FB-985A-B6CC9D2FB24C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我做的工程改善</a:t>
            </a:r>
          </a:p>
        </p:txBody>
      </p:sp>
      <p:sp>
        <p:nvSpPr>
          <p:cNvPr id="2" name="p7-textbox-1">
            <a:extLst>
              <a:ext uri="{FF2B5EF4-FFF2-40B4-BE49-F238E27FC236}">
                <a16:creationId xmlns:a16="http://schemas.microsoft.com/office/drawing/2014/main" id="{CD2A7C12-12BE-485E-A09D-36994A7605E7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把資料配對好，換影片時重設 state</a:t>
            </a:r>
          </a:p>
        </p:txBody>
      </p:sp>
      <p:sp>
        <p:nvSpPr>
          <p:cNvPr id="3" name="p7-rect-2">
            <a:extLst>
              <a:ext uri="{FF2B5EF4-FFF2-40B4-BE49-F238E27FC236}">
                <a16:creationId xmlns:a16="http://schemas.microsoft.com/office/drawing/2014/main" id="{70D225AF-5357-4EA5-9C74-F2D78C459318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7-textbox-3">
            <a:extLst>
              <a:ext uri="{FF2B5EF4-FFF2-40B4-BE49-F238E27FC236}">
                <a16:creationId xmlns:a16="http://schemas.microsoft.com/office/drawing/2014/main" id="{ADA6C91D-A301-4631-95FD-CFFEFB24EB36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</a:t>
            </a:r>
          </a:p>
        </p:txBody>
      </p:sp>
      <p:sp>
        <p:nvSpPr>
          <p:cNvPr id="5" name="p7-textbox-4">
            <a:extLst>
              <a:ext uri="{FF2B5EF4-FFF2-40B4-BE49-F238E27FC236}">
                <a16:creationId xmlns:a16="http://schemas.microsoft.com/office/drawing/2014/main" id="{5DC6D82A-1570-4B0C-94D6-7802AE338E42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17" name="review2-7-0">
            <a:extLst>
              <a:ext uri="{FF2B5EF4-FFF2-40B4-BE49-F238E27FC236}">
                <a16:creationId xmlns:a16="http://schemas.microsoft.com/office/drawing/2014/main" id="{B230C8C7-6F78-413C-9356-D7584694305B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先前已通過 7 項修正測試＋13 項實際流程測試，並試跑 599 批資料。</a:t>
            </a:r>
          </a:p>
        </p:txBody>
      </p:sp>
      <p:sp>
        <p:nvSpPr>
          <p:cNvPr id="18" name="review2-7-1">
            <a:extLst>
              <a:ext uri="{FF2B5EF4-FFF2-40B4-BE49-F238E27FC236}">
                <a16:creationId xmlns:a16="http://schemas.microsoft.com/office/drawing/2014/main" id="{6870D088-327E-4053-8B0E-0BF5BC817305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用 val_loss 選出 Best 模型。修正在我的外層程式，保留教授的模型與 loss 計算。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A18609D-7B34-40DD-8CA0-F9E46D8131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0705590"/>
              </p:ext>
            </p:extLst>
          </p:nvPr>
        </p:nvGraphicFramePr>
        <p:xfrm>
          <a:off x="685800" y="1743075"/>
          <a:ext cx="10820400" cy="2876552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91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可能出錯的地方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我的處理方式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怎麼檢查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 dirty="0" err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影像配到錯的資料</a:t>
                      </a:r>
                      <a:endParaRPr sz="1800" b="0" dirty="0">
                        <a:solidFill>
                          <a:srgbClr val="0F172A"/>
                        </a:solidFill>
                        <a:latin typeface="PingFang TC"/>
                        <a:ea typeface="PingFang TC"/>
                        <a:cs typeface="PingFang TC"/>
                      </a:endParaRP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核對影片與資料列都相同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資料配對測試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換影片後還沿用舊 state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每段影片起點把 state 設為 0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檢查實際影片切換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重新訓練與接續訓練混淆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執行時明確選擇起始方式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800" b="0" dirty="0" err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流程測試／資料試跑</a:t>
                      </a:r>
                      <a:endParaRPr sz="1800" b="0" dirty="0">
                        <a:solidFill>
                          <a:srgbClr val="0F172A"/>
                        </a:solidFill>
                        <a:latin typeface="PingFang TC"/>
                        <a:ea typeface="PingFang TC"/>
                        <a:cs typeface="PingFang TC"/>
                      </a:endParaRP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636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8-textbox-0">
            <a:extLst>
              <a:ext uri="{FF2B5EF4-FFF2-40B4-BE49-F238E27FC236}">
                <a16:creationId xmlns:a16="http://schemas.microsoft.com/office/drawing/2014/main" id="{7396D654-EF70-406A-96B6-215F32305DF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我做的工程改善</a:t>
            </a:r>
          </a:p>
        </p:txBody>
      </p:sp>
      <p:sp>
        <p:nvSpPr>
          <p:cNvPr id="2" name="p8-textbox-1">
            <a:extLst>
              <a:ext uri="{FF2B5EF4-FFF2-40B4-BE49-F238E27FC236}">
                <a16:creationId xmlns:a16="http://schemas.microsoft.com/office/drawing/2014/main" id="{2B6F45B9-48A0-4992-BB2B-E0D0ACFE1C22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開始正式訓練前，先通過五個檢查</a:t>
            </a:r>
          </a:p>
        </p:txBody>
      </p:sp>
      <p:sp>
        <p:nvSpPr>
          <p:cNvPr id="3" name="p8-rect-2">
            <a:extLst>
              <a:ext uri="{FF2B5EF4-FFF2-40B4-BE49-F238E27FC236}">
                <a16:creationId xmlns:a16="http://schemas.microsoft.com/office/drawing/2014/main" id="{D6E60A66-F150-4219-8E8C-96779ED4C2C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8-textbox-3">
            <a:extLst>
              <a:ext uri="{FF2B5EF4-FFF2-40B4-BE49-F238E27FC236}">
                <a16:creationId xmlns:a16="http://schemas.microsoft.com/office/drawing/2014/main" id="{B6501CB1-4BC2-467F-984A-9D842313FA5A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</a:t>
            </a:r>
          </a:p>
        </p:txBody>
      </p:sp>
      <p:sp>
        <p:nvSpPr>
          <p:cNvPr id="5" name="p8-textbox-4">
            <a:extLst>
              <a:ext uri="{FF2B5EF4-FFF2-40B4-BE49-F238E27FC236}">
                <a16:creationId xmlns:a16="http://schemas.microsoft.com/office/drawing/2014/main" id="{7BCD6AE7-9811-48F5-BFB3-0AC97DD56EE5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6" name="p8-rect-5">
            <a:extLst>
              <a:ext uri="{FF2B5EF4-FFF2-40B4-BE49-F238E27FC236}">
                <a16:creationId xmlns:a16="http://schemas.microsoft.com/office/drawing/2014/main" id="{F0287551-C13E-4D63-9B8C-89DE7AB8C7A1}"/>
              </a:ext>
            </a:extLst>
          </p:cNvPr>
          <p:cNvSpPr>
            <a:spLocks noGrp="1"/>
          </p:cNvSpPr>
          <p:nvPr/>
        </p:nvSpPr>
        <p:spPr>
          <a:xfrm>
            <a:off x="685800" y="2005120"/>
            <a:ext cx="1737360" cy="166687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p8-textbox-6">
            <a:extLst>
              <a:ext uri="{FF2B5EF4-FFF2-40B4-BE49-F238E27FC236}">
                <a16:creationId xmlns:a16="http://schemas.microsoft.com/office/drawing/2014/main" id="{9DF79EC7-2AB8-4443-849B-A1B36C257076}"/>
              </a:ext>
            </a:extLst>
          </p:cNvPr>
          <p:cNvSpPr>
            <a:spLocks noGrp="1"/>
          </p:cNvSpPr>
          <p:nvPr/>
        </p:nvSpPr>
        <p:spPr>
          <a:xfrm>
            <a:off x="857250" y="2157520"/>
            <a:ext cx="139446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環境</a:t>
            </a:r>
          </a:p>
        </p:txBody>
      </p:sp>
      <p:sp>
        <p:nvSpPr>
          <p:cNvPr id="8" name="p8-textbox-7">
            <a:extLst>
              <a:ext uri="{FF2B5EF4-FFF2-40B4-BE49-F238E27FC236}">
                <a16:creationId xmlns:a16="http://schemas.microsoft.com/office/drawing/2014/main" id="{C88F7A3E-36DF-4D37-AC8B-2514CDB5C886}"/>
              </a:ext>
            </a:extLst>
          </p:cNvPr>
          <p:cNvSpPr>
            <a:spLocks noGrp="1"/>
          </p:cNvSpPr>
          <p:nvPr/>
        </p:nvSpPr>
        <p:spPr>
          <a:xfrm>
            <a:off x="857250" y="2729020"/>
            <a:ext cx="139446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掛載／分組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檔案指紋</a:t>
            </a:r>
          </a:p>
        </p:txBody>
      </p:sp>
      <p:sp>
        <p:nvSpPr>
          <p:cNvPr id="9" name="p8-rightArrow-8">
            <a:extLst>
              <a:ext uri="{FF2B5EF4-FFF2-40B4-BE49-F238E27FC236}">
                <a16:creationId xmlns:a16="http://schemas.microsoft.com/office/drawing/2014/main" id="{94040953-C4C3-4A5F-BFAD-015EC6E5BA00}"/>
              </a:ext>
            </a:extLst>
          </p:cNvPr>
          <p:cNvSpPr>
            <a:spLocks noGrp="1"/>
          </p:cNvSpPr>
          <p:nvPr/>
        </p:nvSpPr>
        <p:spPr>
          <a:xfrm>
            <a:off x="2556510" y="2719495"/>
            <a:ext cx="266700" cy="11430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p8-rect-9">
            <a:extLst>
              <a:ext uri="{FF2B5EF4-FFF2-40B4-BE49-F238E27FC236}">
                <a16:creationId xmlns:a16="http://schemas.microsoft.com/office/drawing/2014/main" id="{B9BC6934-F81A-41AB-A84B-EBDAB22C115F}"/>
              </a:ext>
            </a:extLst>
          </p:cNvPr>
          <p:cNvSpPr>
            <a:spLocks noGrp="1"/>
          </p:cNvSpPr>
          <p:nvPr/>
        </p:nvSpPr>
        <p:spPr>
          <a:xfrm>
            <a:off x="2956560" y="2005120"/>
            <a:ext cx="1737360" cy="166687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p8-textbox-10">
            <a:extLst>
              <a:ext uri="{FF2B5EF4-FFF2-40B4-BE49-F238E27FC236}">
                <a16:creationId xmlns:a16="http://schemas.microsoft.com/office/drawing/2014/main" id="{EB11D462-5820-4FEC-8A97-EA3230DFDB0B}"/>
              </a:ext>
            </a:extLst>
          </p:cNvPr>
          <p:cNvSpPr>
            <a:spLocks noGrp="1"/>
          </p:cNvSpPr>
          <p:nvPr/>
        </p:nvSpPr>
        <p:spPr>
          <a:xfrm>
            <a:off x="3128010" y="2157520"/>
            <a:ext cx="139446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訓練目標</a:t>
            </a:r>
          </a:p>
        </p:txBody>
      </p:sp>
      <p:sp>
        <p:nvSpPr>
          <p:cNvPr id="12" name="p8-textbox-11">
            <a:extLst>
              <a:ext uri="{FF2B5EF4-FFF2-40B4-BE49-F238E27FC236}">
                <a16:creationId xmlns:a16="http://schemas.microsoft.com/office/drawing/2014/main" id="{62FC2E9E-101C-46D6-92A0-014A9C3EF757}"/>
              </a:ext>
            </a:extLst>
          </p:cNvPr>
          <p:cNvSpPr>
            <a:spLocks noGrp="1"/>
          </p:cNvSpPr>
          <p:nvPr/>
        </p:nvSpPr>
        <p:spPr>
          <a:xfrm>
            <a:off x="3128010" y="2729020"/>
            <a:ext cx="139446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形狀／有效值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檔案指紋</a:t>
            </a:r>
          </a:p>
        </p:txBody>
      </p:sp>
      <p:sp>
        <p:nvSpPr>
          <p:cNvPr id="13" name="p8-rightArrow-12">
            <a:extLst>
              <a:ext uri="{FF2B5EF4-FFF2-40B4-BE49-F238E27FC236}">
                <a16:creationId xmlns:a16="http://schemas.microsoft.com/office/drawing/2014/main" id="{2511CBFC-5D22-4D8A-8E95-860155781201}"/>
              </a:ext>
            </a:extLst>
          </p:cNvPr>
          <p:cNvSpPr>
            <a:spLocks noGrp="1"/>
          </p:cNvSpPr>
          <p:nvPr/>
        </p:nvSpPr>
        <p:spPr>
          <a:xfrm>
            <a:off x="4827270" y="2719495"/>
            <a:ext cx="266700" cy="11430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p8-rect-13">
            <a:extLst>
              <a:ext uri="{FF2B5EF4-FFF2-40B4-BE49-F238E27FC236}">
                <a16:creationId xmlns:a16="http://schemas.microsoft.com/office/drawing/2014/main" id="{3D691463-A41F-4EDB-A782-3FC778D59062}"/>
              </a:ext>
            </a:extLst>
          </p:cNvPr>
          <p:cNvSpPr>
            <a:spLocks noGrp="1"/>
          </p:cNvSpPr>
          <p:nvPr/>
        </p:nvSpPr>
        <p:spPr>
          <a:xfrm>
            <a:off x="5227320" y="2005120"/>
            <a:ext cx="1737360" cy="166687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p8-textbox-14">
            <a:extLst>
              <a:ext uri="{FF2B5EF4-FFF2-40B4-BE49-F238E27FC236}">
                <a16:creationId xmlns:a16="http://schemas.microsoft.com/office/drawing/2014/main" id="{74CD8CC0-3810-438D-B1E6-DD0903C638C7}"/>
              </a:ext>
            </a:extLst>
          </p:cNvPr>
          <p:cNvSpPr>
            <a:spLocks noGrp="1"/>
          </p:cNvSpPr>
          <p:nvPr/>
        </p:nvSpPr>
        <p:spPr>
          <a:xfrm>
            <a:off x="5398770" y="2157520"/>
            <a:ext cx="139446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試跑</a:t>
            </a:r>
          </a:p>
        </p:txBody>
      </p:sp>
      <p:sp>
        <p:nvSpPr>
          <p:cNvPr id="16" name="p8-textbox-15">
            <a:extLst>
              <a:ext uri="{FF2B5EF4-FFF2-40B4-BE49-F238E27FC236}">
                <a16:creationId xmlns:a16="http://schemas.microsoft.com/office/drawing/2014/main" id="{483054E6-B476-40AC-ACA7-66443040B226}"/>
              </a:ext>
            </a:extLst>
          </p:cNvPr>
          <p:cNvSpPr>
            <a:spLocks noGrp="1"/>
          </p:cNvSpPr>
          <p:nvPr/>
        </p:nvSpPr>
        <p:spPr>
          <a:xfrm>
            <a:off x="5398770" y="2729020"/>
            <a:ext cx="139446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資料連線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影片切換</a:t>
            </a:r>
          </a:p>
        </p:txBody>
      </p:sp>
      <p:sp>
        <p:nvSpPr>
          <p:cNvPr id="17" name="p8-rightArrow-16">
            <a:extLst>
              <a:ext uri="{FF2B5EF4-FFF2-40B4-BE49-F238E27FC236}">
                <a16:creationId xmlns:a16="http://schemas.microsoft.com/office/drawing/2014/main" id="{15DDCF2C-0DE9-4D5E-84FE-667F8CED87B9}"/>
              </a:ext>
            </a:extLst>
          </p:cNvPr>
          <p:cNvSpPr>
            <a:spLocks noGrp="1"/>
          </p:cNvSpPr>
          <p:nvPr/>
        </p:nvSpPr>
        <p:spPr>
          <a:xfrm>
            <a:off x="7098030" y="2719495"/>
            <a:ext cx="266700" cy="11430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p8-rect-17">
            <a:extLst>
              <a:ext uri="{FF2B5EF4-FFF2-40B4-BE49-F238E27FC236}">
                <a16:creationId xmlns:a16="http://schemas.microsoft.com/office/drawing/2014/main" id="{ACF4EC4A-9AFC-41E1-AE9F-15D2E33568FC}"/>
              </a:ext>
            </a:extLst>
          </p:cNvPr>
          <p:cNvSpPr>
            <a:spLocks noGrp="1"/>
          </p:cNvSpPr>
          <p:nvPr/>
        </p:nvSpPr>
        <p:spPr>
          <a:xfrm>
            <a:off x="7498080" y="2005120"/>
            <a:ext cx="1737360" cy="166687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p8-textbox-18">
            <a:extLst>
              <a:ext uri="{FF2B5EF4-FFF2-40B4-BE49-F238E27FC236}">
                <a16:creationId xmlns:a16="http://schemas.microsoft.com/office/drawing/2014/main" id="{1F1538C5-9554-4E37-8A51-7EEA10127A5B}"/>
              </a:ext>
            </a:extLst>
          </p:cNvPr>
          <p:cNvSpPr>
            <a:spLocks noGrp="1"/>
          </p:cNvSpPr>
          <p:nvPr/>
        </p:nvSpPr>
        <p:spPr>
          <a:xfrm>
            <a:off x="7669530" y="2157520"/>
            <a:ext cx="139446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訓練</a:t>
            </a:r>
          </a:p>
        </p:txBody>
      </p:sp>
      <p:sp>
        <p:nvSpPr>
          <p:cNvPr id="20" name="p8-textbox-19">
            <a:extLst>
              <a:ext uri="{FF2B5EF4-FFF2-40B4-BE49-F238E27FC236}">
                <a16:creationId xmlns:a16="http://schemas.microsoft.com/office/drawing/2014/main" id="{52AAF595-8985-4DEF-91CC-9FB1D13BDACD}"/>
              </a:ext>
            </a:extLst>
          </p:cNvPr>
          <p:cNvSpPr>
            <a:spLocks noGrp="1"/>
          </p:cNvSpPr>
          <p:nvPr/>
        </p:nvSpPr>
        <p:spPr>
          <a:xfrm>
            <a:off x="7669530" y="2729020"/>
            <a:ext cx="139446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每次新編號</a:t>
            </a:r>
          </a:p>
        </p:txBody>
      </p:sp>
      <p:sp>
        <p:nvSpPr>
          <p:cNvPr id="21" name="p8-rightArrow-20">
            <a:extLst>
              <a:ext uri="{FF2B5EF4-FFF2-40B4-BE49-F238E27FC236}">
                <a16:creationId xmlns:a16="http://schemas.microsoft.com/office/drawing/2014/main" id="{96A6E758-34C8-4A6F-B51B-8B963A15C64D}"/>
              </a:ext>
            </a:extLst>
          </p:cNvPr>
          <p:cNvSpPr>
            <a:spLocks noGrp="1"/>
          </p:cNvSpPr>
          <p:nvPr/>
        </p:nvSpPr>
        <p:spPr>
          <a:xfrm>
            <a:off x="9368790" y="2719495"/>
            <a:ext cx="266700" cy="11430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p8-rect-21">
            <a:extLst>
              <a:ext uri="{FF2B5EF4-FFF2-40B4-BE49-F238E27FC236}">
                <a16:creationId xmlns:a16="http://schemas.microsoft.com/office/drawing/2014/main" id="{3688EA98-F7F2-4F11-9CEC-5C333C75F3E0}"/>
              </a:ext>
            </a:extLst>
          </p:cNvPr>
          <p:cNvSpPr>
            <a:spLocks noGrp="1"/>
          </p:cNvSpPr>
          <p:nvPr/>
        </p:nvSpPr>
        <p:spPr>
          <a:xfrm>
            <a:off x="9768840" y="2005120"/>
            <a:ext cx="1737360" cy="166687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p8-textbox-22">
            <a:extLst>
              <a:ext uri="{FF2B5EF4-FFF2-40B4-BE49-F238E27FC236}">
                <a16:creationId xmlns:a16="http://schemas.microsoft.com/office/drawing/2014/main" id="{A4C1B757-ECD9-4235-92B0-2E938CBA82BB}"/>
              </a:ext>
            </a:extLst>
          </p:cNvPr>
          <p:cNvSpPr>
            <a:spLocks noGrp="1"/>
          </p:cNvSpPr>
          <p:nvPr/>
        </p:nvSpPr>
        <p:spPr>
          <a:xfrm>
            <a:off x="9940290" y="2157520"/>
            <a:ext cx="139446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重新載入</a:t>
            </a:r>
          </a:p>
        </p:txBody>
      </p:sp>
      <p:sp>
        <p:nvSpPr>
          <p:cNvPr id="24" name="p8-textbox-23">
            <a:extLst>
              <a:ext uri="{FF2B5EF4-FFF2-40B4-BE49-F238E27FC236}">
                <a16:creationId xmlns:a16="http://schemas.microsoft.com/office/drawing/2014/main" id="{74842819-8452-45A9-B426-0ABA47F0F63B}"/>
              </a:ext>
            </a:extLst>
          </p:cNvPr>
          <p:cNvSpPr>
            <a:spLocks noGrp="1"/>
          </p:cNvSpPr>
          <p:nvPr/>
        </p:nvSpPr>
        <p:spPr>
          <a:xfrm>
            <a:off x="9940290" y="2729020"/>
            <a:ext cx="139446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用新程序檢查</a:t>
            </a:r>
          </a:p>
        </p:txBody>
      </p:sp>
      <p:sp>
        <p:nvSpPr>
          <p:cNvPr id="25" name="p8-rect-24">
            <a:extLst>
              <a:ext uri="{FF2B5EF4-FFF2-40B4-BE49-F238E27FC236}">
                <a16:creationId xmlns:a16="http://schemas.microsoft.com/office/drawing/2014/main" id="{0E3BBC6C-C104-4740-BF77-415670034406}"/>
              </a:ext>
            </a:extLst>
          </p:cNvPr>
          <p:cNvSpPr>
            <a:spLocks noGrp="1"/>
          </p:cNvSpPr>
          <p:nvPr/>
        </p:nvSpPr>
        <p:spPr>
          <a:xfrm>
            <a:off x="685800" y="4132518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p8-textbox-25">
            <a:extLst>
              <a:ext uri="{FF2B5EF4-FFF2-40B4-BE49-F238E27FC236}">
                <a16:creationId xmlns:a16="http://schemas.microsoft.com/office/drawing/2014/main" id="{9C100F7A-23FC-4194-8019-D3CA699B5E99}"/>
              </a:ext>
            </a:extLst>
          </p:cNvPr>
          <p:cNvSpPr>
            <a:spLocks noGrp="1"/>
          </p:cNvSpPr>
          <p:nvPr/>
        </p:nvSpPr>
        <p:spPr>
          <a:xfrm>
            <a:off x="685800" y="451662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 dirty="0" err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資料或結果檔案對不上，就停止執行</a:t>
            </a:r>
            <a:r>
              <a:rPr sz="2100" b="1" dirty="0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27" name="p8-textbox-26">
            <a:extLst>
              <a:ext uri="{FF2B5EF4-FFF2-40B4-BE49-F238E27FC236}">
                <a16:creationId xmlns:a16="http://schemas.microsoft.com/office/drawing/2014/main" id="{34900C09-60F5-4064-B440-E126E13322B0}"/>
              </a:ext>
            </a:extLst>
          </p:cNvPr>
          <p:cNvSpPr>
            <a:spLocks noGrp="1"/>
          </p:cNvSpPr>
          <p:nvPr/>
        </p:nvSpPr>
        <p:spPr>
          <a:xfrm>
            <a:off x="685800" y="5087676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原始資料與教授程式只讀取。處理後資料先寫入暫存區，完成後一次發布並留下完成標記；既有結果不覆蓋。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接續訓練會另開一段，不會恢復 optimizer／scheduler 的內部狀態。</a:t>
            </a:r>
          </a:p>
        </p:txBody>
      </p:sp>
    </p:spTree>
    <p:extLst>
      <p:ext uri="{BB962C8B-B14F-4D97-AF65-F5344CB8AC3E}">
        <p14:creationId xmlns:p14="http://schemas.microsoft.com/office/powerpoint/2010/main" val="792284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9-textbox-0">
            <a:extLst>
              <a:ext uri="{FF2B5EF4-FFF2-40B4-BE49-F238E27FC236}">
                <a16:creationId xmlns:a16="http://schemas.microsoft.com/office/drawing/2014/main" id="{21A2330B-C4DF-4B39-99DA-E7DD3478766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STEP 5 · 訓練已完成</a:t>
            </a:r>
          </a:p>
        </p:txBody>
      </p:sp>
      <p:sp>
        <p:nvSpPr>
          <p:cNvPr id="2" name="p9-textbox-1">
            <a:extLst>
              <a:ext uri="{FF2B5EF4-FFF2-40B4-BE49-F238E27FC236}">
                <a16:creationId xmlns:a16="http://schemas.microsoft.com/office/drawing/2014/main" id="{DF09F14C-CB10-4F57-86A3-DD3338F5B5FE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完成 60 epochs 的基準訓練</a:t>
            </a:r>
          </a:p>
        </p:txBody>
      </p:sp>
      <p:sp>
        <p:nvSpPr>
          <p:cNvPr id="3" name="p9-rect-2">
            <a:extLst>
              <a:ext uri="{FF2B5EF4-FFF2-40B4-BE49-F238E27FC236}">
                <a16:creationId xmlns:a16="http://schemas.microsoft.com/office/drawing/2014/main" id="{0F886F9A-83C9-483E-8E99-B07247054DA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9-textbox-3">
            <a:extLst>
              <a:ext uri="{FF2B5EF4-FFF2-40B4-BE49-F238E27FC236}">
                <a16:creationId xmlns:a16="http://schemas.microsoft.com/office/drawing/2014/main" id="{804E3E9B-047E-4CF9-B09D-77C179CBF759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</a:t>
            </a:r>
          </a:p>
        </p:txBody>
      </p:sp>
      <p:sp>
        <p:nvSpPr>
          <p:cNvPr id="5" name="p9-textbox-4">
            <a:extLst>
              <a:ext uri="{FF2B5EF4-FFF2-40B4-BE49-F238E27FC236}">
                <a16:creationId xmlns:a16="http://schemas.microsoft.com/office/drawing/2014/main" id="{9B3B90DE-D5CB-482F-BBE1-2EE964342475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6" name="p9-textbox-5">
            <a:extLst>
              <a:ext uri="{FF2B5EF4-FFF2-40B4-BE49-F238E27FC236}">
                <a16:creationId xmlns:a16="http://schemas.microsoft.com/office/drawing/2014/main" id="{7D83839E-7046-40F3-B1C6-B6C7E38C61E7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4476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6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06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06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60</a:t>
            </a:r>
          </a:p>
        </p:txBody>
      </p:sp>
      <p:sp>
        <p:nvSpPr>
          <p:cNvPr id="7" name="p9-textbox-6">
            <a:extLst>
              <a:ext uri="{FF2B5EF4-FFF2-40B4-BE49-F238E27FC236}">
                <a16:creationId xmlns:a16="http://schemas.microsoft.com/office/drawing/2014/main" id="{6FC5214A-EADA-4C6B-9DD5-185DB5597A99}"/>
              </a:ext>
            </a:extLst>
          </p:cNvPr>
          <p:cNvSpPr>
            <a:spLocks noGrp="1"/>
          </p:cNvSpPr>
          <p:nvPr/>
        </p:nvSpPr>
        <p:spPr>
          <a:xfrm>
            <a:off x="714375" y="3495675"/>
            <a:ext cx="457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已完成訓練輪數（epochs）</a:t>
            </a:r>
          </a:p>
        </p:txBody>
      </p:sp>
      <p:sp>
        <p:nvSpPr>
          <p:cNvPr id="8" name="p9-textbox-7">
            <a:extLst>
              <a:ext uri="{FF2B5EF4-FFF2-40B4-BE49-F238E27FC236}">
                <a16:creationId xmlns:a16="http://schemas.microsoft.com/office/drawing/2014/main" id="{30956D80-7058-49D9-9716-B746FCBBD4E5}"/>
              </a:ext>
            </a:extLst>
          </p:cNvPr>
          <p:cNvSpPr>
            <a:spLocks noGrp="1"/>
          </p:cNvSpPr>
          <p:nvPr/>
        </p:nvSpPr>
        <p:spPr>
          <a:xfrm>
            <a:off x="5953125" y="1838325"/>
            <a:ext cx="542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1200 / 600</a:t>
            </a:r>
          </a:p>
        </p:txBody>
      </p:sp>
      <p:sp>
        <p:nvSpPr>
          <p:cNvPr id="9" name="p9-textbox-8">
            <a:extLst>
              <a:ext uri="{FF2B5EF4-FFF2-40B4-BE49-F238E27FC236}">
                <a16:creationId xmlns:a16="http://schemas.microsoft.com/office/drawing/2014/main" id="{BCCAA7AF-6D9B-4C36-96D5-A47A23E6E89A}"/>
              </a:ext>
            </a:extLst>
          </p:cNvPr>
          <p:cNvSpPr>
            <a:spLocks noGrp="1"/>
          </p:cNvSpPr>
          <p:nvPr/>
        </p:nvSpPr>
        <p:spPr>
          <a:xfrm>
            <a:off x="5953125" y="2295525"/>
            <a:ext cx="542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訓練／驗證步數</a:t>
            </a:r>
          </a:p>
        </p:txBody>
      </p:sp>
      <p:sp>
        <p:nvSpPr>
          <p:cNvPr id="10" name="p9-textbox-9">
            <a:extLst>
              <a:ext uri="{FF2B5EF4-FFF2-40B4-BE49-F238E27FC236}">
                <a16:creationId xmlns:a16="http://schemas.microsoft.com/office/drawing/2014/main" id="{B0DB3A70-BECE-497F-B645-893F4C490DEE}"/>
              </a:ext>
            </a:extLst>
          </p:cNvPr>
          <p:cNvSpPr>
            <a:spLocks noGrp="1"/>
          </p:cNvSpPr>
          <p:nvPr/>
        </p:nvSpPr>
        <p:spPr>
          <a:xfrm>
            <a:off x="5953125" y="2752725"/>
            <a:ext cx="542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13,039,435</a:t>
            </a:r>
          </a:p>
        </p:txBody>
      </p:sp>
      <p:sp>
        <p:nvSpPr>
          <p:cNvPr id="11" name="p9-textbox-10">
            <a:extLst>
              <a:ext uri="{FF2B5EF4-FFF2-40B4-BE49-F238E27FC236}">
                <a16:creationId xmlns:a16="http://schemas.microsoft.com/office/drawing/2014/main" id="{FC47753C-E60E-4448-A279-AEE3ADCE4A06}"/>
              </a:ext>
            </a:extLst>
          </p:cNvPr>
          <p:cNvSpPr>
            <a:spLocks noGrp="1"/>
          </p:cNvSpPr>
          <p:nvPr/>
        </p:nvSpPr>
        <p:spPr>
          <a:xfrm>
            <a:off x="5953125" y="3209925"/>
            <a:ext cx="542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模型參數數量</a:t>
            </a:r>
          </a:p>
        </p:txBody>
      </p:sp>
      <p:sp>
        <p:nvSpPr>
          <p:cNvPr id="12" name="p9-textbox-11">
            <a:extLst>
              <a:ext uri="{FF2B5EF4-FFF2-40B4-BE49-F238E27FC236}">
                <a16:creationId xmlns:a16="http://schemas.microsoft.com/office/drawing/2014/main" id="{A16ABE58-5A3C-4CC5-B5E0-C2150C073724}"/>
              </a:ext>
            </a:extLst>
          </p:cNvPr>
          <p:cNvSpPr>
            <a:spLocks noGrp="1"/>
          </p:cNvSpPr>
          <p:nvPr/>
        </p:nvSpPr>
        <p:spPr>
          <a:xfrm>
            <a:off x="5953125" y="3667125"/>
            <a:ext cx="542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289.48 s</a:t>
            </a:r>
          </a:p>
        </p:txBody>
      </p:sp>
      <p:sp>
        <p:nvSpPr>
          <p:cNvPr id="13" name="p9-textbox-12">
            <a:extLst>
              <a:ext uri="{FF2B5EF4-FFF2-40B4-BE49-F238E27FC236}">
                <a16:creationId xmlns:a16="http://schemas.microsoft.com/office/drawing/2014/main" id="{83BA6DE9-892A-48C7-9027-CE134F0F265F}"/>
              </a:ext>
            </a:extLst>
          </p:cNvPr>
          <p:cNvSpPr>
            <a:spLocks noGrp="1"/>
          </p:cNvSpPr>
          <p:nvPr/>
        </p:nvSpPr>
        <p:spPr>
          <a:xfrm>
            <a:off x="5953125" y="4124325"/>
            <a:ext cx="542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從建立模型到存好 Final 模型</a:t>
            </a:r>
          </a:p>
        </p:txBody>
      </p:sp>
      <p:sp>
        <p:nvSpPr>
          <p:cNvPr id="14" name="p9-textbox-13">
            <a:extLst>
              <a:ext uri="{FF2B5EF4-FFF2-40B4-BE49-F238E27FC236}">
                <a16:creationId xmlns:a16="http://schemas.microsoft.com/office/drawing/2014/main" id="{DD7268AF-B19F-4484-AA8E-7EFED0B7BA78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每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epoch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訓練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20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步、驗證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10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步，每批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2 筆；60 epochs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不等於把整份資料讀過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60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次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Loss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衡量模型與</a:t>
            </a:r>
            <a:r>
              <a:rPr lang="zh-TW" altLang="en-US"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教授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目標的差距；權重：path／左／右各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0.3，全輸出 0.1。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紀錄：p25-baseline-20261005。Adam，cosine 1e-3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至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5e-4。</a:t>
            </a:r>
          </a:p>
        </p:txBody>
      </p:sp>
    </p:spTree>
    <p:extLst>
      <p:ext uri="{BB962C8B-B14F-4D97-AF65-F5344CB8AC3E}">
        <p14:creationId xmlns:p14="http://schemas.microsoft.com/office/powerpoint/2010/main" val="1845453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10-textbox-0">
            <a:extLst>
              <a:ext uri="{FF2B5EF4-FFF2-40B4-BE49-F238E27FC236}">
                <a16:creationId xmlns:a16="http://schemas.microsoft.com/office/drawing/2014/main" id="{05F6027B-B552-422E-9EC4-A828148C5F8C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訓練紀錄</a:t>
            </a:r>
          </a:p>
        </p:txBody>
      </p:sp>
      <p:sp>
        <p:nvSpPr>
          <p:cNvPr id="2" name="p10-textbox-1">
            <a:extLst>
              <a:ext uri="{FF2B5EF4-FFF2-40B4-BE49-F238E27FC236}">
                <a16:creationId xmlns:a16="http://schemas.microsoft.com/office/drawing/2014/main" id="{AFEE1A44-B2ED-43BC-8DA0-42B85DDF9470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70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驗證 loss 起伏很大，最後的模型不是最佳模型</a:t>
            </a:r>
          </a:p>
        </p:txBody>
      </p:sp>
      <p:sp>
        <p:nvSpPr>
          <p:cNvPr id="3" name="p10-rect-2">
            <a:extLst>
              <a:ext uri="{FF2B5EF4-FFF2-40B4-BE49-F238E27FC236}">
                <a16:creationId xmlns:a16="http://schemas.microsoft.com/office/drawing/2014/main" id="{AA7F1C3D-FC58-4DE7-9369-35ACB2847E92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10-textbox-3">
            <a:extLst>
              <a:ext uri="{FF2B5EF4-FFF2-40B4-BE49-F238E27FC236}">
                <a16:creationId xmlns:a16="http://schemas.microsoft.com/office/drawing/2014/main" id="{81ED54BA-4FB9-46CA-91E3-70B852F4D766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</a:t>
            </a:r>
          </a:p>
        </p:txBody>
      </p:sp>
      <p:sp>
        <p:nvSpPr>
          <p:cNvPr id="5" name="p10-textbox-4">
            <a:extLst>
              <a:ext uri="{FF2B5EF4-FFF2-40B4-BE49-F238E27FC236}">
                <a16:creationId xmlns:a16="http://schemas.microsoft.com/office/drawing/2014/main" id="{D4841A50-EE60-4E30-98D7-4E1E437A5DA2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1082A7F3-4C32-4CC9-A5CA-E4080B4652D2}"/>
              </a:ext>
            </a:extLst>
          </p:cNvPr>
          <p:cNvGraphicFramePr/>
          <p:nvPr/>
        </p:nvGraphicFramePr>
        <p:xfrm>
          <a:off x="685800" y="1666875"/>
          <a:ext cx="108204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1" name="Edited text 101"/>
          <p:cNvSpPr txBox="1"/>
          <p:nvPr/>
        </p:nvSpPr>
        <p:spPr>
          <a:xfrm>
            <a:off x="685800" y="5057775"/>
            <a:ext cx="108204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第 25 epoch 的驗證 loss 最低：0.5254；最後一輪是 71.7146。</a:t>
            </a:r>
          </a:p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最後一輪訓練 loss 為 3.2041，上圖保留全部 60 epochs。</a:t>
            </a:r>
          </a:p>
        </p:txBody>
      </p:sp>
      <p:sp>
        <p:nvSpPr>
          <p:cNvPr id="102" name="Edited text 102"/>
          <p:cNvSpPr txBox="1"/>
          <p:nvPr/>
        </p:nvSpPr>
        <p:spPr>
          <a:xfrm>
            <a:off x="685800" y="5581650"/>
            <a:ext cx="108204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評估 A：每 epoch 驗證 10 步、每批 2 筆，每輪讀到的片段不同。</a:t>
            </a:r>
          </a:p>
          <a:p>
            <a:pPr>
              <a:lnSpc>
                <a:spcPct val="112000"/>
              </a:lnSpc>
              <a:buNone/>
            </a:pPr>
            <a:r>
              <a:rPr lang="zh-TW"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沿用 </a:t>
            </a:r>
            <a:r>
              <a:rPr lang="zh-TW" altLang="en-US" sz="150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教授</a:t>
            </a:r>
            <a:r>
              <a:rPr lang="zh-TW"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前一步 state 與原 loss，用每輪平均選 Best；與第 11／32 頁的算法不同。</a:t>
            </a:r>
          </a:p>
        </p:txBody>
      </p:sp>
      <p:sp>
        <p:nvSpPr>
          <p:cNvPr id="103" name="Edited text 103"/>
          <p:cNvSpPr txBox="1"/>
          <p:nvPr/>
        </p:nvSpPr>
        <p:spPr>
          <a:xfrm>
            <a:off x="685800" y="6115050"/>
            <a:ext cx="108204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LIKELY / SUGGESTED｜結果可能反映訓練不穩定；只憑這段驗證影片，還不能確定是過度擬合。</a:t>
            </a:r>
          </a:p>
        </p:txBody>
      </p:sp>
      <p:sp>
        <p:nvSpPr>
          <p:cNvPr id="104" name="review-best-epoch-label">
            <a:extLst>
              <a:ext uri="{FF2B5EF4-FFF2-40B4-BE49-F238E27FC236}">
                <a16:creationId xmlns:a16="http://schemas.microsoft.com/office/drawing/2014/main" id="{6AED4B26-269B-4ED1-BC0D-57C6A99AE02F}"/>
              </a:ext>
            </a:extLst>
          </p:cNvPr>
          <p:cNvSpPr>
            <a:spLocks noGrp="1"/>
          </p:cNvSpPr>
          <p:nvPr/>
        </p:nvSpPr>
        <p:spPr>
          <a:xfrm>
            <a:off x="4857750" y="20764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5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最低點：Epoch 25（Best）</a:t>
            </a:r>
          </a:p>
        </p:txBody>
      </p:sp>
      <p:sp>
        <p:nvSpPr>
          <p:cNvPr id="105" name="review-best-epoch-rule">
            <a:extLst>
              <a:ext uri="{FF2B5EF4-FFF2-40B4-BE49-F238E27FC236}">
                <a16:creationId xmlns:a16="http://schemas.microsoft.com/office/drawing/2014/main" id="{90E497E6-0127-4C15-B4BD-8C3C135E20DA}"/>
              </a:ext>
            </a:extLst>
          </p:cNvPr>
          <p:cNvSpPr>
            <a:spLocks noGrp="1"/>
          </p:cNvSpPr>
          <p:nvPr/>
        </p:nvSpPr>
        <p:spPr>
          <a:xfrm>
            <a:off x="5381625" y="2400300"/>
            <a:ext cx="0" cy="1676400"/>
          </a:xfrm>
          <a:prstGeom prst="line">
            <a:avLst/>
          </a:prstGeom>
          <a:noFill/>
          <a:ln w="14288">
            <a:solidFill>
              <a:srgbClr val="6D28D9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review-best-epoch-point">
            <a:extLst>
              <a:ext uri="{FF2B5EF4-FFF2-40B4-BE49-F238E27FC236}">
                <a16:creationId xmlns:a16="http://schemas.microsoft.com/office/drawing/2014/main" id="{9A7B95CD-46E9-4372-9FCC-198FA747A797}"/>
              </a:ext>
            </a:extLst>
          </p:cNvPr>
          <p:cNvSpPr>
            <a:spLocks noGrp="1"/>
          </p:cNvSpPr>
          <p:nvPr/>
        </p:nvSpPr>
        <p:spPr>
          <a:xfrm>
            <a:off x="5338763" y="4034790"/>
            <a:ext cx="85725" cy="85725"/>
          </a:xfrm>
          <a:prstGeom prst="ellipse">
            <a:avLst/>
          </a:prstGeom>
          <a:solidFill>
            <a:srgbClr val="6D28D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6006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v2-11-0">
            <a:extLst>
              <a:ext uri="{FF2B5EF4-FFF2-40B4-BE49-F238E27FC236}">
                <a16:creationId xmlns:a16="http://schemas.microsoft.com/office/drawing/2014/main" id="{333ACE3C-F9A5-41C3-B857-1B3B47EB9E9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STEP 5 · 比較模型版本</a:t>
            </a:r>
          </a:p>
        </p:txBody>
      </p:sp>
      <p:sp>
        <p:nvSpPr>
          <p:cNvPr id="2" name="v2-11-1">
            <a:extLst>
              <a:ext uri="{FF2B5EF4-FFF2-40B4-BE49-F238E27FC236}">
                <a16:creationId xmlns:a16="http://schemas.microsoft.com/office/drawing/2014/main" id="{EF409F0B-E515-4BA9-9FCE-FEA701CE86D9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用同樣 120 筆資料，Final loss 是 Best 的 6.48 倍</a:t>
            </a:r>
          </a:p>
        </p:txBody>
      </p:sp>
      <p:sp>
        <p:nvSpPr>
          <p:cNvPr id="3" name="v2-11-2">
            <a:extLst>
              <a:ext uri="{FF2B5EF4-FFF2-40B4-BE49-F238E27FC236}">
                <a16:creationId xmlns:a16="http://schemas.microsoft.com/office/drawing/2014/main" id="{521A867A-DC0F-4C13-94C5-96298DD062D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v2-11-3">
            <a:extLst>
              <a:ext uri="{FF2B5EF4-FFF2-40B4-BE49-F238E27FC236}">
                <a16:creationId xmlns:a16="http://schemas.microsoft.com/office/drawing/2014/main" id="{5BCA9DB4-D7CB-4AF2-8EDA-6AB5500846F7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</a:t>
            </a:r>
          </a:p>
        </p:txBody>
      </p:sp>
      <p:sp>
        <p:nvSpPr>
          <p:cNvPr id="5" name="v2-11-4">
            <a:extLst>
              <a:ext uri="{FF2B5EF4-FFF2-40B4-BE49-F238E27FC236}">
                <a16:creationId xmlns:a16="http://schemas.microsoft.com/office/drawing/2014/main" id="{A87C028F-4A34-4680-B2E1-0841ED8C047A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6" name="v2-11-5">
            <a:extLst>
              <a:ext uri="{FF2B5EF4-FFF2-40B4-BE49-F238E27FC236}">
                <a16:creationId xmlns:a16="http://schemas.microsoft.com/office/drawing/2014/main" id="{2439D8D8-7439-4503-9882-1D85D9D361E1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BEST · 第 25 EPOCH</a:t>
            </a:r>
          </a:p>
        </p:txBody>
      </p:sp>
      <p:sp>
        <p:nvSpPr>
          <p:cNvPr id="7" name="v2-11-6">
            <a:extLst>
              <a:ext uri="{FF2B5EF4-FFF2-40B4-BE49-F238E27FC236}">
                <a16:creationId xmlns:a16="http://schemas.microsoft.com/office/drawing/2014/main" id="{149DC7D6-0D62-49C7-B8FF-BDA7CABDE27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60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60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60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12.2088</a:t>
            </a:r>
          </a:p>
        </p:txBody>
      </p:sp>
      <p:sp>
        <p:nvSpPr>
          <p:cNvPr id="8" name="v2-11-7">
            <a:extLst>
              <a:ext uri="{FF2B5EF4-FFF2-40B4-BE49-F238E27FC236}">
                <a16:creationId xmlns:a16="http://schemas.microsoft.com/office/drawing/2014/main" id="{2CAAA0A1-97E8-4FA4-B161-77FFB1AB3B42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4857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B6BW.hdf5</a:t>
            </a:r>
          </a:p>
        </p:txBody>
      </p:sp>
      <p:sp>
        <p:nvSpPr>
          <p:cNvPr id="9" name="v2-11-8">
            <a:extLst>
              <a:ext uri="{FF2B5EF4-FFF2-40B4-BE49-F238E27FC236}">
                <a16:creationId xmlns:a16="http://schemas.microsoft.com/office/drawing/2014/main" id="{8E3E5E56-2168-4C41-9D49-4DD1D1D125CA}"/>
              </a:ext>
            </a:extLst>
          </p:cNvPr>
          <p:cNvSpPr>
            <a:spLocks noGrp="1"/>
          </p:cNvSpPr>
          <p:nvPr/>
        </p:nvSpPr>
        <p:spPr>
          <a:xfrm>
            <a:off x="6572250" y="176212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FINAL · 第 60 EPOCH</a:t>
            </a:r>
          </a:p>
        </p:txBody>
      </p:sp>
      <p:sp>
        <p:nvSpPr>
          <p:cNvPr id="10" name="v2-11-9">
            <a:extLst>
              <a:ext uri="{FF2B5EF4-FFF2-40B4-BE49-F238E27FC236}">
                <a16:creationId xmlns:a16="http://schemas.microsoft.com/office/drawing/2014/main" id="{A437FF19-EEA0-4D8D-AA39-266C887BF6EE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60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60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60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79.1267</a:t>
            </a:r>
          </a:p>
        </p:txBody>
      </p:sp>
      <p:sp>
        <p:nvSpPr>
          <p:cNvPr id="11" name="v2-11-10">
            <a:extLst>
              <a:ext uri="{FF2B5EF4-FFF2-40B4-BE49-F238E27FC236}">
                <a16:creationId xmlns:a16="http://schemas.microsoft.com/office/drawing/2014/main" id="{93639DC9-00EB-46B2-A540-8978CFE86011}"/>
              </a:ext>
            </a:extLst>
          </p:cNvPr>
          <p:cNvSpPr>
            <a:spLocks noGrp="1"/>
          </p:cNvSpPr>
          <p:nvPr/>
        </p:nvSpPr>
        <p:spPr>
          <a:xfrm>
            <a:off x="6572250" y="3571875"/>
            <a:ext cx="4857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B6.keras</a:t>
            </a:r>
          </a:p>
        </p:txBody>
      </p:sp>
      <p:sp>
        <p:nvSpPr>
          <p:cNvPr id="12" name="v2-11-11">
            <a:extLst>
              <a:ext uri="{FF2B5EF4-FFF2-40B4-BE49-F238E27FC236}">
                <a16:creationId xmlns:a16="http://schemas.microsoft.com/office/drawing/2014/main" id="{17BBC661-B9C5-4E7D-89F9-B741816A9E84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Edited text 104"/>
          <p:cNvSpPr txBox="1"/>
          <p:nvPr/>
        </p:nvSpPr>
        <p:spPr>
          <a:xfrm>
            <a:off x="685800" y="4610100"/>
            <a:ext cx="108204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評估 B：固定同一批 120 筆驗證資料，</a:t>
            </a:r>
            <a:r>
              <a:rPr lang="zh-TW" altLang="en-US" sz="17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教授</a:t>
            </a:r>
            <a:r>
              <a:rPr lang="zh-TW" sz="17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 state 也相同</a:t>
            </a:r>
          </a:p>
        </p:txBody>
      </p:sp>
      <p:sp>
        <p:nvSpPr>
          <p:cNvPr id="105" name="Edited text 105"/>
          <p:cNvSpPr txBox="1"/>
          <p:nvPr/>
        </p:nvSpPr>
        <p:spPr>
          <a:xfrm>
            <a:off x="685800" y="5267325"/>
            <a:ext cx="108204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本頁用 120 筆驗證資料的平均 loss 比較 Best／Final，沒有另外建立獨立測試集。</a:t>
            </a:r>
          </a:p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第 10 頁算每輪平均，第 32 頁算另一組 18 筆的中位數，三者不能直接互比。</a:t>
            </a:r>
          </a:p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Final 較差已確認；訓練不穩定仍是推測（LIKELY / SUGGESTED），尚不能確認過度擬合。</a:t>
            </a:r>
          </a:p>
        </p:txBody>
      </p:sp>
      <p:sp>
        <p:nvSpPr>
          <p:cNvPr id="106" name="review-loss-ratio">
            <a:extLst>
              <a:ext uri="{FF2B5EF4-FFF2-40B4-BE49-F238E27FC236}">
                <a16:creationId xmlns:a16="http://schemas.microsoft.com/office/drawing/2014/main" id="{F8565FB2-7020-454F-9B8B-29FE98A433F6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相同評估條件下，Final loss 約為 Best 的 6.48 倍</a:t>
            </a:r>
          </a:p>
        </p:txBody>
      </p:sp>
    </p:spTree>
    <p:extLst>
      <p:ext uri="{BB962C8B-B14F-4D97-AF65-F5344CB8AC3E}">
        <p14:creationId xmlns:p14="http://schemas.microsoft.com/office/powerpoint/2010/main" val="1086305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12-textbox-0">
            <a:extLst>
              <a:ext uri="{FF2B5EF4-FFF2-40B4-BE49-F238E27FC236}">
                <a16:creationId xmlns:a16="http://schemas.microsoft.com/office/drawing/2014/main" id="{BBC4AD47-C55A-47B0-A7C4-6E1882C6C1F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STEP 6 · 技術流程驗證</a:t>
            </a:r>
          </a:p>
        </p:txBody>
      </p:sp>
      <p:sp>
        <p:nvSpPr>
          <p:cNvPr id="2" name="p12-textbox-1">
            <a:extLst>
              <a:ext uri="{FF2B5EF4-FFF2-40B4-BE49-F238E27FC236}">
                <a16:creationId xmlns:a16="http://schemas.microsoft.com/office/drawing/2014/main" id="{AC1B0F90-7C35-496C-8CCC-F1E34C93C0AB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Step 6：把影片送進模型，再檢查結果</a:t>
            </a:r>
          </a:p>
        </p:txBody>
      </p:sp>
      <p:sp>
        <p:nvSpPr>
          <p:cNvPr id="3" name="p12-rect-2">
            <a:extLst>
              <a:ext uri="{FF2B5EF4-FFF2-40B4-BE49-F238E27FC236}">
                <a16:creationId xmlns:a16="http://schemas.microsoft.com/office/drawing/2014/main" id="{33A5852D-DB48-45A4-8962-2968D69D59D1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12-textbox-3">
            <a:extLst>
              <a:ext uri="{FF2B5EF4-FFF2-40B4-BE49-F238E27FC236}">
                <a16:creationId xmlns:a16="http://schemas.microsoft.com/office/drawing/2014/main" id="{7A9B3AD5-A8E3-4B71-BF15-6787D0D1B051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5" name="p12-textbox-4">
            <a:extLst>
              <a:ext uri="{FF2B5EF4-FFF2-40B4-BE49-F238E27FC236}">
                <a16:creationId xmlns:a16="http://schemas.microsoft.com/office/drawing/2014/main" id="{58780496-B2D2-46B4-ABF9-BE3AFD648A29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6" name="p12-rect-5">
            <a:extLst>
              <a:ext uri="{FF2B5EF4-FFF2-40B4-BE49-F238E27FC236}">
                <a16:creationId xmlns:a16="http://schemas.microsoft.com/office/drawing/2014/main" id="{857893C4-76B1-41D1-AE1E-C60945E0443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737360" cy="166687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p12-textbox-6">
            <a:extLst>
              <a:ext uri="{FF2B5EF4-FFF2-40B4-BE49-F238E27FC236}">
                <a16:creationId xmlns:a16="http://schemas.microsoft.com/office/drawing/2014/main" id="{59AD7A4E-B8A5-427E-94CA-2318BE4BA8FB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139446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讀取影片</a:t>
            </a:r>
          </a:p>
        </p:txBody>
      </p:sp>
      <p:sp>
        <p:nvSpPr>
          <p:cNvPr id="8" name="p12-textbox-7">
            <a:extLst>
              <a:ext uri="{FF2B5EF4-FFF2-40B4-BE49-F238E27FC236}">
                <a16:creationId xmlns:a16="http://schemas.microsoft.com/office/drawing/2014/main" id="{91046E42-F7D6-4989-A7E3-261CEF66F7B5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139446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逐格解碼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計算幀數</a:t>
            </a:r>
          </a:p>
        </p:txBody>
      </p:sp>
      <p:sp>
        <p:nvSpPr>
          <p:cNvPr id="9" name="p12-rightArrow-8">
            <a:extLst>
              <a:ext uri="{FF2B5EF4-FFF2-40B4-BE49-F238E27FC236}">
                <a16:creationId xmlns:a16="http://schemas.microsoft.com/office/drawing/2014/main" id="{3233C0CC-9C22-419C-803C-D8D1A5244373}"/>
              </a:ext>
            </a:extLst>
          </p:cNvPr>
          <p:cNvSpPr>
            <a:spLocks noGrp="1"/>
          </p:cNvSpPr>
          <p:nvPr/>
        </p:nvSpPr>
        <p:spPr>
          <a:xfrm>
            <a:off x="2556510" y="3038475"/>
            <a:ext cx="266700" cy="11430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p12-rect-9">
            <a:extLst>
              <a:ext uri="{FF2B5EF4-FFF2-40B4-BE49-F238E27FC236}">
                <a16:creationId xmlns:a16="http://schemas.microsoft.com/office/drawing/2014/main" id="{3121999A-A818-477B-9925-ADE71A7052AD}"/>
              </a:ext>
            </a:extLst>
          </p:cNvPr>
          <p:cNvSpPr>
            <a:spLocks noGrp="1"/>
          </p:cNvSpPr>
          <p:nvPr/>
        </p:nvSpPr>
        <p:spPr>
          <a:xfrm>
            <a:off x="2956560" y="2324100"/>
            <a:ext cx="1737360" cy="166687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p12-textbox-10">
            <a:extLst>
              <a:ext uri="{FF2B5EF4-FFF2-40B4-BE49-F238E27FC236}">
                <a16:creationId xmlns:a16="http://schemas.microsoft.com/office/drawing/2014/main" id="{981C6179-2B40-4DD0-A85E-B37DA41DB29A}"/>
              </a:ext>
            </a:extLst>
          </p:cNvPr>
          <p:cNvSpPr>
            <a:spLocks noGrp="1"/>
          </p:cNvSpPr>
          <p:nvPr/>
        </p:nvSpPr>
        <p:spPr>
          <a:xfrm>
            <a:off x="3128010" y="2476500"/>
            <a:ext cx="139446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兩張 YUV</a:t>
            </a:r>
          </a:p>
        </p:txBody>
      </p:sp>
      <p:sp>
        <p:nvSpPr>
          <p:cNvPr id="12" name="p12-textbox-11">
            <a:extLst>
              <a:ext uri="{FF2B5EF4-FFF2-40B4-BE49-F238E27FC236}">
                <a16:creationId xmlns:a16="http://schemas.microsoft.com/office/drawing/2014/main" id="{803B32DA-AFC4-4E7C-BB39-513343107DBE}"/>
              </a:ext>
            </a:extLst>
          </p:cNvPr>
          <p:cNvSpPr>
            <a:spLocks noGrp="1"/>
          </p:cNvSpPr>
          <p:nvPr/>
        </p:nvSpPr>
        <p:spPr>
          <a:xfrm>
            <a:off x="3128010" y="3048000"/>
            <a:ext cx="139446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沿用教授的</a:t>
            </a:r>
          </a:p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轉換方式</a:t>
            </a:r>
          </a:p>
        </p:txBody>
      </p:sp>
      <p:sp>
        <p:nvSpPr>
          <p:cNvPr id="13" name="p12-rightArrow-12">
            <a:extLst>
              <a:ext uri="{FF2B5EF4-FFF2-40B4-BE49-F238E27FC236}">
                <a16:creationId xmlns:a16="http://schemas.microsoft.com/office/drawing/2014/main" id="{92E54891-4D4D-4736-9152-5FFB40AEB7DD}"/>
              </a:ext>
            </a:extLst>
          </p:cNvPr>
          <p:cNvSpPr>
            <a:spLocks noGrp="1"/>
          </p:cNvSpPr>
          <p:nvPr/>
        </p:nvSpPr>
        <p:spPr>
          <a:xfrm>
            <a:off x="4827270" y="3038475"/>
            <a:ext cx="266700" cy="11430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p12-rect-13">
            <a:extLst>
              <a:ext uri="{FF2B5EF4-FFF2-40B4-BE49-F238E27FC236}">
                <a16:creationId xmlns:a16="http://schemas.microsoft.com/office/drawing/2014/main" id="{F08427A4-C77D-4410-B034-38DC9C1BA704}"/>
              </a:ext>
            </a:extLst>
          </p:cNvPr>
          <p:cNvSpPr>
            <a:spLocks noGrp="1"/>
          </p:cNvSpPr>
          <p:nvPr/>
        </p:nvSpPr>
        <p:spPr>
          <a:xfrm>
            <a:off x="5227320" y="2324100"/>
            <a:ext cx="1737360" cy="166687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p12-textbox-14">
            <a:extLst>
              <a:ext uri="{FF2B5EF4-FFF2-40B4-BE49-F238E27FC236}">
                <a16:creationId xmlns:a16="http://schemas.microsoft.com/office/drawing/2014/main" id="{B763EA0C-A057-42CB-9A76-1399FE13E70B}"/>
              </a:ext>
            </a:extLst>
          </p:cNvPr>
          <p:cNvSpPr>
            <a:spLocks noGrp="1"/>
          </p:cNvSpPr>
          <p:nvPr/>
        </p:nvSpPr>
        <p:spPr>
          <a:xfrm>
            <a:off x="5398770" y="2476500"/>
            <a:ext cx="139446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四個輸入</a:t>
            </a:r>
          </a:p>
        </p:txBody>
      </p:sp>
      <p:sp>
        <p:nvSpPr>
          <p:cNvPr id="16" name="p12-textbox-15">
            <a:extLst>
              <a:ext uri="{FF2B5EF4-FFF2-40B4-BE49-F238E27FC236}">
                <a16:creationId xmlns:a16="http://schemas.microsoft.com/office/drawing/2014/main" id="{B037AA48-AFC0-4AF6-A49E-090572902C31}"/>
              </a:ext>
            </a:extLst>
          </p:cNvPr>
          <p:cNvSpPr>
            <a:spLocks noGrp="1"/>
          </p:cNvSpPr>
          <p:nvPr/>
        </p:nvSpPr>
        <p:spPr>
          <a:xfrm>
            <a:off x="5398770" y="3048000"/>
            <a:ext cx="139446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回饋自己的 state</a:t>
            </a:r>
          </a:p>
        </p:txBody>
      </p:sp>
      <p:sp>
        <p:nvSpPr>
          <p:cNvPr id="17" name="p12-rightArrow-16">
            <a:extLst>
              <a:ext uri="{FF2B5EF4-FFF2-40B4-BE49-F238E27FC236}">
                <a16:creationId xmlns:a16="http://schemas.microsoft.com/office/drawing/2014/main" id="{FFC6807D-4318-4317-A0E8-28D153BEA717}"/>
              </a:ext>
            </a:extLst>
          </p:cNvPr>
          <p:cNvSpPr>
            <a:spLocks noGrp="1"/>
          </p:cNvSpPr>
          <p:nvPr/>
        </p:nvSpPr>
        <p:spPr>
          <a:xfrm>
            <a:off x="7098030" y="3038475"/>
            <a:ext cx="266700" cy="11430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p12-rect-17">
            <a:extLst>
              <a:ext uri="{FF2B5EF4-FFF2-40B4-BE49-F238E27FC236}">
                <a16:creationId xmlns:a16="http://schemas.microsoft.com/office/drawing/2014/main" id="{602B79A3-E91E-469B-AD19-4B4F9742FBE1}"/>
              </a:ext>
            </a:extLst>
          </p:cNvPr>
          <p:cNvSpPr>
            <a:spLocks noGrp="1"/>
          </p:cNvSpPr>
          <p:nvPr/>
        </p:nvSpPr>
        <p:spPr>
          <a:xfrm>
            <a:off x="7498080" y="2324100"/>
            <a:ext cx="1737360" cy="166687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p12-textbox-18">
            <a:extLst>
              <a:ext uri="{FF2B5EF4-FFF2-40B4-BE49-F238E27FC236}">
                <a16:creationId xmlns:a16="http://schemas.microsoft.com/office/drawing/2014/main" id="{C297A63D-ABAF-45D1-86F8-0F376889ADF9}"/>
              </a:ext>
            </a:extLst>
          </p:cNvPr>
          <p:cNvSpPr>
            <a:spLocks noGrp="1"/>
          </p:cNvSpPr>
          <p:nvPr/>
        </p:nvSpPr>
        <p:spPr>
          <a:xfrm>
            <a:off x="7669530" y="2476500"/>
            <a:ext cx="139446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模型輸出</a:t>
            </a:r>
          </a:p>
        </p:txBody>
      </p:sp>
      <p:sp>
        <p:nvSpPr>
          <p:cNvPr id="20" name="p12-textbox-19">
            <a:extLst>
              <a:ext uri="{FF2B5EF4-FFF2-40B4-BE49-F238E27FC236}">
                <a16:creationId xmlns:a16="http://schemas.microsoft.com/office/drawing/2014/main" id="{A29D75ED-ABD8-49D3-86CA-48B75EF4CB87}"/>
              </a:ext>
            </a:extLst>
          </p:cNvPr>
          <p:cNvSpPr>
            <a:spLocks noGrp="1"/>
          </p:cNvSpPr>
          <p:nvPr/>
        </p:nvSpPr>
        <p:spPr>
          <a:xfrm>
            <a:off x="7669530" y="3048000"/>
            <a:ext cx="139446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2383 個原始值</a:t>
            </a:r>
          </a:p>
        </p:txBody>
      </p:sp>
      <p:sp>
        <p:nvSpPr>
          <p:cNvPr id="21" name="p12-rightArrow-20">
            <a:extLst>
              <a:ext uri="{FF2B5EF4-FFF2-40B4-BE49-F238E27FC236}">
                <a16:creationId xmlns:a16="http://schemas.microsoft.com/office/drawing/2014/main" id="{41F75B77-28F8-4102-8A18-1AC2C76FC86F}"/>
              </a:ext>
            </a:extLst>
          </p:cNvPr>
          <p:cNvSpPr>
            <a:spLocks noGrp="1"/>
          </p:cNvSpPr>
          <p:nvPr/>
        </p:nvSpPr>
        <p:spPr>
          <a:xfrm>
            <a:off x="9368790" y="3038475"/>
            <a:ext cx="266700" cy="11430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p12-rect-21">
            <a:extLst>
              <a:ext uri="{FF2B5EF4-FFF2-40B4-BE49-F238E27FC236}">
                <a16:creationId xmlns:a16="http://schemas.microsoft.com/office/drawing/2014/main" id="{836541D7-9A56-4C12-B6FE-44A5289C79B9}"/>
              </a:ext>
            </a:extLst>
          </p:cNvPr>
          <p:cNvSpPr>
            <a:spLocks noGrp="1"/>
          </p:cNvSpPr>
          <p:nvPr/>
        </p:nvSpPr>
        <p:spPr>
          <a:xfrm>
            <a:off x="9768840" y="2324100"/>
            <a:ext cx="1737360" cy="166687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p12-textbox-22">
            <a:extLst>
              <a:ext uri="{FF2B5EF4-FFF2-40B4-BE49-F238E27FC236}">
                <a16:creationId xmlns:a16="http://schemas.microsoft.com/office/drawing/2014/main" id="{0D73944B-7A84-46F6-8C62-A3192151B517}"/>
              </a:ext>
            </a:extLst>
          </p:cNvPr>
          <p:cNvSpPr>
            <a:spLocks noGrp="1"/>
          </p:cNvSpPr>
          <p:nvPr/>
        </p:nvSpPr>
        <p:spPr>
          <a:xfrm>
            <a:off x="9940290" y="2476500"/>
            <a:ext cx="139446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顯示結果</a:t>
            </a:r>
          </a:p>
        </p:txBody>
      </p:sp>
      <p:sp>
        <p:nvSpPr>
          <p:cNvPr id="24" name="p12-textbox-23">
            <a:extLst>
              <a:ext uri="{FF2B5EF4-FFF2-40B4-BE49-F238E27FC236}">
                <a16:creationId xmlns:a16="http://schemas.microsoft.com/office/drawing/2014/main" id="{E9969C0C-08E6-4775-8999-07849AAF4FCF}"/>
              </a:ext>
            </a:extLst>
          </p:cNvPr>
          <p:cNvSpPr>
            <a:spLocks noGrp="1"/>
          </p:cNvSpPr>
          <p:nvPr/>
        </p:nvSpPr>
        <p:spPr>
          <a:xfrm>
            <a:off x="9940290" y="3048000"/>
            <a:ext cx="139446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JSON＋四格驗證圖</a:t>
            </a:r>
          </a:p>
        </p:txBody>
      </p:sp>
      <p:sp>
        <p:nvSpPr>
          <p:cNvPr id="25" name="p12-rect-24">
            <a:extLst>
              <a:ext uri="{FF2B5EF4-FFF2-40B4-BE49-F238E27FC236}">
                <a16:creationId xmlns:a16="http://schemas.microsoft.com/office/drawing/2014/main" id="{D9E726AD-5B1F-4392-99FD-4A5C4B1DEFAC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p12-textbox-25">
            <a:extLst>
              <a:ext uri="{FF2B5EF4-FFF2-40B4-BE49-F238E27FC236}">
                <a16:creationId xmlns:a16="http://schemas.microsoft.com/office/drawing/2014/main" id="{8E089C69-B8C6-47C0-BA44-EE95B60E1D52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美國與台灣影片，分別使用課程指定的投影設定。</a:t>
            </a:r>
          </a:p>
        </p:txBody>
      </p:sp>
      <p:sp>
        <p:nvSpPr>
          <p:cNvPr id="27" name="p12-textbox-26">
            <a:extLst>
              <a:ext uri="{FF2B5EF4-FFF2-40B4-BE49-F238E27FC236}">
                <a16:creationId xmlns:a16="http://schemas.microsoft.com/office/drawing/2014/main" id="{7FD342DF-C24F-4C54-A39C-4D4B1636980B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美國右車道偏移採教材的 -0.5，取代 parser 的 -0.1；台灣的路徑、車道各自校正。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使用 stable softplus，避免 exp 溢位；驗證 traffic=[0,0]、訓練為 [1,0]，解讀時保留這項差異。</a:t>
            </a:r>
          </a:p>
        </p:txBody>
      </p:sp>
    </p:spTree>
    <p:extLst>
      <p:ext uri="{BB962C8B-B14F-4D97-AF65-F5344CB8AC3E}">
        <p14:creationId xmlns:p14="http://schemas.microsoft.com/office/powerpoint/2010/main" val="107992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13-textbox-0">
            <a:extLst>
              <a:ext uri="{FF2B5EF4-FFF2-40B4-BE49-F238E27FC236}">
                <a16:creationId xmlns:a16="http://schemas.microsoft.com/office/drawing/2014/main" id="{BD279FCC-B0D5-4268-A40B-5A6E4314785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STEP 6 · 四組結果</a:t>
            </a:r>
          </a:p>
        </p:txBody>
      </p:sp>
      <p:sp>
        <p:nvSpPr>
          <p:cNvPr id="2" name="p13-textbox-1">
            <a:extLst>
              <a:ext uri="{FF2B5EF4-FFF2-40B4-BE49-F238E27FC236}">
                <a16:creationId xmlns:a16="http://schemas.microsoft.com/office/drawing/2014/main" id="{622A8A89-F523-4F96-ADBB-B39A22A439C0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四組影片都跑完，再看輸出是否合理</a:t>
            </a:r>
          </a:p>
        </p:txBody>
      </p:sp>
      <p:sp>
        <p:nvSpPr>
          <p:cNvPr id="3" name="p13-rect-2">
            <a:extLst>
              <a:ext uri="{FF2B5EF4-FFF2-40B4-BE49-F238E27FC236}">
                <a16:creationId xmlns:a16="http://schemas.microsoft.com/office/drawing/2014/main" id="{8E5C3461-2EA4-4097-BF44-11BB542F90A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13-textbox-3">
            <a:extLst>
              <a:ext uri="{FF2B5EF4-FFF2-40B4-BE49-F238E27FC236}">
                <a16:creationId xmlns:a16="http://schemas.microsoft.com/office/drawing/2014/main" id="{7769E98C-E959-4E2B-A3C6-7C3777996800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5" name="p13-textbox-4">
            <a:extLst>
              <a:ext uri="{FF2B5EF4-FFF2-40B4-BE49-F238E27FC236}">
                <a16:creationId xmlns:a16="http://schemas.microsoft.com/office/drawing/2014/main" id="{49EBF2C8-CF80-44AE-BD52-33E0EC6237BC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C495648-3771-4628-A801-E5EA3D87E4FF}"/>
              </a:ext>
            </a:extLst>
          </p:cNvPr>
          <p:cNvGraphicFramePr/>
          <p:nvPr/>
        </p:nvGraphicFramePr>
        <p:xfrm>
          <a:off x="685800" y="1571625"/>
          <a:ext cx="10820400" cy="344805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影片／模型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預測筆數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近端路徑變化均值 m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車道寬度≤0 的幀數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final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1199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1.0903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1006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best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1199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0.00460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Taiwan final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1201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0.9993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943</a:t>
                      </a:r>
                    </a:p>
                  </a:txBody>
                  <a:tcPr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Taiwan best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1201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0.00460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p13-textbox-5">
            <a:extLst>
              <a:ext uri="{FF2B5EF4-FFF2-40B4-BE49-F238E27FC236}">
                <a16:creationId xmlns:a16="http://schemas.microsoft.com/office/drawing/2014/main" id="{A4948ECE-9CE4-41B8-99C5-818139270395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四組輸出都沒有</a:t>
            </a:r>
            <a:r>
              <a:rPr sz="1575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575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NaN／Inf，流程已跑完；但</a:t>
            </a:r>
            <a:r>
              <a:rPr sz="1575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Final 的車道寬度≤0 </a:t>
            </a:r>
            <a:r>
              <a:rPr sz="1575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幀數，明顯多於</a:t>
            </a:r>
            <a:r>
              <a:rPr sz="1575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Best。</a:t>
            </a:r>
          </a:p>
        </p:txBody>
      </p:sp>
    </p:spTree>
    <p:extLst>
      <p:ext uri="{BB962C8B-B14F-4D97-AF65-F5344CB8AC3E}">
        <p14:creationId xmlns:p14="http://schemas.microsoft.com/office/powerpoint/2010/main" val="1366038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Edited text 134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5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同一張影像，</a:t>
            </a:r>
            <a:r>
              <a:rPr lang="zh-TW" altLang="en-US" sz="25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我</a:t>
            </a:r>
            <a:r>
              <a:rPr lang="zh-TW" sz="25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的原始輸出已有鋸齒</a:t>
            </a:r>
          </a:p>
        </p:txBody>
      </p:sp>
      <p:sp>
        <p:nvSpPr>
          <p:cNvPr id="135" name="Edited text 135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136" name="Rule 136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7" name="Edited text 137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38" name="Edited text 138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相同影像的對照</a:t>
            </a:r>
          </a:p>
        </p:txBody>
      </p:sp>
      <p:sp>
        <p:nvSpPr>
          <p:cNvPr id="139" name="Edited text 139"/>
          <p:cNvSpPr txBox="1"/>
          <p:nvPr/>
        </p:nvSpPr>
        <p:spPr>
          <a:xfrm>
            <a:off x="685800" y="1847850"/>
            <a:ext cx="34004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TEACHER · supercombo079</a:t>
            </a:r>
          </a:p>
        </p:txBody>
      </p:sp>
      <p:pic>
        <p:nvPicPr>
          <p:cNvPr id="140" name="raw-0" descr="Actual replay screenshot; see slide notes for provenance.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2209800"/>
            <a:ext cx="3400425" cy="2272665"/>
          </a:xfrm>
          <a:prstGeom prst="rect">
            <a:avLst/>
          </a:prstGeom>
        </p:spPr>
      </p:pic>
      <p:sp>
        <p:nvSpPr>
          <p:cNvPr id="141" name="Edited text 141"/>
          <p:cNvSpPr txBox="1"/>
          <p:nvPr/>
        </p:nvSpPr>
        <p:spPr>
          <a:xfrm>
            <a:off x="4391025" y="1847850"/>
            <a:ext cx="34004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B6 BEST</a:t>
            </a:r>
          </a:p>
        </p:txBody>
      </p:sp>
      <p:pic>
        <p:nvPicPr>
          <p:cNvPr id="142" name="raw-1" descr="Actual replay screenshot; see slide notes for provenance."/>
          <p:cNvPicPr/>
          <p:nvPr/>
        </p:nvPicPr>
        <p:blipFill>
          <a:blip r:embed="rId4"/>
          <a:stretch>
            <a:fillRect/>
          </a:stretch>
        </p:blipFill>
        <p:spPr>
          <a:xfrm>
            <a:off x="4391025" y="2209800"/>
            <a:ext cx="3400425" cy="2272665"/>
          </a:xfrm>
          <a:prstGeom prst="rect">
            <a:avLst/>
          </a:prstGeom>
        </p:spPr>
      </p:pic>
      <p:sp>
        <p:nvSpPr>
          <p:cNvPr id="143" name="Edited text 143"/>
          <p:cNvSpPr txBox="1"/>
          <p:nvPr/>
        </p:nvSpPr>
        <p:spPr>
          <a:xfrm>
            <a:off x="8096250" y="1847850"/>
            <a:ext cx="34004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B6 FINAL</a:t>
            </a:r>
          </a:p>
        </p:txBody>
      </p:sp>
      <p:pic>
        <p:nvPicPr>
          <p:cNvPr id="144" name="raw-2" descr="Actual replay screenshot; see slide notes for provenance."/>
          <p:cNvPicPr/>
          <p:nvPr/>
        </p:nvPicPr>
        <p:blipFill>
          <a:blip r:embed="rId5"/>
          <a:stretch>
            <a:fillRect/>
          </a:stretch>
        </p:blipFill>
        <p:spPr>
          <a:xfrm>
            <a:off x="8096250" y="2209800"/>
            <a:ext cx="3400425" cy="2272665"/>
          </a:xfrm>
          <a:prstGeom prst="rect">
            <a:avLst/>
          </a:prstGeom>
        </p:spPr>
      </p:pic>
      <p:sp>
        <p:nvSpPr>
          <p:cNvPr id="145" name="Edited text 145"/>
          <p:cNvSpPr txBox="1"/>
          <p:nvPr/>
        </p:nvSpPr>
        <p:spPr>
          <a:xfrm>
            <a:off x="685800" y="1457325"/>
            <a:ext cx="108204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三圖使用相同 Y 軸。這裡看曲線形狀與位置，還不能判定預測是否準確。</a:t>
            </a:r>
          </a:p>
        </p:txBody>
      </p:sp>
      <p:pic>
        <p:nvPicPr>
          <p:cNvPr id="146" name="final-road" descr="Actual replay screenshot; see slide notes for provenance."/>
          <p:cNvPicPr/>
          <p:nvPr/>
        </p:nvPicPr>
        <p:blipFill>
          <a:blip r:embed="rId6"/>
          <a:stretch>
            <a:fillRect/>
          </a:stretch>
        </p:blipFill>
        <p:spPr>
          <a:xfrm>
            <a:off x="1201003" y="5029200"/>
            <a:ext cx="1560395" cy="1171575"/>
          </a:xfrm>
          <a:prstGeom prst="rect">
            <a:avLst/>
          </a:prstGeom>
        </p:spPr>
      </p:pic>
      <p:sp>
        <p:nvSpPr>
          <p:cNvPr id="147" name="Edited text 147"/>
          <p:cNvSpPr txBox="1"/>
          <p:nvPr/>
        </p:nvSpPr>
        <p:spPr>
          <a:xfrm>
            <a:off x="3733800" y="48387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用同一張影像，也固定 state 與 traffic</a:t>
            </a:r>
          </a:p>
        </p:txBody>
      </p:sp>
      <p:sp>
        <p:nvSpPr>
          <p:cNvPr id="148" name="Edited text 148"/>
          <p:cNvSpPr txBox="1"/>
          <p:nvPr/>
        </p:nvSpPr>
        <p:spPr>
          <a:xfrm>
            <a:off x="3733800" y="5314950"/>
            <a:ext cx="777240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台灣第 601 幀；使用</a:t>
            </a:r>
            <a:r>
              <a:rPr lang="zh-TW" altLang="en-US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教授</a:t>
            </a: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前一步 state、traffic=[1,0]。</a:t>
            </a:r>
          </a:p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路徑與車道線在投影前就不平滑，異常不是疊到畫面上才出現。</a:t>
            </a:r>
          </a:p>
        </p:txBody>
      </p:sp>
    </p:spTree>
    <p:extLst>
      <p:ext uri="{BB962C8B-B14F-4D97-AF65-F5344CB8AC3E}">
        <p14:creationId xmlns:p14="http://schemas.microsoft.com/office/powerpoint/2010/main" val="385347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Edited text 149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70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曲線在投影到畫面前，就已經不正常</a:t>
            </a:r>
          </a:p>
        </p:txBody>
      </p:sp>
      <p:sp>
        <p:nvSpPr>
          <p:cNvPr id="150" name="Edited text 150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151" name="Rule 151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544B6D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2" name="Edited text 152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53" name="Edited text 153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直接輸出、解析與投影</a:t>
            </a:r>
          </a:p>
        </p:txBody>
      </p:sp>
      <p:pic>
        <p:nvPicPr>
          <p:cNvPr id="154" name="raw-parsed-projected" descr="Actual replay screenshot; see slide notes for provenance.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1562100"/>
            <a:ext cx="10820400" cy="3381375"/>
          </a:xfrm>
          <a:prstGeom prst="rect">
            <a:avLst/>
          </a:prstGeom>
        </p:spPr>
      </p:pic>
      <p:sp>
        <p:nvSpPr>
          <p:cNvPr id="155" name="Edited text 155"/>
          <p:cNvSpPr txBox="1"/>
          <p:nvPr/>
        </p:nvSpPr>
        <p:spPr>
          <a:xfrm>
            <a:off x="685800" y="5105400"/>
            <a:ext cx="3333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1" noProof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模型直接輸出（Raw）</a:t>
            </a:r>
          </a:p>
        </p:txBody>
      </p:sp>
      <p:sp>
        <p:nvSpPr>
          <p:cNvPr id="156" name="Edited text 156"/>
          <p:cNvSpPr txBox="1"/>
          <p:nvPr/>
        </p:nvSpPr>
        <p:spPr>
          <a:xfrm>
            <a:off x="685800" y="5514975"/>
            <a:ext cx="33337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還沒解析，就已出現鋸齒。</a:t>
            </a:r>
          </a:p>
        </p:txBody>
      </p:sp>
      <p:sp>
        <p:nvSpPr>
          <p:cNvPr id="157" name="Edited text 157"/>
          <p:cNvSpPr txBox="1"/>
          <p:nvPr/>
        </p:nvSpPr>
        <p:spPr>
          <a:xfrm>
            <a:off x="4410075" y="5105400"/>
            <a:ext cx="3333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1" noProof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解析後（Parsed）</a:t>
            </a:r>
          </a:p>
        </p:txBody>
      </p:sp>
      <p:sp>
        <p:nvSpPr>
          <p:cNvPr id="158" name="Edited text 158"/>
          <p:cNvSpPr txBox="1"/>
          <p:nvPr/>
        </p:nvSpPr>
        <p:spPr>
          <a:xfrm>
            <a:off x="4410075" y="5514975"/>
            <a:ext cx="33337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加上固定偏移，異常仍在。</a:t>
            </a:r>
          </a:p>
        </p:txBody>
      </p:sp>
      <p:sp>
        <p:nvSpPr>
          <p:cNvPr id="159" name="Edited text 159"/>
          <p:cNvSpPr txBox="1"/>
          <p:nvPr/>
        </p:nvSpPr>
        <p:spPr>
          <a:xfrm>
            <a:off x="8134350" y="5105400"/>
            <a:ext cx="3333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1" noProof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投影到畫面（Projected）</a:t>
            </a:r>
          </a:p>
        </p:txBody>
      </p:sp>
      <p:sp>
        <p:nvSpPr>
          <p:cNvPr id="160" name="Edited text 160"/>
          <p:cNvSpPr txBox="1"/>
          <p:nvPr/>
        </p:nvSpPr>
        <p:spPr>
          <a:xfrm>
            <a:off x="8134350" y="5514975"/>
            <a:ext cx="33337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把曲線位置換成像素座標。</a:t>
            </a:r>
          </a:p>
        </p:txBody>
      </p:sp>
    </p:spTree>
    <p:extLst>
      <p:ext uri="{BB962C8B-B14F-4D97-AF65-F5344CB8AC3E}">
        <p14:creationId xmlns:p14="http://schemas.microsoft.com/office/powerpoint/2010/main" val="1014198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18-textbox-0">
            <a:extLst>
              <a:ext uri="{FF2B5EF4-FFF2-40B4-BE49-F238E27FC236}">
                <a16:creationId xmlns:a16="http://schemas.microsoft.com/office/drawing/2014/main" id="{B74105B2-E06C-4D3A-AAEA-2322E6D026F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先檢查影像輸入</a:t>
            </a:r>
          </a:p>
        </p:txBody>
      </p:sp>
      <p:sp>
        <p:nvSpPr>
          <p:cNvPr id="2" name="p18-textbox-1">
            <a:extLst>
              <a:ext uri="{FF2B5EF4-FFF2-40B4-BE49-F238E27FC236}">
                <a16:creationId xmlns:a16="http://schemas.microsoft.com/office/drawing/2014/main" id="{C89EFE40-9B27-4B7C-B1C0-E1D46150CD06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影像真的不同，資料配對與數值範圍也查過了</a:t>
            </a:r>
          </a:p>
        </p:txBody>
      </p:sp>
      <p:sp>
        <p:nvSpPr>
          <p:cNvPr id="3" name="p18-rect-2">
            <a:extLst>
              <a:ext uri="{FF2B5EF4-FFF2-40B4-BE49-F238E27FC236}">
                <a16:creationId xmlns:a16="http://schemas.microsoft.com/office/drawing/2014/main" id="{EBA49DD4-3047-4F15-8158-ED721F6CF2B2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18-textbox-3">
            <a:extLst>
              <a:ext uri="{FF2B5EF4-FFF2-40B4-BE49-F238E27FC236}">
                <a16:creationId xmlns:a16="http://schemas.microsoft.com/office/drawing/2014/main" id="{64FE1260-5E35-4694-878C-3056F381CB90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5" name="p18-textbox-4">
            <a:extLst>
              <a:ext uri="{FF2B5EF4-FFF2-40B4-BE49-F238E27FC236}">
                <a16:creationId xmlns:a16="http://schemas.microsoft.com/office/drawing/2014/main" id="{6C9FCF42-463A-4FF6-B455-3B01A31AC549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16" name="review2-16-0">
            <a:extLst>
              <a:ext uri="{FF2B5EF4-FFF2-40B4-BE49-F238E27FC236}">
                <a16:creationId xmlns:a16="http://schemas.microsoft.com/office/drawing/2014/main" id="{167F571D-A32B-49FF-BE22-748AE79F44CA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2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先確認：實驗確實換了不同影像</a:t>
            </a:r>
          </a:p>
        </p:txBody>
      </p:sp>
      <p:sp>
        <p:nvSpPr>
          <p:cNvPr id="17" name="review2-16-1">
            <a:extLst>
              <a:ext uri="{FF2B5EF4-FFF2-40B4-BE49-F238E27FC236}">
                <a16:creationId xmlns:a16="http://schemas.microsoft.com/office/drawing/2014/main" id="{3121A008-057E-4DC0-BE4D-2083CB96CBD5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不同影像</a:t>
            </a:r>
          </a:p>
        </p:txBody>
      </p:sp>
      <p:sp>
        <p:nvSpPr>
          <p:cNvPr id="18" name="review2-16-2">
            <a:extLst>
              <a:ext uri="{FF2B5EF4-FFF2-40B4-BE49-F238E27FC236}">
                <a16:creationId xmlns:a16="http://schemas.microsoft.com/office/drawing/2014/main" id="{EFEBC25F-85EE-4D9E-BDEF-08BC89B73485}"/>
              </a:ext>
            </a:extLst>
          </p:cNvPr>
          <p:cNvSpPr>
            <a:spLocks noGrp="1"/>
          </p:cNvSpPr>
          <p:nvPr/>
        </p:nvSpPr>
        <p:spPr>
          <a:xfrm>
            <a:off x="3657600" y="2514600"/>
            <a:ext cx="7848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美國／台灣對照影像的平均像素差（MAE）為 9.312–19.002。</a:t>
            </a:r>
          </a:p>
        </p:txBody>
      </p:sp>
      <p:sp>
        <p:nvSpPr>
          <p:cNvPr id="19" name="review2-16-3">
            <a:extLst>
              <a:ext uri="{FF2B5EF4-FFF2-40B4-BE49-F238E27FC236}">
                <a16:creationId xmlns:a16="http://schemas.microsoft.com/office/drawing/2014/main" id="{9373FC97-63C5-4D66-AD3A-B19F84EEC4D0}"/>
              </a:ext>
            </a:extLst>
          </p:cNvPr>
          <p:cNvSpPr>
            <a:spLocks noGrp="1"/>
          </p:cNvSpPr>
          <p:nvPr/>
        </p:nvSpPr>
        <p:spPr>
          <a:xfrm>
            <a:off x="685800" y="353377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配對一致</a:t>
            </a:r>
          </a:p>
        </p:txBody>
      </p:sp>
      <p:sp>
        <p:nvSpPr>
          <p:cNvPr id="20" name="review2-16-4">
            <a:extLst>
              <a:ext uri="{FF2B5EF4-FFF2-40B4-BE49-F238E27FC236}">
                <a16:creationId xmlns:a16="http://schemas.microsoft.com/office/drawing/2014/main" id="{F4C70948-B401-4B2B-B29E-17DC3E68D90F}"/>
              </a:ext>
            </a:extLst>
          </p:cNvPr>
          <p:cNvSpPr>
            <a:spLocks noGrp="1"/>
          </p:cNvSpPr>
          <p:nvPr/>
        </p:nvSpPr>
        <p:spPr>
          <a:xfrm>
            <a:off x="3657600" y="3533775"/>
            <a:ext cx="7848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 組美國影片解碼影像，與訓練用 yuv.h5 完全相同（差異 = 0）。</a:t>
            </a:r>
          </a:p>
        </p:txBody>
      </p:sp>
      <p:sp>
        <p:nvSpPr>
          <p:cNvPr id="21" name="review2-16-5">
            <a:extLst>
              <a:ext uri="{FF2B5EF4-FFF2-40B4-BE49-F238E27FC236}">
                <a16:creationId xmlns:a16="http://schemas.microsoft.com/office/drawing/2014/main" id="{490B59A6-6BFC-49F6-87AC-15D4598314DB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數值範圍一致</a:t>
            </a:r>
          </a:p>
        </p:txBody>
      </p:sp>
      <p:sp>
        <p:nvSpPr>
          <p:cNvPr id="22" name="review2-16-6">
            <a:extLst>
              <a:ext uri="{FF2B5EF4-FFF2-40B4-BE49-F238E27FC236}">
                <a16:creationId xmlns:a16="http://schemas.microsoft.com/office/drawing/2014/main" id="{D1AB34DC-E478-400C-893E-137ED2E2AD40}"/>
              </a:ext>
            </a:extLst>
          </p:cNvPr>
          <p:cNvSpPr>
            <a:spLocks noGrp="1"/>
          </p:cNvSpPr>
          <p:nvPr/>
        </p:nvSpPr>
        <p:spPr>
          <a:xfrm>
            <a:off x="3657600" y="4552950"/>
            <a:ext cx="7848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訓練與推論都沒有除以 255；訓練第一批的值落在 35–204。</a:t>
            </a:r>
          </a:p>
        </p:txBody>
      </p:sp>
    </p:spTree>
    <p:extLst>
      <p:ext uri="{BB962C8B-B14F-4D97-AF65-F5344CB8AC3E}">
        <p14:creationId xmlns:p14="http://schemas.microsoft.com/office/powerpoint/2010/main" val="772945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Edited text 162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4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只換影像，輸出幾乎不變；換 state，差異就很大</a:t>
            </a:r>
          </a:p>
        </p:txBody>
      </p:sp>
      <p:sp>
        <p:nvSpPr>
          <p:cNvPr id="163" name="Edited text 163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  <p:sp>
        <p:nvSpPr>
          <p:cNvPr id="164" name="Rule 164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5" name="Edited text 165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66" name="Edited text 166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只換一項輸入來比較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0CB55AFB-0F7E-462A-A0A2-C4EA2123D621}"/>
              </a:ext>
            </a:extLst>
          </p:cNvPr>
          <p:cNvGraphicFramePr/>
          <p:nvPr/>
        </p:nvGraphicFramePr>
        <p:xfrm>
          <a:off x="685800" y="2181225"/>
          <a:ext cx="10820400" cy="270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8" name="Edited text 168"/>
          <p:cNvSpPr txBox="1"/>
          <p:nvPr/>
        </p:nvSpPr>
        <p:spPr>
          <a:xfrm>
            <a:off x="685800" y="5272088"/>
            <a:ext cx="10820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比較完整原始輸出的平均絕對差（MAE），圖用 log10 刻度。每組分別測 5 筆影像替換、4 筆前 8 組影像推算的 state 替換。</a:t>
            </a:r>
          </a:p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每次只改一項，其餘輸入與權重固定；兩項實驗樣本數不同，不能當作普遍的因果效果。</a:t>
            </a:r>
          </a:p>
        </p:txBody>
      </p:sp>
      <p:sp>
        <p:nvSpPr>
          <p:cNvPr id="170" name="review-image-heading">
            <a:extLst>
              <a:ext uri="{FF2B5EF4-FFF2-40B4-BE49-F238E27FC236}">
                <a16:creationId xmlns:a16="http://schemas.microsoft.com/office/drawing/2014/main" id="{BBA3FDB9-8998-4EE6-91C4-6252121E9010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5095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650" b="1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換影像／輸出幾乎不變</a:t>
            </a:r>
          </a:p>
        </p:txBody>
      </p:sp>
      <p:sp>
        <p:nvSpPr>
          <p:cNvPr id="171" name="review-image-mae">
            <a:extLst>
              <a:ext uri="{FF2B5EF4-FFF2-40B4-BE49-F238E27FC236}">
                <a16:creationId xmlns:a16="http://schemas.microsoft.com/office/drawing/2014/main" id="{AB743483-2D42-4C3D-9706-EDB0AACBACEF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5095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250" b="1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MAE ≈ 1e-7</a:t>
            </a:r>
          </a:p>
        </p:txBody>
      </p:sp>
      <p:sp>
        <p:nvSpPr>
          <p:cNvPr id="172" name="review-state-heading">
            <a:extLst>
              <a:ext uri="{FF2B5EF4-FFF2-40B4-BE49-F238E27FC236}">
                <a16:creationId xmlns:a16="http://schemas.microsoft.com/office/drawing/2014/main" id="{AC9B986B-821D-46C6-A9FE-FD05B2B36139}"/>
              </a:ext>
            </a:extLst>
          </p:cNvPr>
          <p:cNvSpPr>
            <a:spLocks noGrp="1"/>
          </p:cNvSpPr>
          <p:nvPr/>
        </p:nvSpPr>
        <p:spPr>
          <a:xfrm>
            <a:off x="6477000" y="1457325"/>
            <a:ext cx="5029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6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換前一步 state／輸出明顯改變</a:t>
            </a:r>
          </a:p>
        </p:txBody>
      </p:sp>
      <p:sp>
        <p:nvSpPr>
          <p:cNvPr id="173" name="review-state-mae">
            <a:extLst>
              <a:ext uri="{FF2B5EF4-FFF2-40B4-BE49-F238E27FC236}">
                <a16:creationId xmlns:a16="http://schemas.microsoft.com/office/drawing/2014/main" id="{9713B504-0135-4D61-A9FA-0D162CDFA199}"/>
              </a:ext>
            </a:extLst>
          </p:cNvPr>
          <p:cNvSpPr>
            <a:spLocks noGrp="1"/>
          </p:cNvSpPr>
          <p:nvPr/>
        </p:nvSpPr>
        <p:spPr>
          <a:xfrm>
            <a:off x="6477000" y="1733550"/>
            <a:ext cx="5029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MAE 1.868–2.046（約 1e0）</a:t>
            </a:r>
          </a:p>
        </p:txBody>
      </p:sp>
    </p:spTree>
    <p:extLst>
      <p:ext uri="{BB962C8B-B14F-4D97-AF65-F5344CB8AC3E}">
        <p14:creationId xmlns:p14="http://schemas.microsoft.com/office/powerpoint/2010/main" val="2129467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Edited text 170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4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不同影像經過 Encoder 後，反應差異整體縮小</a:t>
            </a:r>
          </a:p>
        </p:txBody>
      </p:sp>
      <p:sp>
        <p:nvSpPr>
          <p:cNvPr id="171" name="Edited text 171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172" name="Rule 172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3" name="Edited text 173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74" name="Edited text 174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追查 ENCODER 內部反應</a:t>
            </a:r>
          </a:p>
        </p:txBody>
      </p:sp>
      <p:sp>
        <p:nvSpPr>
          <p:cNvPr id="175" name="Edited text 175"/>
          <p:cNvSpPr txBox="1"/>
          <p:nvPr/>
        </p:nvSpPr>
        <p:spPr>
          <a:xfrm>
            <a:off x="685800" y="1495425"/>
            <a:ext cx="108204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00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兩張已測影像，越到特徵擷取後段，內部數值的差異整體越小。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F4B95873-A328-41B7-911D-976B2F5445A1}"/>
              </a:ext>
            </a:extLst>
          </p:cNvPr>
          <p:cNvGraphicFramePr/>
          <p:nvPr/>
        </p:nvGraphicFramePr>
        <p:xfrm>
          <a:off x="685800" y="2181225"/>
          <a:ext cx="10820400" cy="270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7" name="Edited text 177"/>
          <p:cNvSpPr txBox="1"/>
          <p:nvPr/>
        </p:nvSpPr>
        <p:spPr>
          <a:xfrm>
            <a:off x="685800" y="5043487"/>
            <a:ext cx="1082040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Final 最後一層的差異 MAE≈1.076e-7，平均內部數值大小≈2.824。</a:t>
            </a:r>
          </a:p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這可能和換影像時反應很小有關，但還不能確認是唯一原因。</a:t>
            </a:r>
          </a:p>
        </p:txBody>
      </p:sp>
    </p:spTree>
    <p:extLst>
      <p:ext uri="{BB962C8B-B14F-4D97-AF65-F5344CB8AC3E}">
        <p14:creationId xmlns:p14="http://schemas.microsoft.com/office/powerpoint/2010/main" val="1849719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Edited text 178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5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微調影像與 state 時，loss 的反應差很多</a:t>
            </a:r>
          </a:p>
        </p:txBody>
      </p:sp>
      <p:sp>
        <p:nvSpPr>
          <p:cNvPr id="179" name="Edited text 179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  <p:sp>
        <p:nvSpPr>
          <p:cNvPr id="180" name="Rule 180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1" name="Edited text 181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82" name="Edited text 182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檢查 LOSS 梯度</a:t>
            </a:r>
          </a:p>
        </p:txBody>
      </p:sp>
      <p:sp>
        <p:nvSpPr>
          <p:cNvPr id="183" name="Edited text 183"/>
          <p:cNvSpPr txBox="1"/>
          <p:nvPr/>
        </p:nvSpPr>
        <p:spPr>
          <a:xfrm>
            <a:off x="685800" y="1495425"/>
            <a:ext cx="108204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影像梯度約 1e-15–1e-14，state 約 1e-1，相差約 13–14 個數量級。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119EFEA3-10F1-4945-A46A-BE66187AF308}"/>
              </a:ext>
            </a:extLst>
          </p:cNvPr>
          <p:cNvGraphicFramePr/>
          <p:nvPr/>
        </p:nvGraphicFramePr>
        <p:xfrm>
          <a:off x="685800" y="2181225"/>
          <a:ext cx="10820400" cy="270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4" name="Edited text 184"/>
          <p:cNvSpPr txBox="1"/>
          <p:nvPr/>
        </p:nvSpPr>
        <p:spPr>
          <a:xfrm>
            <a:off x="685800" y="5067300"/>
            <a:ext cx="10820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梯度衡量輸入微調時 loss 的變化。圖是 18 筆原始條件下的梯度 RMS 中位數，使用 log10 刻度。</a:t>
            </a:r>
          </a:p>
          <a:p>
            <a:pPr>
              <a:lnSpc>
                <a:spcPct val="112000"/>
              </a:lnSpc>
              <a:buNone/>
            </a:pPr>
            <a:r>
              <a:rPr lang="zh-TW"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沿用原 loss 與訓練目標；影像和 state 的單位不同，不能直接把倍數當作因果影響。</a:t>
            </a:r>
          </a:p>
        </p:txBody>
      </p:sp>
      <p:sp>
        <p:nvSpPr>
          <p:cNvPr id="185" name="Edited text 185"/>
          <p:cNvSpPr txBox="1"/>
          <p:nvPr/>
        </p:nvSpPr>
        <p:spPr>
          <a:xfrm>
            <a:off x="685800" y="5743575"/>
            <a:ext cx="1082040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Final 影像／state 梯度 RMS：9.775e-15／0.1907；Best：2.580e-15／0.2903。</a:t>
            </a:r>
          </a:p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這些點的影像梯度極小但不是 0，也不能推論所有影像都不影響模型。</a:t>
            </a:r>
          </a:p>
        </p:txBody>
      </p:sp>
    </p:spTree>
    <p:extLst>
      <p:ext uri="{BB962C8B-B14F-4D97-AF65-F5344CB8AC3E}">
        <p14:creationId xmlns:p14="http://schemas.microsoft.com/office/powerpoint/2010/main" val="1290305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Edited text 186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5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還沒開始訓練，梯度往前傳就已大幅變小</a:t>
            </a:r>
          </a:p>
        </p:txBody>
      </p:sp>
      <p:sp>
        <p:nvSpPr>
          <p:cNvPr id="187" name="Edited text 187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20</a:t>
            </a:r>
          </a:p>
        </p:txBody>
      </p:sp>
      <p:sp>
        <p:nvSpPr>
          <p:cNvPr id="188" name="Rule 188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9" name="Edited text 189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90" name="Edited text 190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尚未訓練的對照模型</a:t>
            </a:r>
          </a:p>
        </p:txBody>
      </p:sp>
      <p:sp>
        <p:nvSpPr>
          <p:cNvPr id="191" name="Edited text 191"/>
          <p:cNvSpPr txBox="1"/>
          <p:nvPr/>
        </p:nvSpPr>
        <p:spPr>
          <a:xfrm>
            <a:off x="685800" y="1495425"/>
            <a:ext cx="108204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00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這是訓練造成的嗎？3 個尚未訓練的對照模型，也出現相同現象。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F9C7AABE-6FE2-4B0E-BECA-D6B12E183E6E}"/>
              </a:ext>
            </a:extLst>
          </p:cNvPr>
          <p:cNvGraphicFramePr/>
          <p:nvPr/>
        </p:nvGraphicFramePr>
        <p:xfrm>
          <a:off x="685800" y="2181225"/>
          <a:ext cx="10820400" cy="270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2" name="Edited text 192"/>
          <p:cNvSpPr txBox="1"/>
          <p:nvPr/>
        </p:nvSpPr>
        <p:spPr>
          <a:xfrm>
            <a:off x="685800" y="5067300"/>
            <a:ext cx="10820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 個隨機種子，各測同一批 18 筆快取資料，共 54 筆紀錄；訓練更新次數為 0。</a:t>
            </a:r>
          </a:p>
          <a:p>
            <a:pPr>
              <a:lnSpc>
                <a:spcPct val="112000"/>
              </a:lnSpc>
              <a:buNone/>
            </a:pPr>
            <a:r>
              <a:rPr lang="zh-TW"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以梯度 RMS 中位數比較，Top 比 stem 大約 9.30–9.40 個數量級；不是逐筆比值的平均。</a:t>
            </a:r>
          </a:p>
        </p:txBody>
      </p:sp>
      <p:sp>
        <p:nvSpPr>
          <p:cNvPr id="193" name="Edited text 193"/>
          <p:cNvSpPr txBox="1"/>
          <p:nvPr/>
        </p:nvSpPr>
        <p:spPr>
          <a:xfrm>
            <a:off x="685800" y="5743575"/>
            <a:ext cx="1082040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現象在訓練前就存在，但還不能確定是起始權重的設定造成。</a:t>
            </a:r>
          </a:p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接著看另一個可能影響結果的輸入：state 從哪裡來？</a:t>
            </a:r>
          </a:p>
        </p:txBody>
      </p:sp>
    </p:spTree>
    <p:extLst>
      <p:ext uri="{BB962C8B-B14F-4D97-AF65-F5344CB8AC3E}">
        <p14:creationId xmlns:p14="http://schemas.microsoft.com/office/powerpoint/2010/main" val="438503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2-21-0">
            <a:extLst>
              <a:ext uri="{FF2B5EF4-FFF2-40B4-BE49-F238E27FC236}">
                <a16:creationId xmlns:a16="http://schemas.microsoft.com/office/drawing/2014/main" id="{AFA3716A-7E91-471D-A642-A1ED5271ECD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檢查 STATE 的來源</a:t>
            </a:r>
          </a:p>
        </p:txBody>
      </p:sp>
      <p:sp>
        <p:nvSpPr>
          <p:cNvPr id="2" name="v2-21-1">
            <a:extLst>
              <a:ext uri="{FF2B5EF4-FFF2-40B4-BE49-F238E27FC236}">
                <a16:creationId xmlns:a16="http://schemas.microsoft.com/office/drawing/2014/main" id="{704FCD66-D2CE-42D7-954E-D3E4B6F474EA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dirty="0" err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訓練讀</a:t>
            </a:r>
            <a:r>
              <a:rPr sz="2400" b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 Teacher </a:t>
            </a:r>
            <a:r>
              <a:rPr sz="2400" b="1" dirty="0" err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state，推論卻回饋自己的</a:t>
            </a:r>
            <a:r>
              <a:rPr sz="2400" b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 state</a:t>
            </a:r>
          </a:p>
        </p:txBody>
      </p:sp>
      <p:sp>
        <p:nvSpPr>
          <p:cNvPr id="3" name="v2-21-2">
            <a:extLst>
              <a:ext uri="{FF2B5EF4-FFF2-40B4-BE49-F238E27FC236}">
                <a16:creationId xmlns:a16="http://schemas.microsoft.com/office/drawing/2014/main" id="{43770706-DAE8-4F62-824D-945B9D77729A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v2-21-3">
            <a:extLst>
              <a:ext uri="{FF2B5EF4-FFF2-40B4-BE49-F238E27FC236}">
                <a16:creationId xmlns:a16="http://schemas.microsoft.com/office/drawing/2014/main" id="{68ADFBDF-D432-41A5-9D79-DCCADC46E77A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</a:t>
            </a:r>
          </a:p>
        </p:txBody>
      </p:sp>
      <p:sp>
        <p:nvSpPr>
          <p:cNvPr id="5" name="v2-21-4">
            <a:extLst>
              <a:ext uri="{FF2B5EF4-FFF2-40B4-BE49-F238E27FC236}">
                <a16:creationId xmlns:a16="http://schemas.microsoft.com/office/drawing/2014/main" id="{2B2F5316-3A0B-408D-8C43-482BC4CCCC59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21</a:t>
            </a:r>
          </a:p>
        </p:txBody>
      </p:sp>
      <p:sp>
        <p:nvSpPr>
          <p:cNvPr id="6" name="v2-21-5">
            <a:extLst>
              <a:ext uri="{FF2B5EF4-FFF2-40B4-BE49-F238E27FC236}">
                <a16:creationId xmlns:a16="http://schemas.microsoft.com/office/drawing/2014/main" id="{E2C7AFCF-731C-41A3-9D29-1A3E227742EF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訓練時</a:t>
            </a:r>
          </a:p>
        </p:txBody>
      </p:sp>
      <p:sp>
        <p:nvSpPr>
          <p:cNvPr id="7" name="v2-21-6">
            <a:extLst>
              <a:ext uri="{FF2B5EF4-FFF2-40B4-BE49-F238E27FC236}">
                <a16:creationId xmlns:a16="http://schemas.microsoft.com/office/drawing/2014/main" id="{CB8DB4FB-41D7-43EF-9007-E58DCDEF4C1D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304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Teacher s[t−1]</a:t>
            </a:r>
          </a:p>
        </p:txBody>
      </p:sp>
      <p:sp>
        <p:nvSpPr>
          <p:cNvPr id="8" name="v2-21-7">
            <a:extLst>
              <a:ext uri="{FF2B5EF4-FFF2-40B4-BE49-F238E27FC236}">
                <a16:creationId xmlns:a16="http://schemas.microsoft.com/office/drawing/2014/main" id="{8EDC543F-C9B2-4F42-B769-348A03BC0BD1}"/>
              </a:ext>
            </a:extLst>
          </p:cNvPr>
          <p:cNvSpPr>
            <a:spLocks noGrp="1"/>
          </p:cNvSpPr>
          <p:nvPr/>
        </p:nvSpPr>
        <p:spPr>
          <a:xfrm>
            <a:off x="3724275" y="2505075"/>
            <a:ext cx="781050" cy="13335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v2-21-8">
            <a:extLst>
              <a:ext uri="{FF2B5EF4-FFF2-40B4-BE49-F238E27FC236}">
                <a16:creationId xmlns:a16="http://schemas.microsoft.com/office/drawing/2014/main" id="{5B739DAB-D3E8-4FE6-ABDF-805EFCAB442F}"/>
              </a:ext>
            </a:extLst>
          </p:cNvPr>
          <p:cNvSpPr>
            <a:spLocks noGrp="1"/>
          </p:cNvSpPr>
          <p:nvPr/>
        </p:nvSpPr>
        <p:spPr>
          <a:xfrm>
            <a:off x="4857750" y="2352675"/>
            <a:ext cx="619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Student ＋連續兩張影像</a:t>
            </a:r>
          </a:p>
        </p:txBody>
      </p:sp>
      <p:sp>
        <p:nvSpPr>
          <p:cNvPr id="10" name="v2-21-9">
            <a:extLst>
              <a:ext uri="{FF2B5EF4-FFF2-40B4-BE49-F238E27FC236}">
                <a16:creationId xmlns:a16="http://schemas.microsoft.com/office/drawing/2014/main" id="{2459C151-7EA7-4C1F-951C-9484D1179F03}"/>
              </a:ext>
            </a:extLst>
          </p:cNvPr>
          <p:cNvSpPr>
            <a:spLocks noGrp="1"/>
          </p:cNvSpPr>
          <p:nvPr/>
        </p:nvSpPr>
        <p:spPr>
          <a:xfrm>
            <a:off x="685800" y="3152775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2-21-10">
            <a:extLst>
              <a:ext uri="{FF2B5EF4-FFF2-40B4-BE49-F238E27FC236}">
                <a16:creationId xmlns:a16="http://schemas.microsoft.com/office/drawing/2014/main" id="{8099ED2E-3773-4938-9531-EB8A45C89EBD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自己連續預測時</a:t>
            </a:r>
          </a:p>
        </p:txBody>
      </p:sp>
      <p:sp>
        <p:nvSpPr>
          <p:cNvPr id="12" name="v2-21-11">
            <a:extLst>
              <a:ext uri="{FF2B5EF4-FFF2-40B4-BE49-F238E27FC236}">
                <a16:creationId xmlns:a16="http://schemas.microsoft.com/office/drawing/2014/main" id="{57BE210C-850C-433D-84FF-CE2748B86DEA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304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Student s[t−1]</a:t>
            </a:r>
          </a:p>
        </p:txBody>
      </p:sp>
      <p:sp>
        <p:nvSpPr>
          <p:cNvPr id="13" name="v2-21-12">
            <a:extLst>
              <a:ext uri="{FF2B5EF4-FFF2-40B4-BE49-F238E27FC236}">
                <a16:creationId xmlns:a16="http://schemas.microsoft.com/office/drawing/2014/main" id="{8AE556C4-CA0E-4DA5-85B8-90EA0A06075A}"/>
              </a:ext>
            </a:extLst>
          </p:cNvPr>
          <p:cNvSpPr>
            <a:spLocks noGrp="1"/>
          </p:cNvSpPr>
          <p:nvPr/>
        </p:nvSpPr>
        <p:spPr>
          <a:xfrm>
            <a:off x="3724275" y="4286250"/>
            <a:ext cx="781050" cy="13335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2-21-13">
            <a:extLst>
              <a:ext uri="{FF2B5EF4-FFF2-40B4-BE49-F238E27FC236}">
                <a16:creationId xmlns:a16="http://schemas.microsoft.com/office/drawing/2014/main" id="{4631A5ED-13BC-4653-A1BC-5290998A8528}"/>
              </a:ext>
            </a:extLst>
          </p:cNvPr>
          <p:cNvSpPr>
            <a:spLocks noGrp="1"/>
          </p:cNvSpPr>
          <p:nvPr/>
        </p:nvSpPr>
        <p:spPr>
          <a:xfrm>
            <a:off x="4857750" y="4133850"/>
            <a:ext cx="619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Student ＋連續兩張影像</a:t>
            </a:r>
          </a:p>
        </p:txBody>
      </p:sp>
      <p:sp>
        <p:nvSpPr>
          <p:cNvPr id="15" name="v2-21-14">
            <a:extLst>
              <a:ext uri="{FF2B5EF4-FFF2-40B4-BE49-F238E27FC236}">
                <a16:creationId xmlns:a16="http://schemas.microsoft.com/office/drawing/2014/main" id="{D6C2506B-A1B5-42F5-8512-2EA9BEBA3903}"/>
              </a:ext>
            </a:extLst>
          </p:cNvPr>
          <p:cNvSpPr>
            <a:spLocks noGrp="1"/>
          </p:cNvSpPr>
          <p:nvPr/>
        </p:nvSpPr>
        <p:spPr>
          <a:xfrm>
            <a:off x="8382000" y="4705350"/>
            <a:ext cx="19050" cy="36195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2-21-15">
            <a:extLst>
              <a:ext uri="{FF2B5EF4-FFF2-40B4-BE49-F238E27FC236}">
                <a16:creationId xmlns:a16="http://schemas.microsoft.com/office/drawing/2014/main" id="{C943C6BA-23C1-41DF-823B-E3EFD5509191}"/>
              </a:ext>
            </a:extLst>
          </p:cNvPr>
          <p:cNvSpPr>
            <a:spLocks noGrp="1"/>
          </p:cNvSpPr>
          <p:nvPr/>
        </p:nvSpPr>
        <p:spPr>
          <a:xfrm>
            <a:off x="2181225" y="5057775"/>
            <a:ext cx="6219825" cy="1905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2-21-16">
            <a:extLst>
              <a:ext uri="{FF2B5EF4-FFF2-40B4-BE49-F238E27FC236}">
                <a16:creationId xmlns:a16="http://schemas.microsoft.com/office/drawing/2014/main" id="{1985D027-8ECD-4CDC-9B0A-5679FF36B6C8}"/>
              </a:ext>
            </a:extLst>
          </p:cNvPr>
          <p:cNvSpPr>
            <a:spLocks noGrp="1"/>
          </p:cNvSpPr>
          <p:nvPr/>
        </p:nvSpPr>
        <p:spPr>
          <a:xfrm>
            <a:off x="2105025" y="4752975"/>
            <a:ext cx="152400" cy="323850"/>
          </a:xfrm>
          <a:prstGeom prst="up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v2-21-17">
            <a:extLst>
              <a:ext uri="{FF2B5EF4-FFF2-40B4-BE49-F238E27FC236}">
                <a16:creationId xmlns:a16="http://schemas.microsoft.com/office/drawing/2014/main" id="{8D098479-F08A-403B-98D1-1D86A0661693}"/>
              </a:ext>
            </a:extLst>
          </p:cNvPr>
          <p:cNvSpPr>
            <a:spLocks noGrp="1"/>
          </p:cNvSpPr>
          <p:nvPr/>
        </p:nvSpPr>
        <p:spPr>
          <a:xfrm>
            <a:off x="4010025" y="5229225"/>
            <a:ext cx="561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把自己輸出的 512 個 state 值，送回下一步</a:t>
            </a:r>
          </a:p>
        </p:txBody>
      </p:sp>
      <p:sp>
        <p:nvSpPr>
          <p:cNvPr id="19" name="v2-21-18">
            <a:extLst>
              <a:ext uri="{FF2B5EF4-FFF2-40B4-BE49-F238E27FC236}">
                <a16:creationId xmlns:a16="http://schemas.microsoft.com/office/drawing/2014/main" id="{616E2C11-8A8D-4B69-AFB2-CDDE8C9DC635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推測</a:t>
            </a:r>
            <a:r>
              <a:rPr lang="zh-TW" altLang="en-US"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：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兩種來源的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state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分布不同，可能影響連續預測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Teacher s[t−1] 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只含過去資訊，沒有讀到未來；是否為唯一原因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lang="zh-TW" altLang="en-US"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尚未驗證</a:t>
            </a:r>
            <a:endParaRPr sz="1650" b="0" dirty="0">
              <a:solidFill>
                <a:srgbClr val="475569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1793235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2-22-0">
            <a:extLst>
              <a:ext uri="{FF2B5EF4-FFF2-40B4-BE49-F238E27FC236}">
                <a16:creationId xmlns:a16="http://schemas.microsoft.com/office/drawing/2014/main" id="{ECC74C0A-1BAB-42A4-ADB6-351F7534E838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STATE · 整段影片對照</a:t>
            </a:r>
          </a:p>
        </p:txBody>
      </p:sp>
      <p:sp>
        <p:nvSpPr>
          <p:cNvPr id="2" name="v2-22-1">
            <a:extLst>
              <a:ext uri="{FF2B5EF4-FFF2-40B4-BE49-F238E27FC236}">
                <a16:creationId xmlns:a16="http://schemas.microsoft.com/office/drawing/2014/main" id="{88BA70B7-1838-4E66-A4D9-4813E9FB79A9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換成 Teacher 的 state，整段曲線就明顯不同</a:t>
            </a:r>
          </a:p>
        </p:txBody>
      </p:sp>
      <p:sp>
        <p:nvSpPr>
          <p:cNvPr id="3" name="v2-22-2">
            <a:extLst>
              <a:ext uri="{FF2B5EF4-FFF2-40B4-BE49-F238E27FC236}">
                <a16:creationId xmlns:a16="http://schemas.microsoft.com/office/drawing/2014/main" id="{F4970117-68C8-4BC1-9AF7-2D154A793E6E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v2-22-3">
            <a:extLst>
              <a:ext uri="{FF2B5EF4-FFF2-40B4-BE49-F238E27FC236}">
                <a16:creationId xmlns:a16="http://schemas.microsoft.com/office/drawing/2014/main" id="{F49948EC-2F59-45A0-9351-DD382822F50B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5" name="v2-22-4">
            <a:extLst>
              <a:ext uri="{FF2B5EF4-FFF2-40B4-BE49-F238E27FC236}">
                <a16:creationId xmlns:a16="http://schemas.microsoft.com/office/drawing/2014/main" id="{B33FAA8F-F631-4D2F-801F-805E3FDEB712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22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8BD36A0-B55B-4D2D-BA5D-0849E55B1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2570" y="1990725"/>
            <a:ext cx="5312911" cy="3333750"/>
          </a:xfrm>
          <a:prstGeom prst="rect">
            <a:avLst/>
          </a:prstGeom>
        </p:spPr>
      </p:pic>
      <p:sp>
        <p:nvSpPr>
          <p:cNvPr id="7" name="v2-22-5">
            <a:extLst>
              <a:ext uri="{FF2B5EF4-FFF2-40B4-BE49-F238E27FC236}">
                <a16:creationId xmlns:a16="http://schemas.microsoft.com/office/drawing/2014/main" id="{3109ACB6-811A-424D-A74A-7123F2956F64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600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USA Final · frame 65</a:t>
            </a:r>
          </a:p>
        </p:txBody>
      </p:sp>
      <p:sp>
        <p:nvSpPr>
          <p:cNvPr id="8" name="v2-22-6">
            <a:extLst>
              <a:ext uri="{FF2B5EF4-FFF2-40B4-BE49-F238E27FC236}">
                <a16:creationId xmlns:a16="http://schemas.microsoft.com/office/drawing/2014/main" id="{816D3607-B20B-4109-9D41-0E494991A25D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596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Teacher 黑／自己回饋紅／用 Teacher state 綠虛線</a:t>
            </a:r>
          </a:p>
        </p:txBody>
      </p:sp>
      <p:sp>
        <p:nvSpPr>
          <p:cNvPr id="9" name="v2-22-7">
            <a:extLst>
              <a:ext uri="{FF2B5EF4-FFF2-40B4-BE49-F238E27FC236}">
                <a16:creationId xmlns:a16="http://schemas.microsoft.com/office/drawing/2014/main" id="{A31DA06C-67F0-42F3-BD34-20C3B037AE5C}"/>
              </a:ext>
            </a:extLst>
          </p:cNvPr>
          <p:cNvSpPr>
            <a:spLocks noGrp="1"/>
          </p:cNvSpPr>
          <p:nvPr/>
        </p:nvSpPr>
        <p:spPr>
          <a:xfrm>
            <a:off x="7124700" y="1666875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650" b="1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整段車道寬度≤0 幀數 · 0–40 m</a:t>
            </a:r>
          </a:p>
        </p:txBody>
      </p:sp>
      <p:sp>
        <p:nvSpPr>
          <p:cNvPr id="10" name="v2-22-8">
            <a:extLst>
              <a:ext uri="{FF2B5EF4-FFF2-40B4-BE49-F238E27FC236}">
                <a16:creationId xmlns:a16="http://schemas.microsoft.com/office/drawing/2014/main" id="{7FEB7395-2332-41BF-A4F2-2950F3ACAE69}"/>
              </a:ext>
            </a:extLst>
          </p:cNvPr>
          <p:cNvSpPr>
            <a:spLocks noGrp="1"/>
          </p:cNvSpPr>
          <p:nvPr/>
        </p:nvSpPr>
        <p:spPr>
          <a:xfrm>
            <a:off x="7124700" y="2324100"/>
            <a:ext cx="438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USA · 1199 frames</a:t>
            </a:r>
          </a:p>
        </p:txBody>
      </p:sp>
      <p:sp>
        <p:nvSpPr>
          <p:cNvPr id="11" name="v2-22-9">
            <a:extLst>
              <a:ext uri="{FF2B5EF4-FFF2-40B4-BE49-F238E27FC236}">
                <a16:creationId xmlns:a16="http://schemas.microsoft.com/office/drawing/2014/main" id="{4C2047D8-81CE-45E9-8C20-892EDFD09C56}"/>
              </a:ext>
            </a:extLst>
          </p:cNvPr>
          <p:cNvSpPr>
            <a:spLocks noGrp="1"/>
          </p:cNvSpPr>
          <p:nvPr/>
        </p:nvSpPr>
        <p:spPr>
          <a:xfrm>
            <a:off x="7124700" y="2705100"/>
            <a:ext cx="180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3600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B45309"/>
                </a:solidFill>
                <a:latin typeface="PingFang TC"/>
                <a:ea typeface="PingFang TC"/>
                <a:cs typeface="PingFang TC"/>
              </a:rPr>
              <a:t>1006</a:t>
            </a:r>
          </a:p>
        </p:txBody>
      </p:sp>
      <p:sp>
        <p:nvSpPr>
          <p:cNvPr id="12" name="v2-22-10">
            <a:extLst>
              <a:ext uri="{FF2B5EF4-FFF2-40B4-BE49-F238E27FC236}">
                <a16:creationId xmlns:a16="http://schemas.microsoft.com/office/drawing/2014/main" id="{A33DF4E0-373C-4400-B3A9-D874AA82EF77}"/>
              </a:ext>
            </a:extLst>
          </p:cNvPr>
          <p:cNvSpPr>
            <a:spLocks noGrp="1"/>
          </p:cNvSpPr>
          <p:nvPr/>
        </p:nvSpPr>
        <p:spPr>
          <a:xfrm>
            <a:off x="8924925" y="2914650"/>
            <a:ext cx="666750" cy="13335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2-22-11">
            <a:extLst>
              <a:ext uri="{FF2B5EF4-FFF2-40B4-BE49-F238E27FC236}">
                <a16:creationId xmlns:a16="http://schemas.microsoft.com/office/drawing/2014/main" id="{0B1075BF-59CE-43F6-9949-76F1EE9CB207}"/>
              </a:ext>
            </a:extLst>
          </p:cNvPr>
          <p:cNvSpPr>
            <a:spLocks noGrp="1"/>
          </p:cNvSpPr>
          <p:nvPr/>
        </p:nvSpPr>
        <p:spPr>
          <a:xfrm>
            <a:off x="10058400" y="2705100"/>
            <a:ext cx="1047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36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14" name="v2-22-12">
            <a:extLst>
              <a:ext uri="{FF2B5EF4-FFF2-40B4-BE49-F238E27FC236}">
                <a16:creationId xmlns:a16="http://schemas.microsoft.com/office/drawing/2014/main" id="{578A6F1C-258B-4316-9109-65EC5CB88CE0}"/>
              </a:ext>
            </a:extLst>
          </p:cNvPr>
          <p:cNvSpPr>
            <a:spLocks noGrp="1"/>
          </p:cNvSpPr>
          <p:nvPr/>
        </p:nvSpPr>
        <p:spPr>
          <a:xfrm>
            <a:off x="7124700" y="3562350"/>
            <a:ext cx="438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Taiwan · 1201 frames</a:t>
            </a:r>
          </a:p>
        </p:txBody>
      </p:sp>
      <p:sp>
        <p:nvSpPr>
          <p:cNvPr id="15" name="v2-22-13">
            <a:extLst>
              <a:ext uri="{FF2B5EF4-FFF2-40B4-BE49-F238E27FC236}">
                <a16:creationId xmlns:a16="http://schemas.microsoft.com/office/drawing/2014/main" id="{664D7507-9171-40D8-AE79-1872588E1614}"/>
              </a:ext>
            </a:extLst>
          </p:cNvPr>
          <p:cNvSpPr>
            <a:spLocks noGrp="1"/>
          </p:cNvSpPr>
          <p:nvPr/>
        </p:nvSpPr>
        <p:spPr>
          <a:xfrm>
            <a:off x="7124700" y="3943350"/>
            <a:ext cx="180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3600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B45309"/>
                </a:solidFill>
                <a:latin typeface="PingFang TC"/>
                <a:ea typeface="PingFang TC"/>
                <a:cs typeface="PingFang TC"/>
              </a:rPr>
              <a:t>943</a:t>
            </a:r>
          </a:p>
        </p:txBody>
      </p:sp>
      <p:sp>
        <p:nvSpPr>
          <p:cNvPr id="16" name="v2-22-14">
            <a:extLst>
              <a:ext uri="{FF2B5EF4-FFF2-40B4-BE49-F238E27FC236}">
                <a16:creationId xmlns:a16="http://schemas.microsoft.com/office/drawing/2014/main" id="{42640674-D9F7-4C4D-9D74-ACA3D00F88BA}"/>
              </a:ext>
            </a:extLst>
          </p:cNvPr>
          <p:cNvSpPr>
            <a:spLocks noGrp="1"/>
          </p:cNvSpPr>
          <p:nvPr/>
        </p:nvSpPr>
        <p:spPr>
          <a:xfrm>
            <a:off x="8924925" y="4152900"/>
            <a:ext cx="666750" cy="13335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2-22-15">
            <a:extLst>
              <a:ext uri="{FF2B5EF4-FFF2-40B4-BE49-F238E27FC236}">
                <a16:creationId xmlns:a16="http://schemas.microsoft.com/office/drawing/2014/main" id="{C7507D11-9193-47A4-8416-CCA0C6790530}"/>
              </a:ext>
            </a:extLst>
          </p:cNvPr>
          <p:cNvSpPr>
            <a:spLocks noGrp="1"/>
          </p:cNvSpPr>
          <p:nvPr/>
        </p:nvSpPr>
        <p:spPr>
          <a:xfrm>
            <a:off x="10058400" y="3943350"/>
            <a:ext cx="1047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36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18" name="v2-22-16">
            <a:extLst>
              <a:ext uri="{FF2B5EF4-FFF2-40B4-BE49-F238E27FC236}">
                <a16:creationId xmlns:a16="http://schemas.microsoft.com/office/drawing/2014/main" id="{247C3A47-BA4D-417E-8279-737BAB67F6D5}"/>
              </a:ext>
            </a:extLst>
          </p:cNvPr>
          <p:cNvSpPr>
            <a:spLocks noGrp="1"/>
          </p:cNvSpPr>
          <p:nvPr/>
        </p:nvSpPr>
        <p:spPr>
          <a:xfrm>
            <a:off x="7124700" y="5010150"/>
            <a:ext cx="2000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回饋自己的 state</a:t>
            </a:r>
          </a:p>
        </p:txBody>
      </p:sp>
      <p:sp>
        <p:nvSpPr>
          <p:cNvPr id="19" name="v2-22-17">
            <a:extLst>
              <a:ext uri="{FF2B5EF4-FFF2-40B4-BE49-F238E27FC236}">
                <a16:creationId xmlns:a16="http://schemas.microsoft.com/office/drawing/2014/main" id="{2AD10D14-560D-4840-8523-35D1785B33EC}"/>
              </a:ext>
            </a:extLst>
          </p:cNvPr>
          <p:cNvSpPr>
            <a:spLocks noGrp="1"/>
          </p:cNvSpPr>
          <p:nvPr/>
        </p:nvSpPr>
        <p:spPr>
          <a:xfrm>
            <a:off x="9715500" y="5010150"/>
            <a:ext cx="1809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用 Teacher state</a:t>
            </a:r>
          </a:p>
        </p:txBody>
      </p:sp>
      <p:sp>
        <p:nvSpPr>
          <p:cNvPr id="20" name="v2-22-18">
            <a:extLst>
              <a:ext uri="{FF2B5EF4-FFF2-40B4-BE49-F238E27FC236}">
                <a16:creationId xmlns:a16="http://schemas.microsoft.com/office/drawing/2014/main" id="{4844E324-7569-45EA-82A9-FF72BF15CC4F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觀察：只換 state 的輸入方式，兩段影片的計數就差很多（traffic=[0,0]）。</a:t>
            </a: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限制：實際使用時沒有 Teacher state；計數為 0 也不代表平滑、準確或安全。</a:t>
            </a:r>
          </a:p>
          <a:p>
            <a:pPr algn="l">
              <a:lnSpc>
                <a:spcPct val="112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來源分布不同仍是假設；後續混合 state 訓練也沒達到續訓條件（26–27 頁）。</a:t>
            </a:r>
          </a:p>
        </p:txBody>
      </p:sp>
    </p:spTree>
    <p:extLst>
      <p:ext uri="{BB962C8B-B14F-4D97-AF65-F5344CB8AC3E}">
        <p14:creationId xmlns:p14="http://schemas.microsoft.com/office/powerpoint/2010/main" val="1849719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v2-23-0">
            <a:extLst>
              <a:ext uri="{FF2B5EF4-FFF2-40B4-BE49-F238E27FC236}">
                <a16:creationId xmlns:a16="http://schemas.microsoft.com/office/drawing/2014/main" id="{63C034FD-A992-44B8-BC74-A7E834CDBF15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STATE · 只換一次的反例</a:t>
            </a:r>
          </a:p>
        </p:txBody>
      </p:sp>
      <p:sp>
        <p:nvSpPr>
          <p:cNvPr id="2" name="v2-23-1">
            <a:extLst>
              <a:ext uri="{FF2B5EF4-FFF2-40B4-BE49-F238E27FC236}">
                <a16:creationId xmlns:a16="http://schemas.microsoft.com/office/drawing/2014/main" id="{4A5687FB-0359-4528-82E2-81CF696E4AD0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只換一次 Teacher state，效果取決於時機</a:t>
            </a:r>
          </a:p>
        </p:txBody>
      </p:sp>
      <p:sp>
        <p:nvSpPr>
          <p:cNvPr id="3" name="v2-23-2">
            <a:extLst>
              <a:ext uri="{FF2B5EF4-FFF2-40B4-BE49-F238E27FC236}">
                <a16:creationId xmlns:a16="http://schemas.microsoft.com/office/drawing/2014/main" id="{28CA00AA-9020-4AD7-92A2-000E1D09389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v2-23-3">
            <a:extLst>
              <a:ext uri="{FF2B5EF4-FFF2-40B4-BE49-F238E27FC236}">
                <a16:creationId xmlns:a16="http://schemas.microsoft.com/office/drawing/2014/main" id="{E268B3A8-AAB5-406B-8610-EB94F6D803AC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5" name="v2-23-4">
            <a:extLst>
              <a:ext uri="{FF2B5EF4-FFF2-40B4-BE49-F238E27FC236}">
                <a16:creationId xmlns:a16="http://schemas.microsoft.com/office/drawing/2014/main" id="{ADE398EF-51CD-4ACA-8FF5-F2D2A8C18532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23</a:t>
            </a:r>
          </a:p>
        </p:txBody>
      </p:sp>
      <p:sp>
        <p:nvSpPr>
          <p:cNvPr id="6" name="v2-23-5">
            <a:extLst>
              <a:ext uri="{FF2B5EF4-FFF2-40B4-BE49-F238E27FC236}">
                <a16:creationId xmlns:a16="http://schemas.microsoft.com/office/drawing/2014/main" id="{63ADD575-082D-4ADB-BDD6-44D629FC990F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實驗 A：台灣第 1 幀換入 Teacher state，整段車道寬度≤0 幀數反而增加</a:t>
            </a:r>
          </a:p>
        </p:txBody>
      </p:sp>
      <p:sp>
        <p:nvSpPr>
          <p:cNvPr id="7" name="v2-23-6">
            <a:extLst>
              <a:ext uri="{FF2B5EF4-FFF2-40B4-BE49-F238E27FC236}">
                <a16:creationId xmlns:a16="http://schemas.microsoft.com/office/drawing/2014/main" id="{62F01368-0813-4445-A9BA-ED0C573142A4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285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52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52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943</a:t>
            </a:r>
          </a:p>
        </p:txBody>
      </p:sp>
      <p:sp>
        <p:nvSpPr>
          <p:cNvPr id="8" name="v2-23-7">
            <a:extLst>
              <a:ext uri="{FF2B5EF4-FFF2-40B4-BE49-F238E27FC236}">
                <a16:creationId xmlns:a16="http://schemas.microsoft.com/office/drawing/2014/main" id="{44E6E311-2F11-427C-9D7D-39F5D6692684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維持原本 state</a:t>
            </a:r>
          </a:p>
        </p:txBody>
      </p:sp>
      <p:sp>
        <p:nvSpPr>
          <p:cNvPr id="9" name="v2-23-8">
            <a:extLst>
              <a:ext uri="{FF2B5EF4-FFF2-40B4-BE49-F238E27FC236}">
                <a16:creationId xmlns:a16="http://schemas.microsoft.com/office/drawing/2014/main" id="{8736FD0C-2613-40FD-A5A0-6C87A2816E32}"/>
              </a:ext>
            </a:extLst>
          </p:cNvPr>
          <p:cNvSpPr>
            <a:spLocks noGrp="1"/>
          </p:cNvSpPr>
          <p:nvPr/>
        </p:nvSpPr>
        <p:spPr>
          <a:xfrm>
            <a:off x="3524250" y="2543175"/>
            <a:ext cx="952500" cy="13335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v2-23-9">
            <a:extLst>
              <a:ext uri="{FF2B5EF4-FFF2-40B4-BE49-F238E27FC236}">
                <a16:creationId xmlns:a16="http://schemas.microsoft.com/office/drawing/2014/main" id="{A1CC1254-671A-42AD-B12F-9DF6E90D14C4}"/>
              </a:ext>
            </a:extLst>
          </p:cNvPr>
          <p:cNvSpPr>
            <a:spLocks noGrp="1"/>
          </p:cNvSpPr>
          <p:nvPr/>
        </p:nvSpPr>
        <p:spPr>
          <a:xfrm>
            <a:off x="5057775" y="2171700"/>
            <a:ext cx="314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5250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5250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pPr>
            <a:r>
              <a:rPr sz="5250" b="1">
                <a:solidFill>
                  <a:srgbClr val="B45309"/>
                </a:solidFill>
                <a:latin typeface="PingFang TC"/>
                <a:ea typeface="PingFang TC"/>
                <a:cs typeface="PingFang TC"/>
              </a:rPr>
              <a:t>1006</a:t>
            </a:r>
          </a:p>
        </p:txBody>
      </p:sp>
      <p:sp>
        <p:nvSpPr>
          <p:cNvPr id="11" name="v2-23-10">
            <a:extLst>
              <a:ext uri="{FF2B5EF4-FFF2-40B4-BE49-F238E27FC236}">
                <a16:creationId xmlns:a16="http://schemas.microsoft.com/office/drawing/2014/main" id="{E91F2B3C-086F-4851-BF20-C847324D3924}"/>
              </a:ext>
            </a:extLst>
          </p:cNvPr>
          <p:cNvSpPr>
            <a:spLocks noGrp="1"/>
          </p:cNvSpPr>
          <p:nvPr/>
        </p:nvSpPr>
        <p:spPr>
          <a:xfrm>
            <a:off x="5057775" y="30861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第 1 幀換入後</a:t>
            </a:r>
          </a:p>
        </p:txBody>
      </p:sp>
      <p:sp>
        <p:nvSpPr>
          <p:cNvPr id="12" name="v2-23-11">
            <a:extLst>
              <a:ext uri="{FF2B5EF4-FFF2-40B4-BE49-F238E27FC236}">
                <a16:creationId xmlns:a16="http://schemas.microsoft.com/office/drawing/2014/main" id="{327CE325-E407-4EF7-9F90-7D5503B03886}"/>
              </a:ext>
            </a:extLst>
          </p:cNvPr>
          <p:cNvSpPr>
            <a:spLocks noGrp="1"/>
          </p:cNvSpPr>
          <p:nvPr/>
        </p:nvSpPr>
        <p:spPr>
          <a:xfrm>
            <a:off x="8782050" y="2409825"/>
            <a:ext cx="27241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625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B45309"/>
                </a:solidFill>
                <a:latin typeface="PingFang TC"/>
                <a:ea typeface="PingFang TC"/>
                <a:cs typeface="PingFang TC"/>
              </a:rPr>
              <a:t>多 63 幀</a:t>
            </a:r>
          </a:p>
        </p:txBody>
      </p:sp>
      <p:sp>
        <p:nvSpPr>
          <p:cNvPr id="13" name="v2-23-12">
            <a:extLst>
              <a:ext uri="{FF2B5EF4-FFF2-40B4-BE49-F238E27FC236}">
                <a16:creationId xmlns:a16="http://schemas.microsoft.com/office/drawing/2014/main" id="{EFBD80B2-F40F-465C-9899-56A31DA84903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2-23-13">
            <a:extLst>
              <a:ext uri="{FF2B5EF4-FFF2-40B4-BE49-F238E27FC236}">
                <a16:creationId xmlns:a16="http://schemas.microsoft.com/office/drawing/2014/main" id="{F242267D-1F16-4D82-A6F1-513C97879EFB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實驗 B：第 135 幀換入，短暫改善後又出現異常</a:t>
            </a:r>
          </a:p>
        </p:txBody>
      </p:sp>
      <p:sp>
        <p:nvSpPr>
          <p:cNvPr id="15" name="v2-23-14">
            <a:extLst>
              <a:ext uri="{FF2B5EF4-FFF2-40B4-BE49-F238E27FC236}">
                <a16:creationId xmlns:a16="http://schemas.microsoft.com/office/drawing/2014/main" id="{AE90CE20-75E1-4602-9674-14C23A82FA76}"/>
              </a:ext>
            </a:extLst>
          </p:cNvPr>
          <p:cNvSpPr>
            <a:spLocks noGrp="1"/>
          </p:cNvSpPr>
          <p:nvPr/>
        </p:nvSpPr>
        <p:spPr>
          <a:xfrm>
            <a:off x="1524000" y="4867275"/>
            <a:ext cx="8953500" cy="28575"/>
          </a:xfrm>
          <a:prstGeom prst="rect">
            <a:avLst/>
          </a:prstGeom>
          <a:solidFill>
            <a:srgbClr val="47556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2-23-15">
            <a:extLst>
              <a:ext uri="{FF2B5EF4-FFF2-40B4-BE49-F238E27FC236}">
                <a16:creationId xmlns:a16="http://schemas.microsoft.com/office/drawing/2014/main" id="{ECD498D5-1ADA-4015-9B2B-14215A54B6D3}"/>
              </a:ext>
            </a:extLst>
          </p:cNvPr>
          <p:cNvSpPr>
            <a:spLocks noGrp="1"/>
          </p:cNvSpPr>
          <p:nvPr/>
        </p:nvSpPr>
        <p:spPr>
          <a:xfrm>
            <a:off x="1476375" y="4829175"/>
            <a:ext cx="114300" cy="1143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2-23-16">
            <a:extLst>
              <a:ext uri="{FF2B5EF4-FFF2-40B4-BE49-F238E27FC236}">
                <a16:creationId xmlns:a16="http://schemas.microsoft.com/office/drawing/2014/main" id="{451578F3-4586-4848-ACF8-42177CA47524}"/>
              </a:ext>
            </a:extLst>
          </p:cNvPr>
          <p:cNvSpPr>
            <a:spLocks noGrp="1"/>
          </p:cNvSpPr>
          <p:nvPr/>
        </p:nvSpPr>
        <p:spPr>
          <a:xfrm>
            <a:off x="628650" y="5095875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ctr">
              <a:lnSpc>
                <a:spcPct val="112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135</a:t>
            </a:r>
          </a:p>
          <a:p>
            <a:pPr algn="ctr">
              <a:lnSpc>
                <a:spcPct val="112000"/>
              </a:lnSpc>
              <a:buNone/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換入</a:t>
            </a:r>
          </a:p>
        </p:txBody>
      </p:sp>
      <p:sp>
        <p:nvSpPr>
          <p:cNvPr id="18" name="v2-23-17">
            <a:extLst>
              <a:ext uri="{FF2B5EF4-FFF2-40B4-BE49-F238E27FC236}">
                <a16:creationId xmlns:a16="http://schemas.microsoft.com/office/drawing/2014/main" id="{3DB007B5-8502-4AA2-9FCE-49A00C8C9732}"/>
              </a:ext>
            </a:extLst>
          </p:cNvPr>
          <p:cNvSpPr>
            <a:spLocks noGrp="1"/>
          </p:cNvSpPr>
          <p:nvPr/>
        </p:nvSpPr>
        <p:spPr>
          <a:xfrm>
            <a:off x="5000625" y="4829175"/>
            <a:ext cx="114300" cy="1143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v2-23-18">
            <a:extLst>
              <a:ext uri="{FF2B5EF4-FFF2-40B4-BE49-F238E27FC236}">
                <a16:creationId xmlns:a16="http://schemas.microsoft.com/office/drawing/2014/main" id="{FAD7F598-A9F7-4711-B857-956787BB6E83}"/>
              </a:ext>
            </a:extLst>
          </p:cNvPr>
          <p:cNvSpPr>
            <a:spLocks noGrp="1"/>
          </p:cNvSpPr>
          <p:nvPr/>
        </p:nvSpPr>
        <p:spPr>
          <a:xfrm>
            <a:off x="4152900" y="5095875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ctr">
              <a:lnSpc>
                <a:spcPct val="112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接下來 100 幀</a:t>
            </a:r>
          </a:p>
          <a:p>
            <a:pPr algn="ctr">
              <a:lnSpc>
                <a:spcPct val="112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寬度／path-out 異常 = 0</a:t>
            </a:r>
          </a:p>
        </p:txBody>
      </p:sp>
      <p:sp>
        <p:nvSpPr>
          <p:cNvPr id="20" name="v2-23-19">
            <a:extLst>
              <a:ext uri="{FF2B5EF4-FFF2-40B4-BE49-F238E27FC236}">
                <a16:creationId xmlns:a16="http://schemas.microsoft.com/office/drawing/2014/main" id="{4DA3C0AD-C31B-49DC-B46E-9A55A085FB7F}"/>
              </a:ext>
            </a:extLst>
          </p:cNvPr>
          <p:cNvSpPr>
            <a:spLocks noGrp="1"/>
          </p:cNvSpPr>
          <p:nvPr/>
        </p:nvSpPr>
        <p:spPr>
          <a:xfrm>
            <a:off x="8181975" y="4829175"/>
            <a:ext cx="114300" cy="1143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v2-23-20">
            <a:extLst>
              <a:ext uri="{FF2B5EF4-FFF2-40B4-BE49-F238E27FC236}">
                <a16:creationId xmlns:a16="http://schemas.microsoft.com/office/drawing/2014/main" id="{E2A97720-8E47-4F35-B140-F58223AEF514}"/>
              </a:ext>
            </a:extLst>
          </p:cNvPr>
          <p:cNvSpPr>
            <a:spLocks noGrp="1"/>
          </p:cNvSpPr>
          <p:nvPr/>
        </p:nvSpPr>
        <p:spPr>
          <a:xfrm>
            <a:off x="7334250" y="5095875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ctr">
              <a:lnSpc>
                <a:spcPct val="112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282</a:t>
            </a:r>
          </a:p>
          <a:p>
            <a:pPr algn="ctr">
              <a:lnSpc>
                <a:spcPct val="112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路徑越出預測車道</a:t>
            </a:r>
          </a:p>
        </p:txBody>
      </p:sp>
      <p:sp>
        <p:nvSpPr>
          <p:cNvPr id="22" name="v2-23-21">
            <a:extLst>
              <a:ext uri="{FF2B5EF4-FFF2-40B4-BE49-F238E27FC236}">
                <a16:creationId xmlns:a16="http://schemas.microsoft.com/office/drawing/2014/main" id="{F3E94996-D6EC-418C-BFE9-D65965799386}"/>
              </a:ext>
            </a:extLst>
          </p:cNvPr>
          <p:cNvSpPr>
            <a:spLocks noGrp="1"/>
          </p:cNvSpPr>
          <p:nvPr/>
        </p:nvSpPr>
        <p:spPr>
          <a:xfrm>
            <a:off x="10429875" y="4829175"/>
            <a:ext cx="114300" cy="1143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v2-23-22">
            <a:extLst>
              <a:ext uri="{FF2B5EF4-FFF2-40B4-BE49-F238E27FC236}">
                <a16:creationId xmlns:a16="http://schemas.microsoft.com/office/drawing/2014/main" id="{5BDD54E2-D1E1-4725-A4E6-CCC319932761}"/>
              </a:ext>
            </a:extLst>
          </p:cNvPr>
          <p:cNvSpPr>
            <a:spLocks noGrp="1"/>
          </p:cNvSpPr>
          <p:nvPr/>
        </p:nvSpPr>
        <p:spPr>
          <a:xfrm>
            <a:off x="9582150" y="5095875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ctr">
              <a:lnSpc>
                <a:spcPct val="112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352</a:t>
            </a:r>
          </a:p>
          <a:p>
            <a:pPr algn="ctr">
              <a:lnSpc>
                <a:spcPct val="112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寬度≤0 再出現</a:t>
            </a:r>
          </a:p>
        </p:txBody>
      </p:sp>
      <p:sp>
        <p:nvSpPr>
          <p:cNvPr id="24" name="v2-23-23">
            <a:extLst>
              <a:ext uri="{FF2B5EF4-FFF2-40B4-BE49-F238E27FC236}">
                <a16:creationId xmlns:a16="http://schemas.microsoft.com/office/drawing/2014/main" id="{7C4F66B5-5E08-484D-8406-2423DD102D1A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換入時機不同，效果也不同，尚未找到持續恢復的方法。上圖為台灣；美國在第 245／313 幀再出現路徑／寬度異常。</a:t>
            </a:r>
          </a:p>
        </p:txBody>
      </p:sp>
    </p:spTree>
    <p:extLst>
      <p:ext uri="{BB962C8B-B14F-4D97-AF65-F5344CB8AC3E}">
        <p14:creationId xmlns:p14="http://schemas.microsoft.com/office/powerpoint/2010/main" val="685622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Edited text 194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5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改 Depthwise 起始權重，5 項檢查只通過 2 項</a:t>
            </a:r>
          </a:p>
        </p:txBody>
      </p:sp>
      <p:sp>
        <p:nvSpPr>
          <p:cNvPr id="195" name="Edited text 195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24</a:t>
            </a:r>
          </a:p>
        </p:txBody>
      </p:sp>
      <p:sp>
        <p:nvSpPr>
          <p:cNvPr id="196" name="Rule 196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7" name="Edited text 197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98" name="Edited text 198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修復實驗 1 · 不繼續長訓練</a:t>
            </a:r>
          </a:p>
        </p:txBody>
      </p:sp>
      <p:sp>
        <p:nvSpPr>
          <p:cNvPr id="199" name="Edited text 199"/>
          <p:cNvSpPr txBox="1"/>
          <p:nvPr/>
        </p:nvSpPr>
        <p:spPr>
          <a:xfrm>
            <a:off x="685800" y="1562100"/>
            <a:ext cx="108204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兩組都訓練 8 epochs ×20 步 ×每批 2 筆，只改 depthwise 起始權重的設定；用固定 120 筆驗證。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7010770-09B4-46F8-897E-7444AC30C3BF}"/>
              </a:ext>
            </a:extLst>
          </p:cNvPr>
          <p:cNvGraphicFramePr/>
          <p:nvPr/>
        </p:nvGraphicFramePr>
        <p:xfrm>
          <a:off x="685800" y="2257425"/>
          <a:ext cx="10820400" cy="2943228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5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繼續長訓練的條件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原設定 → 修改後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結果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總 loss 降低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12.2589 →12.2391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166534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通過（−0.16%）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路徑／車道誤差 MSE 降低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23.9895／23.4174 →23.9954／23.4308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B4530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未通過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曲線更平滑（二階差分降低）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0.4223 →0.4909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B4530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未通過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車道線交錯次數不增加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已測片段：0 →0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166534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通過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換影像時，路徑反應變大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1.47e−7 →4.06e−8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75" b="1" noProof="1">
                          <a:solidFill>
                            <a:srgbClr val="B4530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未通過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0" name="Edited text 200"/>
          <p:cNvSpPr txBox="1"/>
          <p:nvPr/>
        </p:nvSpPr>
        <p:spPr>
          <a:xfrm>
            <a:off x="685800" y="5400675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不繼續長訓練：3 項條件沒通過，不能只看總 loss 有降低。</a:t>
            </a:r>
          </a:p>
        </p:txBody>
      </p:sp>
      <p:sp>
        <p:nvSpPr>
          <p:cNvPr id="201" name="Edited text 201"/>
          <p:cNvSpPr txBox="1"/>
          <p:nvPr/>
        </p:nvSpPr>
        <p:spPr>
          <a:xfrm>
            <a:off x="685800" y="5991225"/>
            <a:ext cx="10820400" cy="314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4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CONFIRMED｜兩組短訓練都完成，但還沒證明能修好曲線，因此沒有繼續長訓練。</a:t>
            </a:r>
          </a:p>
        </p:txBody>
      </p:sp>
    </p:spTree>
    <p:extLst>
      <p:ext uri="{BB962C8B-B14F-4D97-AF65-F5344CB8AC3E}">
        <p14:creationId xmlns:p14="http://schemas.microsoft.com/office/powerpoint/2010/main" val="1197123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2-25-0">
            <a:extLst>
              <a:ext uri="{FF2B5EF4-FFF2-40B4-BE49-F238E27FC236}">
                <a16:creationId xmlns:a16="http://schemas.microsoft.com/office/drawing/2014/main" id="{E176CD14-AB93-444C-B4E1-CECD392F0AF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修復實驗 2 · 固定 BEST 模型</a:t>
            </a:r>
          </a:p>
        </p:txBody>
      </p:sp>
      <p:sp>
        <p:nvSpPr>
          <p:cNvPr id="2" name="v2-25-1">
            <a:extLst>
              <a:ext uri="{FF2B5EF4-FFF2-40B4-BE49-F238E27FC236}">
                <a16:creationId xmlns:a16="http://schemas.microsoft.com/office/drawing/2014/main" id="{8AC9A6CA-BE25-4C63-B9DE-1ECFA3EB689F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混入 Best 模型的 state，能讓連續預測更穩嗎？</a:t>
            </a:r>
          </a:p>
        </p:txBody>
      </p:sp>
      <p:sp>
        <p:nvSpPr>
          <p:cNvPr id="3" name="v2-25-2">
            <a:extLst>
              <a:ext uri="{FF2B5EF4-FFF2-40B4-BE49-F238E27FC236}">
                <a16:creationId xmlns:a16="http://schemas.microsoft.com/office/drawing/2014/main" id="{3B6FB58A-B756-4232-829B-90E606688FAC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v2-25-3">
            <a:extLst>
              <a:ext uri="{FF2B5EF4-FFF2-40B4-BE49-F238E27FC236}">
                <a16:creationId xmlns:a16="http://schemas.microsoft.com/office/drawing/2014/main" id="{BA15101F-2C7B-4395-BC3B-4F3AC070CB0D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</a:t>
            </a:r>
          </a:p>
        </p:txBody>
      </p:sp>
      <p:sp>
        <p:nvSpPr>
          <p:cNvPr id="5" name="v2-25-4">
            <a:extLst>
              <a:ext uri="{FF2B5EF4-FFF2-40B4-BE49-F238E27FC236}">
                <a16:creationId xmlns:a16="http://schemas.microsoft.com/office/drawing/2014/main" id="{8FB103B3-6A17-40ED-AD32-78757B9792C3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25</a:t>
            </a:r>
          </a:p>
        </p:txBody>
      </p:sp>
      <p:sp>
        <p:nvSpPr>
          <p:cNvPr id="6" name="v2-25-5">
            <a:extLst>
              <a:ext uri="{FF2B5EF4-FFF2-40B4-BE49-F238E27FC236}">
                <a16:creationId xmlns:a16="http://schemas.microsoft.com/office/drawing/2014/main" id="{EF03CBBA-CAFB-4F72-A695-B9B6D4A2807F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3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Teacher s[t−1]</a:t>
            </a:r>
          </a:p>
        </p:txBody>
      </p:sp>
      <p:sp>
        <p:nvSpPr>
          <p:cNvPr id="7" name="v2-25-6">
            <a:extLst>
              <a:ext uri="{FF2B5EF4-FFF2-40B4-BE49-F238E27FC236}">
                <a16:creationId xmlns:a16="http://schemas.microsoft.com/office/drawing/2014/main" id="{62A60373-558D-45B8-BEEA-0784E3AFBF01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1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固定 Best 模型的 s[t−1]</a:t>
            </a:r>
          </a:p>
        </p:txBody>
      </p:sp>
      <p:sp>
        <p:nvSpPr>
          <p:cNvPr id="8" name="v2-25-7">
            <a:extLst>
              <a:ext uri="{FF2B5EF4-FFF2-40B4-BE49-F238E27FC236}">
                <a16:creationId xmlns:a16="http://schemas.microsoft.com/office/drawing/2014/main" id="{212B0A38-829C-4D49-94A4-CC35B165C1D5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4286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每段影片從頭跑，先存好 state</a:t>
            </a:r>
          </a:p>
        </p:txBody>
      </p:sp>
      <p:sp>
        <p:nvSpPr>
          <p:cNvPr id="9" name="v2-25-8">
            <a:extLst>
              <a:ext uri="{FF2B5EF4-FFF2-40B4-BE49-F238E27FC236}">
                <a16:creationId xmlns:a16="http://schemas.microsoft.com/office/drawing/2014/main" id="{92B11207-A1EF-4C1B-A5F1-B72A4318DA46}"/>
              </a:ext>
            </a:extLst>
          </p:cNvPr>
          <p:cNvSpPr>
            <a:spLocks noGrp="1"/>
          </p:cNvSpPr>
          <p:nvPr/>
        </p:nvSpPr>
        <p:spPr>
          <a:xfrm>
            <a:off x="4362450" y="1981200"/>
            <a:ext cx="714375" cy="13335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v2-25-9">
            <a:extLst>
              <a:ext uri="{FF2B5EF4-FFF2-40B4-BE49-F238E27FC236}">
                <a16:creationId xmlns:a16="http://schemas.microsoft.com/office/drawing/2014/main" id="{69A6BFDD-6A53-4BBD-AFCF-48F93B5CC227}"/>
              </a:ext>
            </a:extLst>
          </p:cNvPr>
          <p:cNvSpPr>
            <a:spLocks noGrp="1"/>
          </p:cNvSpPr>
          <p:nvPr/>
        </p:nvSpPr>
        <p:spPr>
          <a:xfrm>
            <a:off x="4362450" y="3200400"/>
            <a:ext cx="714375" cy="13335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v2-25-10">
            <a:extLst>
              <a:ext uri="{FF2B5EF4-FFF2-40B4-BE49-F238E27FC236}">
                <a16:creationId xmlns:a16="http://schemas.microsoft.com/office/drawing/2014/main" id="{8A6E0F4F-A04D-4C7B-AF04-A43376B466AD}"/>
              </a:ext>
            </a:extLst>
          </p:cNvPr>
          <p:cNvSpPr>
            <a:spLocks noGrp="1"/>
          </p:cNvSpPr>
          <p:nvPr/>
        </p:nvSpPr>
        <p:spPr>
          <a:xfrm>
            <a:off x="5362575" y="1809750"/>
            <a:ext cx="2400300" cy="2028825"/>
          </a:xfrm>
          <a:prstGeom prst="rect">
            <a:avLst/>
          </a:prstGeom>
          <a:solidFill>
            <a:srgbClr val="EDE9F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2-25-11">
            <a:extLst>
              <a:ext uri="{FF2B5EF4-FFF2-40B4-BE49-F238E27FC236}">
                <a16:creationId xmlns:a16="http://schemas.microsoft.com/office/drawing/2014/main" id="{B2A07CB7-EA85-41BB-ABCC-1B6D0A70249E}"/>
              </a:ext>
            </a:extLst>
          </p:cNvPr>
          <p:cNvSpPr>
            <a:spLocks noGrp="1"/>
          </p:cNvSpPr>
          <p:nvPr/>
        </p:nvSpPr>
        <p:spPr>
          <a:xfrm>
            <a:off x="5581650" y="2047875"/>
            <a:ext cx="195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每筆選一種來源</a:t>
            </a:r>
          </a:p>
        </p:txBody>
      </p:sp>
      <p:sp>
        <p:nvSpPr>
          <p:cNvPr id="13" name="v2-25-12">
            <a:extLst>
              <a:ext uri="{FF2B5EF4-FFF2-40B4-BE49-F238E27FC236}">
                <a16:creationId xmlns:a16="http://schemas.microsoft.com/office/drawing/2014/main" id="{AA0A1618-E958-4A3F-82E0-A0D723449E5F}"/>
              </a:ext>
            </a:extLst>
          </p:cNvPr>
          <p:cNvSpPr>
            <a:spLocks noGrp="1"/>
          </p:cNvSpPr>
          <p:nvPr/>
        </p:nvSpPr>
        <p:spPr>
          <a:xfrm>
            <a:off x="5581650" y="2676525"/>
            <a:ext cx="195262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選 Best 的機率</a:t>
            </a: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q＝0／25／50%</a:t>
            </a:r>
          </a:p>
        </p:txBody>
      </p:sp>
      <p:sp>
        <p:nvSpPr>
          <p:cNvPr id="14" name="v2-25-13">
            <a:extLst>
              <a:ext uri="{FF2B5EF4-FFF2-40B4-BE49-F238E27FC236}">
                <a16:creationId xmlns:a16="http://schemas.microsoft.com/office/drawing/2014/main" id="{4ABDF831-3FD9-4E78-99F3-53253AA70DAF}"/>
              </a:ext>
            </a:extLst>
          </p:cNvPr>
          <p:cNvSpPr>
            <a:spLocks noGrp="1"/>
          </p:cNvSpPr>
          <p:nvPr/>
        </p:nvSpPr>
        <p:spPr>
          <a:xfrm>
            <a:off x="8001000" y="2714625"/>
            <a:ext cx="714375" cy="13335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2-25-14">
            <a:extLst>
              <a:ext uri="{FF2B5EF4-FFF2-40B4-BE49-F238E27FC236}">
                <a16:creationId xmlns:a16="http://schemas.microsoft.com/office/drawing/2014/main" id="{201AD3E6-200E-4753-AF4E-30BAB1EE8023}"/>
              </a:ext>
            </a:extLst>
          </p:cNvPr>
          <p:cNvSpPr>
            <a:spLocks noGrp="1"/>
          </p:cNvSpPr>
          <p:nvPr/>
        </p:nvSpPr>
        <p:spPr>
          <a:xfrm>
            <a:off x="9020175" y="221932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相同 Student</a:t>
            </a:r>
          </a:p>
        </p:txBody>
      </p:sp>
      <p:sp>
        <p:nvSpPr>
          <p:cNvPr id="16" name="v2-25-15">
            <a:extLst>
              <a:ext uri="{FF2B5EF4-FFF2-40B4-BE49-F238E27FC236}">
                <a16:creationId xmlns:a16="http://schemas.microsoft.com/office/drawing/2014/main" id="{2448DA7E-F389-485C-9088-ED531DBCAE92}"/>
              </a:ext>
            </a:extLst>
          </p:cNvPr>
          <p:cNvSpPr>
            <a:spLocks noGrp="1"/>
          </p:cNvSpPr>
          <p:nvPr/>
        </p:nvSpPr>
        <p:spPr>
          <a:xfrm>
            <a:off x="9020175" y="2867025"/>
            <a:ext cx="2476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Teacher 訓練目標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保持不變</a:t>
            </a:r>
          </a:p>
        </p:txBody>
      </p:sp>
      <p:sp>
        <p:nvSpPr>
          <p:cNvPr id="17" name="v2-25-16">
            <a:extLst>
              <a:ext uri="{FF2B5EF4-FFF2-40B4-BE49-F238E27FC236}">
                <a16:creationId xmlns:a16="http://schemas.microsoft.com/office/drawing/2014/main" id="{B9067DA0-5CAA-4E78-8655-D7BE9A62624E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v2-25-17">
            <a:extLst>
              <a:ext uri="{FF2B5EF4-FFF2-40B4-BE49-F238E27FC236}">
                <a16:creationId xmlns:a16="http://schemas.microsoft.com/office/drawing/2014/main" id="{5F61B448-C756-4987-BEBE-48A13EF83703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108204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9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E0  0%       E1  25%       E2  50%</a:t>
            </a:r>
          </a:p>
        </p:txBody>
      </p:sp>
      <p:sp>
        <p:nvSpPr>
          <p:cNvPr id="19" name="v2-25-18">
            <a:extLst>
              <a:ext uri="{FF2B5EF4-FFF2-40B4-BE49-F238E27FC236}">
                <a16:creationId xmlns:a16="http://schemas.microsoft.com/office/drawing/2014/main" id="{7041E57F-BEAD-45E6-8963-05F8C450A272}"/>
              </a:ext>
            </a:extLst>
          </p:cNvPr>
          <p:cNvSpPr>
            <a:spLocks noGrp="1"/>
          </p:cNvSpPr>
          <p:nvPr/>
        </p:nvSpPr>
        <p:spPr>
          <a:xfrm>
            <a:off x="685800" y="5172075"/>
            <a:ext cx="108204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都訓練 8 epochs ×20 步 ×每批 2 筆；起始權重、資料、Adam 與 loss 相同</a:t>
            </a:r>
          </a:p>
        </p:txBody>
      </p:sp>
      <p:sp>
        <p:nvSpPr>
          <p:cNvPr id="20" name="v2-25-19">
            <a:extLst>
              <a:ext uri="{FF2B5EF4-FFF2-40B4-BE49-F238E27FC236}">
                <a16:creationId xmlns:a16="http://schemas.microsoft.com/office/drawing/2014/main" id="{DAB48A4E-0D3F-46AA-87C9-10C82864DDD4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只用過去的</a:t>
            </a:r>
            <a:r>
              <a:rPr sz="15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50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state，且</a:t>
            </a:r>
            <a:r>
              <a:rPr sz="15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Best </a:t>
            </a:r>
            <a:r>
              <a:rPr sz="150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模型先固定、不隨訓練更新；不測動態快取、BPTT</a:t>
            </a:r>
            <a:r>
              <a:rPr sz="15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50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或自動調整混合比例</a:t>
            </a:r>
            <a:endParaRPr sz="1500" b="0" dirty="0">
              <a:solidFill>
                <a:srgbClr val="475569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1290305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Edited text 202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5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混合 state 後異常更多，因此不繼續長訓練</a:t>
            </a:r>
          </a:p>
        </p:txBody>
      </p:sp>
      <p:sp>
        <p:nvSpPr>
          <p:cNvPr id="203" name="Edited text 203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26</a:t>
            </a:r>
          </a:p>
        </p:txBody>
      </p:sp>
      <p:sp>
        <p:nvSpPr>
          <p:cNvPr id="204" name="Rule 204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5" name="Edited text 205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06" name="Edited text 206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修復實驗 2 · 比較 E0／E1／E2</a:t>
            </a:r>
          </a:p>
        </p:txBody>
      </p:sp>
      <p:sp>
        <p:nvSpPr>
          <p:cNvPr id="207" name="review2-26-0">
            <a:extLst>
              <a:ext uri="{FF2B5EF4-FFF2-40B4-BE49-F238E27FC236}">
                <a16:creationId xmlns:a16="http://schemas.microsoft.com/office/drawing/2014/main" id="{CD87CC89-E8EA-4A54-9E0D-EF1B7396BDAB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10820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75" b="1">
                <a:solidFill>
                  <a:srgbClr val="B4530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B45309"/>
                </a:solidFill>
                <a:latin typeface="PingFang TC"/>
                <a:ea typeface="PingFang TC"/>
                <a:cs typeface="PingFang TC"/>
              </a:rPr>
              <a:t>E1／E2 在兩段影片的 path-out 都增加，state 大小（RMS）也高於 E0。</a:t>
            </a:r>
          </a:p>
        </p:txBody>
      </p:sp>
      <p:sp>
        <p:nvSpPr>
          <p:cNvPr id="208" name="review2-26-1">
            <a:extLst>
              <a:ext uri="{FF2B5EF4-FFF2-40B4-BE49-F238E27FC236}">
                <a16:creationId xmlns:a16="http://schemas.microsoft.com/office/drawing/2014/main" id="{7C44D415-2D62-4997-ACA7-E044308F58EF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State 大小 RMS（E0／E1／E2）：USA 8.237／16.280／13.075；Taiwan 8.259／16.286／13.066。</a:t>
            </a:r>
          </a:p>
        </p:txBody>
      </p:sp>
      <p:sp>
        <p:nvSpPr>
          <p:cNvPr id="209" name="review2-26-2">
            <a:extLst>
              <a:ext uri="{FF2B5EF4-FFF2-40B4-BE49-F238E27FC236}">
                <a16:creationId xmlns:a16="http://schemas.microsoft.com/office/drawing/2014/main" id="{2E521504-0C46-420D-A970-EE81AFFF4357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E0 美國的失敗計數已經是 0，無法證明原訂「非零失敗計數再降 ≥20%」。</a:t>
            </a:r>
          </a:p>
          <a:p>
            <a:pPr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因此不能算通過，也沒有事後放寬標準；完整條件與數值保留在備註及原始決策紀錄。</a:t>
            </a:r>
          </a:p>
        </p:txBody>
      </p:sp>
      <p:sp>
        <p:nvSpPr>
          <p:cNvPr id="210" name="review2-26-3">
            <a:extLst>
              <a:ext uri="{FF2B5EF4-FFF2-40B4-BE49-F238E27FC236}">
                <a16:creationId xmlns:a16="http://schemas.microsoft.com/office/drawing/2014/main" id="{78360EF2-BCE0-47AE-A169-13F17A963568}"/>
              </a:ext>
            </a:extLst>
          </p:cNvPr>
          <p:cNvSpPr>
            <a:spLocks noGrp="1"/>
          </p:cNvSpPr>
          <p:nvPr/>
        </p:nvSpPr>
        <p:spPr>
          <a:xfrm>
            <a:off x="685800" y="6010275"/>
            <a:ext cx="10820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Path-out 指預測路徑超出「預測車道」，不是實車偏離道路；結論只涵蓋本次短訓練。</a:t>
            </a:r>
          </a:p>
        </p:txBody>
      </p:sp>
      <p:graphicFrame>
        <p:nvGraphicFramePr>
          <p:cNvPr id="211" name="表格 210">
            <a:extLst>
              <a:ext uri="{FF2B5EF4-FFF2-40B4-BE49-F238E27FC236}">
                <a16:creationId xmlns:a16="http://schemas.microsoft.com/office/drawing/2014/main" id="{B18FB4E0-7869-4462-877F-3486E1346E25}"/>
              </a:ext>
            </a:extLst>
          </p:cNvPr>
          <p:cNvGraphicFramePr/>
          <p:nvPr/>
        </p:nvGraphicFramePr>
        <p:xfrm>
          <a:off x="685800" y="1609725"/>
          <a:ext cx="10820400" cy="2495552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相同訓練量／同批評估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E0 · 0%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E1 · 25%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E2 · 50%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驗證 loss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14.4614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16.3557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17.5898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美國 path-out／1199 幀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14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412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台灣 path-out／1201 幀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164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9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731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784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Edited text 213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4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平均誤差變小，不代表連續預測更穩</a:t>
            </a:r>
          </a:p>
        </p:txBody>
      </p:sp>
      <p:sp>
        <p:nvSpPr>
          <p:cNvPr id="214" name="Edited text 214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27</a:t>
            </a:r>
          </a:p>
        </p:txBody>
      </p:sp>
      <p:sp>
        <p:nvSpPr>
          <p:cNvPr id="215" name="Rule 215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6" name="Edited text 216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17" name="Edited text 217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修復實驗 2 · 單次誤差與連續預測</a:t>
            </a:r>
          </a:p>
        </p:txBody>
      </p:sp>
      <p:sp>
        <p:nvSpPr>
          <p:cNvPr id="218" name="Edited text 218"/>
          <p:cNvSpPr txBox="1"/>
          <p:nvPr/>
        </p:nvSpPr>
        <p:spPr>
          <a:xfrm>
            <a:off x="685800" y="1581150"/>
            <a:ext cx="108204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E2 與 E0 比較：同一組美國資料，同時看單次誤差與相鄰預測的變化。</a:t>
            </a:r>
          </a:p>
        </p:txBody>
      </p:sp>
      <p:sp>
        <p:nvSpPr>
          <p:cNvPr id="219" name="Edited text 219"/>
          <p:cNvSpPr txBox="1"/>
          <p:nvPr/>
        </p:nvSpPr>
        <p:spPr>
          <a:xfrm>
            <a:off x="685800" y="2333625"/>
            <a:ext cx="49339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5400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−12.8%</a:t>
            </a:r>
          </a:p>
        </p:txBody>
      </p:sp>
      <p:sp>
        <p:nvSpPr>
          <p:cNvPr id="220" name="Edited text 220"/>
          <p:cNvSpPr txBox="1"/>
          <p:nvPr/>
        </p:nvSpPr>
        <p:spPr>
          <a:xfrm>
            <a:off x="685800" y="3448050"/>
            <a:ext cx="49339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1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路徑誤差 MAE 降低</a:t>
            </a:r>
          </a:p>
        </p:txBody>
      </p:sp>
      <p:sp>
        <p:nvSpPr>
          <p:cNvPr id="221" name="Edited text 221"/>
          <p:cNvSpPr txBox="1"/>
          <p:nvPr/>
        </p:nvSpPr>
        <p:spPr>
          <a:xfrm>
            <a:off x="685800" y="3981450"/>
            <a:ext cx="493395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0.4702 →0.4102 m</a:t>
            </a:r>
          </a:p>
        </p:txBody>
      </p:sp>
      <p:sp>
        <p:nvSpPr>
          <p:cNvPr id="222" name="Edited text 222"/>
          <p:cNvSpPr txBox="1"/>
          <p:nvPr/>
        </p:nvSpPr>
        <p:spPr>
          <a:xfrm>
            <a:off x="685800" y="4533900"/>
            <a:ext cx="4933950" cy="676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平均來看，預測更接近 Teacher。</a:t>
            </a:r>
          </a:p>
        </p:txBody>
      </p:sp>
      <p:sp>
        <p:nvSpPr>
          <p:cNvPr id="223" name="Edited text 223"/>
          <p:cNvSpPr txBox="1"/>
          <p:nvPr/>
        </p:nvSpPr>
        <p:spPr>
          <a:xfrm>
            <a:off x="6572250" y="2333625"/>
            <a:ext cx="49339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5400" b="1" noProof="1">
                <a:solidFill>
                  <a:srgbClr val="B45309"/>
                </a:solidFill>
                <a:latin typeface="PingFang TC"/>
                <a:ea typeface="PingFang TC"/>
                <a:cs typeface="PingFang TC"/>
              </a:rPr>
              <a:t>約 22×</a:t>
            </a:r>
          </a:p>
        </p:txBody>
      </p:sp>
      <p:sp>
        <p:nvSpPr>
          <p:cNvPr id="224" name="Edited text 224"/>
          <p:cNvSpPr txBox="1"/>
          <p:nvPr/>
        </p:nvSpPr>
        <p:spPr>
          <a:xfrm>
            <a:off x="6572250" y="3448050"/>
            <a:ext cx="49339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相鄰兩幀的路徑變化變大</a:t>
            </a:r>
          </a:p>
        </p:txBody>
      </p:sp>
      <p:sp>
        <p:nvSpPr>
          <p:cNvPr id="225" name="Edited text 225"/>
          <p:cNvSpPr txBox="1"/>
          <p:nvPr/>
        </p:nvSpPr>
        <p:spPr>
          <a:xfrm>
            <a:off x="6572250" y="3981450"/>
            <a:ext cx="493395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0.01330 →0.29306 m</a:t>
            </a:r>
          </a:p>
        </p:txBody>
      </p:sp>
      <p:sp>
        <p:nvSpPr>
          <p:cNvPr id="226" name="Edited text 226"/>
          <p:cNvSpPr txBox="1"/>
          <p:nvPr/>
        </p:nvSpPr>
        <p:spPr>
          <a:xfrm>
            <a:off x="6572250" y="4533900"/>
            <a:ext cx="4933950" cy="676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連續預測的跳動更大，穩定性變差。</a:t>
            </a:r>
          </a:p>
        </p:txBody>
      </p:sp>
      <p:sp>
        <p:nvSpPr>
          <p:cNvPr id="227" name="Rule 227"/>
          <p:cNvSpPr/>
          <p:nvPr/>
        </p:nvSpPr>
        <p:spPr>
          <a:xfrm>
            <a:off x="685800" y="542925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8" name="Edited text 228"/>
          <p:cNvSpPr txBox="1"/>
          <p:nvPr/>
        </p:nvSpPr>
        <p:spPr>
          <a:xfrm>
            <a:off x="685800" y="5610225"/>
            <a:ext cx="108204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決策：路徑形狀、state、跨幀變化與模仿誤差都要過關，這個版本不繼續長訓練。</a:t>
            </a:r>
          </a:p>
        </p:txBody>
      </p:sp>
      <p:sp>
        <p:nvSpPr>
          <p:cNvPr id="229" name="Edited text 229"/>
          <p:cNvSpPr txBox="1"/>
          <p:nvPr/>
        </p:nvSpPr>
        <p:spPr>
          <a:xfrm>
            <a:off x="685800" y="607695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4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E2 在台灣的路徑 MAE 也沒改善。結論只涵蓋固定 Best state 的做法，其他方法仍未測試。</a:t>
            </a:r>
          </a:p>
        </p:txBody>
      </p:sp>
    </p:spTree>
    <p:extLst>
      <p:ext uri="{BB962C8B-B14F-4D97-AF65-F5344CB8AC3E}">
        <p14:creationId xmlns:p14="http://schemas.microsoft.com/office/powerpoint/2010/main" val="438503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2-28-0">
            <a:extLst>
              <a:ext uri="{FF2B5EF4-FFF2-40B4-BE49-F238E27FC236}">
                <a16:creationId xmlns:a16="http://schemas.microsoft.com/office/drawing/2014/main" id="{478429B1-1DAE-4AA5-983D-40A3C9D71A0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MODEL B6 · 調查結論</a:t>
            </a:r>
          </a:p>
        </p:txBody>
      </p:sp>
      <p:sp>
        <p:nvSpPr>
          <p:cNvPr id="2" name="v2-28-1">
            <a:extLst>
              <a:ext uri="{FF2B5EF4-FFF2-40B4-BE49-F238E27FC236}">
                <a16:creationId xmlns:a16="http://schemas.microsoft.com/office/drawing/2014/main" id="{7748A54D-19FC-4CE3-92C9-3444C0F977F8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Model B6：查到了什麼，還有哪些問題沒解</a:t>
            </a:r>
          </a:p>
        </p:txBody>
      </p:sp>
      <p:sp>
        <p:nvSpPr>
          <p:cNvPr id="3" name="v2-28-2">
            <a:extLst>
              <a:ext uri="{FF2B5EF4-FFF2-40B4-BE49-F238E27FC236}">
                <a16:creationId xmlns:a16="http://schemas.microsoft.com/office/drawing/2014/main" id="{825B895F-1BEF-4C71-9362-CAB7F5A5C92B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v2-28-3">
            <a:extLst>
              <a:ext uri="{FF2B5EF4-FFF2-40B4-BE49-F238E27FC236}">
                <a16:creationId xmlns:a16="http://schemas.microsoft.com/office/drawing/2014/main" id="{B78602AE-69E6-4B89-9DBC-4157E1FDDF42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  </a:t>
            </a:r>
          </a:p>
        </p:txBody>
      </p:sp>
      <p:sp>
        <p:nvSpPr>
          <p:cNvPr id="5" name="v2-28-4">
            <a:extLst>
              <a:ext uri="{FF2B5EF4-FFF2-40B4-BE49-F238E27FC236}">
                <a16:creationId xmlns:a16="http://schemas.microsoft.com/office/drawing/2014/main" id="{AD1DA2A4-9CCB-4200-A1B9-081DA81459C6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28</a:t>
            </a:r>
          </a:p>
        </p:txBody>
      </p:sp>
      <p:sp>
        <p:nvSpPr>
          <p:cNvPr id="21" name="review2-28-0">
            <a:extLst>
              <a:ext uri="{FF2B5EF4-FFF2-40B4-BE49-F238E27FC236}">
                <a16:creationId xmlns:a16="http://schemas.microsoft.com/office/drawing/2014/main" id="{8FFFC5DE-7F55-493F-9E12-93B3E69BD7D4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2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發現</a:t>
            </a:r>
          </a:p>
        </p:txBody>
      </p:sp>
      <p:sp>
        <p:nvSpPr>
          <p:cNvPr id="22" name="review2-28-1">
            <a:extLst>
              <a:ext uri="{FF2B5EF4-FFF2-40B4-BE49-F238E27FC236}">
                <a16:creationId xmlns:a16="http://schemas.microsoft.com/office/drawing/2014/main" id="{32876115-096B-4276-B11E-C54174FE4459}"/>
              </a:ext>
            </a:extLst>
          </p:cNvPr>
          <p:cNvSpPr>
            <a:spLocks noGrp="1"/>
          </p:cNvSpPr>
          <p:nvPr/>
        </p:nvSpPr>
        <p:spPr>
          <a:xfrm>
            <a:off x="2667000" y="1695450"/>
            <a:ext cx="8839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9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鋸齒在投影前就有；換影像差很小，換 state 的方式則差很多。</a:t>
            </a:r>
          </a:p>
        </p:txBody>
      </p:sp>
      <p:sp>
        <p:nvSpPr>
          <p:cNvPr id="23" name="review2-28-2">
            <a:extLst>
              <a:ext uri="{FF2B5EF4-FFF2-40B4-BE49-F238E27FC236}">
                <a16:creationId xmlns:a16="http://schemas.microsoft.com/office/drawing/2014/main" id="{90E14DC8-B0B8-41B4-ACEA-F404D58EACDE}"/>
              </a:ext>
            </a:extLst>
          </p:cNvPr>
          <p:cNvSpPr>
            <a:spLocks noGrp="1"/>
          </p:cNvSpPr>
          <p:nvPr/>
        </p:nvSpPr>
        <p:spPr>
          <a:xfrm>
            <a:off x="685800" y="277177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2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檢驗</a:t>
            </a:r>
          </a:p>
        </p:txBody>
      </p:sp>
      <p:sp>
        <p:nvSpPr>
          <p:cNvPr id="24" name="review2-28-3">
            <a:extLst>
              <a:ext uri="{FF2B5EF4-FFF2-40B4-BE49-F238E27FC236}">
                <a16:creationId xmlns:a16="http://schemas.microsoft.com/office/drawing/2014/main" id="{53FFB3B2-E8D3-4155-B004-5AE172D92721}"/>
              </a:ext>
            </a:extLst>
          </p:cNvPr>
          <p:cNvSpPr>
            <a:spLocks noGrp="1"/>
          </p:cNvSpPr>
          <p:nvPr/>
        </p:nvSpPr>
        <p:spPr>
          <a:xfrm>
            <a:off x="2667000" y="2771775"/>
            <a:ext cx="8839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9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Depthwise 與混合 state 都做過短訓練，但都未達到續訓條件。</a:t>
            </a:r>
          </a:p>
        </p:txBody>
      </p:sp>
      <p:sp>
        <p:nvSpPr>
          <p:cNvPr id="25" name="review2-28-4">
            <a:extLst>
              <a:ext uri="{FF2B5EF4-FFF2-40B4-BE49-F238E27FC236}">
                <a16:creationId xmlns:a16="http://schemas.microsoft.com/office/drawing/2014/main" id="{1826E6D0-032B-4896-8827-EBCC62D3F81B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2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待解</a:t>
            </a:r>
          </a:p>
        </p:txBody>
      </p:sp>
      <p:sp>
        <p:nvSpPr>
          <p:cNvPr id="26" name="review2-28-5">
            <a:extLst>
              <a:ext uri="{FF2B5EF4-FFF2-40B4-BE49-F238E27FC236}">
                <a16:creationId xmlns:a16="http://schemas.microsoft.com/office/drawing/2014/main" id="{E2AE4193-038B-462F-B6A5-5306E32C0611}"/>
              </a:ext>
            </a:extLst>
          </p:cNvPr>
          <p:cNvSpPr>
            <a:spLocks noGrp="1"/>
          </p:cNvSpPr>
          <p:nvPr/>
        </p:nvSpPr>
        <p:spPr>
          <a:xfrm>
            <a:off x="2667000" y="3848100"/>
            <a:ext cx="88392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真正原因、能否修好模型與駕駛品質，仍未證實</a:t>
            </a:r>
            <a:r>
              <a:rPr lang="zh-TW" altLang="en-US" sz="1875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。</a:t>
            </a:r>
            <a:endParaRPr sz="1875" b="0" dirty="0">
              <a:solidFill>
                <a:srgbClr val="475569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7" name="review2-28-6">
            <a:extLst>
              <a:ext uri="{FF2B5EF4-FFF2-40B4-BE49-F238E27FC236}">
                <a16:creationId xmlns:a16="http://schemas.microsoft.com/office/drawing/2014/main" id="{5A9EBD1F-A6ED-4254-BA5C-57598615F498}"/>
              </a:ext>
            </a:extLst>
          </p:cNvPr>
          <p:cNvSpPr>
            <a:spLocks noGrp="1"/>
          </p:cNvSpPr>
          <p:nvPr/>
        </p:nvSpPr>
        <p:spPr>
          <a:xfrm>
            <a:off x="685800" y="4943475"/>
            <a:ext cx="10820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推測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165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影像修正作用太弱，加上連續預測不穩，可能一起影響恢復</a:t>
            </a:r>
            <a:r>
              <a:rPr sz="165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28" name="review2-28-7">
            <a:extLst>
              <a:ext uri="{FF2B5EF4-FFF2-40B4-BE49-F238E27FC236}">
                <a16:creationId xmlns:a16="http://schemas.microsoft.com/office/drawing/2014/main" id="{8A9BB21C-1E4E-4140-B117-3D5B05539F84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實驗資料越來越多，接著讓 AI Agent 協助讀資料，並保留每項判斷的來源。</a:t>
            </a:r>
          </a:p>
        </p:txBody>
      </p:sp>
    </p:spTree>
    <p:extLst>
      <p:ext uri="{BB962C8B-B14F-4D97-AF65-F5344CB8AC3E}">
        <p14:creationId xmlns:p14="http://schemas.microsoft.com/office/powerpoint/2010/main" val="920564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29-textbox-0">
            <a:extLst>
              <a:ext uri="{FF2B5EF4-FFF2-40B4-BE49-F238E27FC236}">
                <a16:creationId xmlns:a16="http://schemas.microsoft.com/office/drawing/2014/main" id="{C1E0988F-95C8-4874-A842-FB1F9AF6119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PART B · AI AGENT</a:t>
            </a:r>
          </a:p>
        </p:txBody>
      </p:sp>
      <p:sp>
        <p:nvSpPr>
          <p:cNvPr id="2" name="p29-textbox-1">
            <a:extLst>
              <a:ext uri="{FF2B5EF4-FFF2-40B4-BE49-F238E27FC236}">
                <a16:creationId xmlns:a16="http://schemas.microsoft.com/office/drawing/2014/main" id="{76256DE8-0F53-49A1-B03A-6BE2170AD42B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在獨立 Python 環境中跑完教授的 Agent 範例</a:t>
            </a:r>
          </a:p>
        </p:txBody>
      </p:sp>
      <p:sp>
        <p:nvSpPr>
          <p:cNvPr id="3" name="p29-rect-2">
            <a:extLst>
              <a:ext uri="{FF2B5EF4-FFF2-40B4-BE49-F238E27FC236}">
                <a16:creationId xmlns:a16="http://schemas.microsoft.com/office/drawing/2014/main" id="{37B30562-2E7F-4249-88A2-70075973890B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544B6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29-textbox-3">
            <a:extLst>
              <a:ext uri="{FF2B5EF4-FFF2-40B4-BE49-F238E27FC236}">
                <a16:creationId xmlns:a16="http://schemas.microsoft.com/office/drawing/2014/main" id="{49B162EF-6941-4B61-9965-ED9D533DEC85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PROJECT 2  </a:t>
            </a:r>
          </a:p>
        </p:txBody>
      </p:sp>
      <p:sp>
        <p:nvSpPr>
          <p:cNvPr id="5" name="p29-textbox-4">
            <a:extLst>
              <a:ext uri="{FF2B5EF4-FFF2-40B4-BE49-F238E27FC236}">
                <a16:creationId xmlns:a16="http://schemas.microsoft.com/office/drawing/2014/main" id="{3377EEB3-F3A3-49B8-BE37-844CFD8E223F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29</a:t>
            </a:r>
          </a:p>
        </p:txBody>
      </p:sp>
      <p:sp>
        <p:nvSpPr>
          <p:cNvPr id="6" name="p29-textbox-5">
            <a:extLst>
              <a:ext uri="{FF2B5EF4-FFF2-40B4-BE49-F238E27FC236}">
                <a16:creationId xmlns:a16="http://schemas.microsoft.com/office/drawing/2014/main" id="{335BEB8A-2226-4755-B953-AA584DB297EC}"/>
              </a:ext>
            </a:extLst>
          </p:cNvPr>
          <p:cNvSpPr>
            <a:spLocks noGrp="1"/>
          </p:cNvSpPr>
          <p:nvPr/>
        </p:nvSpPr>
        <p:spPr>
          <a:xfrm>
            <a:off x="685800" y="1800225"/>
            <a:ext cx="2524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執行環境</a:t>
            </a:r>
          </a:p>
        </p:txBody>
      </p:sp>
      <p:sp>
        <p:nvSpPr>
          <p:cNvPr id="7" name="p29-textbox-6">
            <a:extLst>
              <a:ext uri="{FF2B5EF4-FFF2-40B4-BE49-F238E27FC236}">
                <a16:creationId xmlns:a16="http://schemas.microsoft.com/office/drawing/2014/main" id="{3B586084-3CEE-4C2D-B5EA-A9FAE0EFE929}"/>
              </a:ext>
            </a:extLst>
          </p:cNvPr>
          <p:cNvSpPr>
            <a:spLocks noGrp="1"/>
          </p:cNvSpPr>
          <p:nvPr/>
        </p:nvSpPr>
        <p:spPr>
          <a:xfrm>
            <a:off x="3476625" y="1800225"/>
            <a:ext cx="80295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Python 3.11.4 / Agno 3.1.1 / Google GenAI 2.28.0</a:t>
            </a:r>
          </a:p>
        </p:txBody>
      </p:sp>
      <p:sp>
        <p:nvSpPr>
          <p:cNvPr id="8" name="p29-textbox-7">
            <a:extLst>
              <a:ext uri="{FF2B5EF4-FFF2-40B4-BE49-F238E27FC236}">
                <a16:creationId xmlns:a16="http://schemas.microsoft.com/office/drawing/2014/main" id="{65408CA9-87EA-435F-8803-498E02AB31E6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2524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教授範例</a:t>
            </a:r>
          </a:p>
        </p:txBody>
      </p:sp>
      <p:sp>
        <p:nvSpPr>
          <p:cNvPr id="9" name="p29-textbox-8">
            <a:extLst>
              <a:ext uri="{FF2B5EF4-FFF2-40B4-BE49-F238E27FC236}">
                <a16:creationId xmlns:a16="http://schemas.microsoft.com/office/drawing/2014/main" id="{4E3002E4-6409-4EAE-9C85-C913982C8C9F}"/>
              </a:ext>
            </a:extLst>
          </p:cNvPr>
          <p:cNvSpPr>
            <a:spLocks noGrp="1"/>
          </p:cNvSpPr>
          <p:nvPr/>
        </p:nvSpPr>
        <p:spPr>
          <a:xfrm>
            <a:off x="3476625" y="2828925"/>
            <a:ext cx="80295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程式有 6 個 Agent 定義，實際只執行旅行規劃這一個任務</a:t>
            </a:r>
          </a:p>
        </p:txBody>
      </p:sp>
      <p:sp>
        <p:nvSpPr>
          <p:cNvPr id="10" name="p29-textbox-9">
            <a:extLst>
              <a:ext uri="{FF2B5EF4-FFF2-40B4-BE49-F238E27FC236}">
                <a16:creationId xmlns:a16="http://schemas.microsoft.com/office/drawing/2014/main" id="{D9592B76-3F77-46F5-BF41-9C4269023002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2524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實際執行結果</a:t>
            </a:r>
          </a:p>
        </p:txBody>
      </p:sp>
      <p:sp>
        <p:nvSpPr>
          <p:cNvPr id="11" name="p29-textbox-10">
            <a:extLst>
              <a:ext uri="{FF2B5EF4-FFF2-40B4-BE49-F238E27FC236}">
                <a16:creationId xmlns:a16="http://schemas.microsoft.com/office/drawing/2014/main" id="{E06022B8-66EA-45EC-9E2A-83E48DEF47AA}"/>
              </a:ext>
            </a:extLst>
          </p:cNvPr>
          <p:cNvSpPr>
            <a:spLocks noGrp="1"/>
          </p:cNvSpPr>
          <p:nvPr/>
        </p:nvSpPr>
        <p:spPr>
          <a:xfrm>
            <a:off x="3476625" y="3857625"/>
            <a:ext cx="80295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呼叫</a:t>
            </a:r>
            <a:r>
              <a:rPr sz="1800" b="0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think／analyze、產生完整回答，最後回到終端機</a:t>
            </a:r>
            <a:endParaRPr sz="1800" b="0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2" name="p29-textbox-11">
            <a:extLst>
              <a:ext uri="{FF2B5EF4-FFF2-40B4-BE49-F238E27FC236}">
                <a16:creationId xmlns:a16="http://schemas.microsoft.com/office/drawing/2014/main" id="{5074417D-365F-4B34-9F24-B05F929CEE1C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108204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CONFIRMED｜已核對使用者提供的完整執行紀錄。旅行內容只是範例，沒有查證或預訂</a:t>
            </a:r>
            <a:r>
              <a:rPr sz="1500" b="0" dirty="0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>
            <a:pPr algn="l">
              <a:lnSpc>
                <a:spcPct val="112000"/>
              </a:lnSpc>
              <a:buNone/>
              <a:defRPr sz="150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學生程式預設</a:t>
            </a:r>
            <a:r>
              <a:rPr sz="1500" b="0" dirty="0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 gemini-3.</a:t>
            </a:r>
            <a:r>
              <a:rPr lang="en-US" altLang="zh-TW" sz="1500" b="0" dirty="0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8</a:t>
            </a:r>
            <a:r>
              <a:rPr sz="1500" b="0" dirty="0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-flash，可用 GEMINI_MODEL_ID </a:t>
            </a:r>
            <a:r>
              <a:rPr sz="1500" b="0" dirty="0" err="1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更換；這是目前程式設定</a:t>
            </a:r>
            <a:r>
              <a:rPr sz="1500" b="0" dirty="0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98835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30-textbox-0">
            <a:extLst>
              <a:ext uri="{FF2B5EF4-FFF2-40B4-BE49-F238E27FC236}">
                <a16:creationId xmlns:a16="http://schemas.microsoft.com/office/drawing/2014/main" id="{5CC13B46-C43A-459D-8447-4E857C96EFF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我做的工程改善</a:t>
            </a:r>
          </a:p>
        </p:txBody>
      </p:sp>
      <p:sp>
        <p:nvSpPr>
          <p:cNvPr id="2" name="p30-textbox-1">
            <a:extLst>
              <a:ext uri="{FF2B5EF4-FFF2-40B4-BE49-F238E27FC236}">
                <a16:creationId xmlns:a16="http://schemas.microsoft.com/office/drawing/2014/main" id="{67385BE2-486C-4735-8D95-D99294E617B2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zh-TW" sz="2550" b="1" dirty="0">
                <a:solidFill>
                  <a:srgbClr val="0F172A"/>
                </a:solidFill>
                <a:latin typeface="PingFang TC"/>
              </a:rPr>
              <a:t>調整舊版參數，讓教授範例順利執行</a:t>
            </a:r>
            <a:endParaRPr sz="2550" b="1" dirty="0">
              <a:solidFill>
                <a:srgbClr val="0F172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p30-rect-2">
            <a:extLst>
              <a:ext uri="{FF2B5EF4-FFF2-40B4-BE49-F238E27FC236}">
                <a16:creationId xmlns:a16="http://schemas.microsoft.com/office/drawing/2014/main" id="{3D008F13-E3E0-4909-ACB3-F205D6B32E9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30-textbox-3">
            <a:extLst>
              <a:ext uri="{FF2B5EF4-FFF2-40B4-BE49-F238E27FC236}">
                <a16:creationId xmlns:a16="http://schemas.microsoft.com/office/drawing/2014/main" id="{C52E2FBF-B563-4151-B790-998331B24352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5" name="p30-textbox-4">
            <a:extLst>
              <a:ext uri="{FF2B5EF4-FFF2-40B4-BE49-F238E27FC236}">
                <a16:creationId xmlns:a16="http://schemas.microsoft.com/office/drawing/2014/main" id="{690014AE-2320-43BB-9540-E1CF691E3EE8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30</a:t>
            </a:r>
          </a:p>
        </p:txBody>
      </p:sp>
      <p:sp>
        <p:nvSpPr>
          <p:cNvPr id="6" name="p30-textbox-5">
            <a:extLst>
              <a:ext uri="{FF2B5EF4-FFF2-40B4-BE49-F238E27FC236}">
                <a16:creationId xmlns:a16="http://schemas.microsoft.com/office/drawing/2014/main" id="{6D073A4A-C80F-467C-99D5-FA3DDD913EC6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504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教授原始程式</a:t>
            </a:r>
          </a:p>
        </p:txBody>
      </p:sp>
      <p:sp>
        <p:nvSpPr>
          <p:cNvPr id="7" name="p30-textbox-6">
            <a:extLst>
              <a:ext uri="{FF2B5EF4-FFF2-40B4-BE49-F238E27FC236}">
                <a16:creationId xmlns:a16="http://schemas.microsoft.com/office/drawing/2014/main" id="{20CC2AAD-3906-405F-9145-F2901E9BF038}"/>
              </a:ext>
            </a:extLst>
          </p:cNvPr>
          <p:cNvSpPr>
            <a:spLocks noGrp="1"/>
          </p:cNvSpPr>
          <p:nvPr/>
        </p:nvSpPr>
        <p:spPr>
          <a:xfrm>
            <a:off x="685800" y="2676525"/>
            <a:ext cx="5048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agent_id / add_datetime_to_instructions</a:t>
            </a:r>
          </a:p>
          <a:p>
            <a:pPr algn="l">
              <a:lnSpc>
                <a:spcPct val="115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舊 YFinance keyword / show_tool_calls</a:t>
            </a:r>
          </a:p>
        </p:txBody>
      </p:sp>
      <p:sp>
        <p:nvSpPr>
          <p:cNvPr id="8" name="p30-textbox-7">
            <a:extLst>
              <a:ext uri="{FF2B5EF4-FFF2-40B4-BE49-F238E27FC236}">
                <a16:creationId xmlns:a16="http://schemas.microsoft.com/office/drawing/2014/main" id="{7AEB7B4A-CB2D-4363-9AF6-D9293D68BE6B}"/>
              </a:ext>
            </a:extLst>
          </p:cNvPr>
          <p:cNvSpPr>
            <a:spLocks noGrp="1"/>
          </p:cNvSpPr>
          <p:nvPr/>
        </p:nvSpPr>
        <p:spPr>
          <a:xfrm>
            <a:off x="6438900" y="1914525"/>
            <a:ext cx="504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我的相容處理</a:t>
            </a:r>
          </a:p>
        </p:txBody>
      </p:sp>
      <p:sp>
        <p:nvSpPr>
          <p:cNvPr id="9" name="p30-textbox-8">
            <a:extLst>
              <a:ext uri="{FF2B5EF4-FFF2-40B4-BE49-F238E27FC236}">
                <a16:creationId xmlns:a16="http://schemas.microsoft.com/office/drawing/2014/main" id="{341F349D-1EDA-49FE-92B5-2E72D091DA41}"/>
              </a:ext>
            </a:extLst>
          </p:cNvPr>
          <p:cNvSpPr>
            <a:spLocks noGrp="1"/>
          </p:cNvSpPr>
          <p:nvPr/>
        </p:nvSpPr>
        <p:spPr>
          <a:xfrm>
            <a:off x="6438900" y="2676525"/>
            <a:ext cx="5048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id / add_datetime_to_context</a:t>
            </a:r>
          </a:p>
          <a:p>
            <a:pPr algn="l">
              <a:lnSpc>
                <a:spcPct val="112000"/>
              </a:lnSpc>
              <a:buNone/>
              <a:def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enable_* 財經參數／移除顯示參數</a:t>
            </a:r>
          </a:p>
        </p:txBody>
      </p:sp>
      <p:sp>
        <p:nvSpPr>
          <p:cNvPr id="10" name="p30-rect-9">
            <a:extLst>
              <a:ext uri="{FF2B5EF4-FFF2-40B4-BE49-F238E27FC236}">
                <a16:creationId xmlns:a16="http://schemas.microsoft.com/office/drawing/2014/main" id="{BEFF1FE8-F4AB-464F-8B96-F96D6AF2F557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p30-textbox-10">
            <a:extLst>
              <a:ext uri="{FF2B5EF4-FFF2-40B4-BE49-F238E27FC236}">
                <a16:creationId xmlns:a16="http://schemas.microsoft.com/office/drawing/2014/main" id="{C6E99940-E3AF-4E3F-BE72-175CE8F69023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用 AST 讀出 Agent 定義與實際任務，避免一匯入範例就呼叫 API。</a:t>
            </a:r>
          </a:p>
        </p:txBody>
      </p:sp>
      <p:sp>
        <p:nvSpPr>
          <p:cNvPr id="12" name="p30-textbox-11">
            <a:extLst>
              <a:ext uri="{FF2B5EF4-FFF2-40B4-BE49-F238E27FC236}">
                <a16:creationId xmlns:a16="http://schemas.microsoft.com/office/drawing/2014/main" id="{7658A663-D525-4AC8-AFA1-12C952655BC8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0820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確認共有 6 個 Agent 定義、1 個實際任務，保留教授原檔。離線測試檢查是否能建立 Agent、工具是否有註冊。</a:t>
            </a:r>
          </a:p>
          <a:p>
            <a:pPr algn="l">
              <a:lnSpc>
                <a:spcPct val="112000"/>
              </a:lnSpc>
              <a:buNone/>
              <a:def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相容處理只解決 API 用法差異，不會讓 Agent 自動升到更高架構等級。</a:t>
            </a:r>
          </a:p>
        </p:txBody>
      </p:sp>
    </p:spTree>
    <p:extLst>
      <p:ext uri="{BB962C8B-B14F-4D97-AF65-F5344CB8AC3E}">
        <p14:creationId xmlns:p14="http://schemas.microsoft.com/office/powerpoint/2010/main" val="501284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31-textbox-0">
            <a:extLst>
              <a:ext uri="{FF2B5EF4-FFF2-40B4-BE49-F238E27FC236}">
                <a16:creationId xmlns:a16="http://schemas.microsoft.com/office/drawing/2014/main" id="{9EE10727-6D3B-47A3-BFD8-7B4507599DB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課程要求 · 架構分級</a:t>
            </a:r>
          </a:p>
        </p:txBody>
      </p:sp>
      <p:sp>
        <p:nvSpPr>
          <p:cNvPr id="2" name="p31-textbox-1">
            <a:extLst>
              <a:ext uri="{FF2B5EF4-FFF2-40B4-BE49-F238E27FC236}">
                <a16:creationId xmlns:a16="http://schemas.microsoft.com/office/drawing/2014/main" id="{5E45328A-57DC-4E51-963C-EADC4E3B4F9B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依五層架構來看，目前主要做到 Level 1</a:t>
            </a:r>
          </a:p>
        </p:txBody>
      </p:sp>
      <p:sp>
        <p:nvSpPr>
          <p:cNvPr id="3" name="p31-rect-2">
            <a:extLst>
              <a:ext uri="{FF2B5EF4-FFF2-40B4-BE49-F238E27FC236}">
                <a16:creationId xmlns:a16="http://schemas.microsoft.com/office/drawing/2014/main" id="{48206314-3890-49FA-9761-9131B89F92C8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31-textbox-3">
            <a:extLst>
              <a:ext uri="{FF2B5EF4-FFF2-40B4-BE49-F238E27FC236}">
                <a16:creationId xmlns:a16="http://schemas.microsoft.com/office/drawing/2014/main" id="{A7041DBC-0472-4695-9428-55B80DC1B0C1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5" name="p31-textbox-4">
            <a:extLst>
              <a:ext uri="{FF2B5EF4-FFF2-40B4-BE49-F238E27FC236}">
                <a16:creationId xmlns:a16="http://schemas.microsoft.com/office/drawing/2014/main" id="{D465A26C-BD4B-44C8-B2FB-C4D723AD9EF5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31</a:t>
            </a:r>
          </a:p>
        </p:txBody>
      </p:sp>
      <p:sp>
        <p:nvSpPr>
          <p:cNvPr id="20" name="review2-31-0">
            <a:extLst>
              <a:ext uri="{FF2B5EF4-FFF2-40B4-BE49-F238E27FC236}">
                <a16:creationId xmlns:a16="http://schemas.microsoft.com/office/drawing/2014/main" id="{972A6233-1653-4BAD-9E63-A26545333196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LIKELY / SUGGESTED｜依指定文章與實際程式，判斷目前主要符合 Level 1。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1DB13924-C102-4C59-8F39-B758618A413B}"/>
              </a:ext>
            </a:extLst>
          </p:cNvPr>
          <p:cNvGraphicFramePr/>
          <p:nvPr/>
        </p:nvGraphicFramePr>
        <p:xfrm>
          <a:off x="685800" y="1666875"/>
          <a:ext cx="10820400" cy="3476628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Level／需要的能力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本專案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怎麼判斷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 · 工具與任務指示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已實作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有任務指示、實驗資料與推理工具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 · 知識＋本次對話記憶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未實作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沒有資料檢索索引或對話知識設定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 · 長期記憶＋推理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未實作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推理工具不等於跨對話記憶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4 · 多個 Agent 組隊合作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未實作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範例沒有組隊，也沒有互相分工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5 · 持續運作的 Agent 系統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未實作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終端機重試不等於持續運作的 Agent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224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Edited text 230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4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第一版 Do New：Agent 讀資料，數值逐項核對</a:t>
            </a:r>
          </a:p>
        </p:txBody>
      </p:sp>
      <p:sp>
        <p:nvSpPr>
          <p:cNvPr id="231" name="Edited text 231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32</a:t>
            </a:r>
          </a:p>
        </p:txBody>
      </p:sp>
      <p:sp>
        <p:nvSpPr>
          <p:cNvPr id="232" name="Rule 232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3" name="Edited text 233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34" name="Edited text 234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原始 DO NEW · 先前實測紀錄</a:t>
            </a:r>
          </a:p>
        </p:txBody>
      </p:sp>
      <p:sp>
        <p:nvSpPr>
          <p:cNvPr id="235" name="Edited text 235"/>
          <p:cNvSpPr txBox="1"/>
          <p:nvPr/>
        </p:nvSpPr>
        <p:spPr>
          <a:xfrm>
            <a:off x="685800" y="1581150"/>
            <a:ext cx="108204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7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實際任務：比較 Final／Best 的梯度，並說清楚「跑完流程」與「駕駛品質」的差別。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AD2D4B6-DD79-4356-8492-14C2B4F06074}"/>
              </a:ext>
            </a:extLst>
          </p:cNvPr>
          <p:cNvGraphicFramePr/>
          <p:nvPr/>
        </p:nvGraphicFramePr>
        <p:xfrm>
          <a:off x="685800" y="3038475"/>
          <a:ext cx="10820400" cy="2038350"/>
        </p:xfrm>
        <a:graphic>
          <a:graphicData uri="http://schemas.openxmlformats.org/drawingml/2006/table">
            <a:tbl>
              <a:tblPr/>
              <a:tblGrid>
                <a:gridCol w="541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已核對數值（整體中位數）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Final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Best</a:t>
                      </a:r>
                    </a:p>
                  </a:txBody>
                  <a:tcPr marL="114300" marR="114300" marT="66675" marB="66675" anchor="ctr"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診斷 loss · 18 筆中位數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30.7705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29.9163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影像梯度 RMS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9.7748e−15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2.5796e−15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State 梯度 RMS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0.1907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0.2903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影像／state 梯度比值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6.7352e−14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2.2175e−14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7" name="Edited text 237"/>
          <p:cNvSpPr txBox="1"/>
          <p:nvPr/>
        </p:nvSpPr>
        <p:spPr>
          <a:xfrm>
            <a:off x="685800" y="5286375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650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已驗收回答的重點（依紀錄 §27 摘要，不是逐字引用）</a:t>
            </a:r>
          </a:p>
        </p:txBody>
      </p:sp>
      <p:sp>
        <p:nvSpPr>
          <p:cNvPr id="238" name="Edited text 238"/>
          <p:cNvSpPr txBox="1"/>
          <p:nvPr/>
        </p:nvSpPr>
        <p:spPr>
          <a:xfrm>
            <a:off x="685800" y="5676900"/>
            <a:ext cx="10820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回答列出的 8 個數值都與資料相符，也說明駕駛品質還沒驗證</a:t>
            </a:r>
            <a:r>
              <a:rPr lang="zh-TW" altLang="en-US" sz="1575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。</a:t>
            </a:r>
            <a:endParaRPr lang="zh-TW" sz="1575" b="0" noProof="1">
              <a:solidFill>
                <a:srgbClr val="475569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12" name="Edited text 112"/>
          <p:cNvSpPr txBox="1"/>
          <p:nvPr/>
        </p:nvSpPr>
        <p:spPr>
          <a:xfrm>
            <a:off x="685800" y="2038350"/>
            <a:ext cx="10820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summarize_p2_evidence() 讀入 144 筆紀錄／18 個樣本，由 Gemini 產生完整回答</a:t>
            </a:r>
          </a:p>
        </p:txBody>
      </p:sp>
      <p:sp>
        <p:nvSpPr>
          <p:cNvPr id="113" name="Edited text 113"/>
          <p:cNvSpPr txBox="1"/>
          <p:nvPr/>
        </p:nvSpPr>
        <p:spPr>
          <a:xfrm>
            <a:off x="685800" y="2409825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評估 C：美國訓練、美國驗證、台灣各 6 筆，沿用 Teacher state 與原 loss。</a:t>
            </a:r>
          </a:p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本頁 loss 是 18 筆的中位數，與第 10 頁每輪平均、第 11 頁固定 120 筆平均不同。</a:t>
            </a:r>
          </a:p>
        </p:txBody>
      </p:sp>
    </p:spTree>
    <p:extLst>
      <p:ext uri="{BB962C8B-B14F-4D97-AF65-F5344CB8AC3E}">
        <p14:creationId xmlns:p14="http://schemas.microsoft.com/office/powerpoint/2010/main" val="1803405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Edited text 239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4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教授範例與我新增的 Do New 功能</a:t>
            </a:r>
          </a:p>
        </p:txBody>
      </p:sp>
      <p:sp>
        <p:nvSpPr>
          <p:cNvPr id="240" name="Edited text 240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33</a:t>
            </a:r>
          </a:p>
        </p:txBody>
      </p:sp>
      <p:sp>
        <p:nvSpPr>
          <p:cNvPr id="241" name="Rule 241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2" name="Edited text 242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43" name="Edited text 243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DO NEW · 新增的功能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AD2D4B6-DD79-4356-8492-14C2B4F06074}"/>
              </a:ext>
            </a:extLst>
          </p:cNvPr>
          <p:cNvGraphicFramePr/>
          <p:nvPr/>
        </p:nvGraphicFramePr>
        <p:xfrm>
          <a:off x="685800" y="1628775"/>
          <a:ext cx="10820400" cy="2705100"/>
        </p:xfrm>
        <a:graphic>
          <a:graphicData uri="http://schemas.openxmlformats.org/drawingml/2006/table">
            <a:tbl>
              <a:tblPr/>
              <a:tblGrid>
                <a:gridCol w="250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2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比較面向</a:t>
                      </a:r>
                    </a:p>
                  </a:txBody>
                  <a:tcPr marL="114300" marR="114300" marT="38100" marB="38100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2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教授的基礎範例</a:t>
                      </a:r>
                    </a:p>
                  </a:txBody>
                  <a:tcPr marL="114300" marR="114300" marT="38100" marB="38100"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25" b="1" noProof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我新增的 Do New</a:t>
                      </a:r>
                    </a:p>
                  </a:txBody>
                  <a:tcPr marL="114300" marR="114300" marT="38100" marB="38100" anchor="ctr"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輸入與任務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目前啟用：旅行規劃問題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ModelB6 實驗結果與驗證影像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工具與證據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推理工具；尚未讀取本機實驗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讀取實驗資料，核對來源與檔案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結果呈現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文字／表格規劃回答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引用數據、描述影像，說明限制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4" name="Edited text 244"/>
          <p:cNvSpPr txBox="1"/>
          <p:nvPr/>
        </p:nvSpPr>
        <p:spPr>
          <a:xfrm>
            <a:off x="685800" y="4638675"/>
            <a:ext cx="10820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00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三種模式：各自做什麼，驗證到哪裡</a:t>
            </a:r>
          </a:p>
        </p:txBody>
      </p:sp>
      <p:sp>
        <p:nvSpPr>
          <p:cNvPr id="245" name="Edited text 245"/>
          <p:cNvSpPr txBox="1"/>
          <p:nvPr/>
        </p:nvSpPr>
        <p:spPr>
          <a:xfrm>
            <a:off x="685800" y="5200650"/>
            <a:ext cx="32956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Diagnosis</a:t>
            </a:r>
          </a:p>
        </p:txBody>
      </p:sp>
      <p:sp>
        <p:nvSpPr>
          <p:cNvPr id="246" name="Edited text 246"/>
          <p:cNvSpPr txBox="1"/>
          <p:nvPr/>
        </p:nvSpPr>
        <p:spPr>
          <a:xfrm>
            <a:off x="685800" y="5495925"/>
            <a:ext cx="32956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分析 B6 資料，4 工具實測完成</a:t>
            </a:r>
          </a:p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本次報告已核對，引用已修正</a:t>
            </a:r>
          </a:p>
        </p:txBody>
      </p:sp>
      <p:sp>
        <p:nvSpPr>
          <p:cNvPr id="247" name="Edited text 247"/>
          <p:cNvSpPr txBox="1"/>
          <p:nvPr/>
        </p:nvSpPr>
        <p:spPr>
          <a:xfrm>
            <a:off x="4438650" y="5200650"/>
            <a:ext cx="32956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Vision</a:t>
            </a:r>
          </a:p>
        </p:txBody>
      </p:sp>
      <p:sp>
        <p:nvSpPr>
          <p:cNvPr id="248" name="Edited text 248"/>
          <p:cNvSpPr txBox="1"/>
          <p:nvPr/>
        </p:nvSpPr>
        <p:spPr>
          <a:xfrm>
            <a:off x="4438650" y="5495925"/>
            <a:ext cx="32956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讀取實際 PNG 描述可見內容</a:t>
            </a:r>
          </a:p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單張實測回答已驗收</a:t>
            </a:r>
          </a:p>
        </p:txBody>
      </p:sp>
      <p:sp>
        <p:nvSpPr>
          <p:cNvPr id="249" name="Edited text 249"/>
          <p:cNvSpPr txBox="1"/>
          <p:nvPr/>
        </p:nvSpPr>
        <p:spPr>
          <a:xfrm>
            <a:off x="8191500" y="5200650"/>
            <a:ext cx="32956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Unified</a:t>
            </a:r>
          </a:p>
        </p:txBody>
      </p:sp>
      <p:sp>
        <p:nvSpPr>
          <p:cNvPr id="250" name="Edited text 250"/>
          <p:cNvSpPr txBox="1"/>
          <p:nvPr/>
        </p:nvSpPr>
        <p:spPr>
          <a:xfrm>
            <a:off x="8191500" y="5495925"/>
            <a:ext cx="32956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結合數值與圖片，2 工具跑完</a:t>
            </a:r>
          </a:p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本次報告已核對，描述已修正</a:t>
            </a:r>
          </a:p>
        </p:txBody>
      </p:sp>
    </p:spTree>
    <p:extLst>
      <p:ext uri="{BB962C8B-B14F-4D97-AF65-F5344CB8AC3E}">
        <p14:creationId xmlns:p14="http://schemas.microsoft.com/office/powerpoint/2010/main" val="673198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34-textbox-0">
            <a:extLst>
              <a:ext uri="{FF2B5EF4-FFF2-40B4-BE49-F238E27FC236}">
                <a16:creationId xmlns:a16="http://schemas.microsoft.com/office/drawing/2014/main" id="{003A4543-3133-4BC3-AB6A-C58E1CA62BD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DO NEW V2 · 實作方式</a:t>
            </a:r>
          </a:p>
        </p:txBody>
      </p:sp>
      <p:sp>
        <p:nvSpPr>
          <p:cNvPr id="2" name="p34-textbox-1">
            <a:extLst>
              <a:ext uri="{FF2B5EF4-FFF2-40B4-BE49-F238E27FC236}">
                <a16:creationId xmlns:a16="http://schemas.microsoft.com/office/drawing/2014/main" id="{BA031D18-F1FE-49CF-8EE5-F4E4441068C1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八個工具讀取實驗資料，也檢查資料來源</a:t>
            </a:r>
          </a:p>
        </p:txBody>
      </p:sp>
      <p:sp>
        <p:nvSpPr>
          <p:cNvPr id="3" name="p34-rect-2">
            <a:extLst>
              <a:ext uri="{FF2B5EF4-FFF2-40B4-BE49-F238E27FC236}">
                <a16:creationId xmlns:a16="http://schemas.microsoft.com/office/drawing/2014/main" id="{742CEC96-51C0-4D30-B738-B2696C6BC12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34-textbox-3">
            <a:extLst>
              <a:ext uri="{FF2B5EF4-FFF2-40B4-BE49-F238E27FC236}">
                <a16:creationId xmlns:a16="http://schemas.microsoft.com/office/drawing/2014/main" id="{AF93BE23-0416-4D04-8CF6-5BD864C84696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5" name="p34-textbox-4">
            <a:extLst>
              <a:ext uri="{FF2B5EF4-FFF2-40B4-BE49-F238E27FC236}">
                <a16:creationId xmlns:a16="http://schemas.microsoft.com/office/drawing/2014/main" id="{304BB9AB-740A-43F1-A3EB-E439B3417B6F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34</a:t>
            </a:r>
          </a:p>
        </p:txBody>
      </p:sp>
      <p:sp>
        <p:nvSpPr>
          <p:cNvPr id="24" name="review2-34-0">
            <a:extLst>
              <a:ext uri="{FF2B5EF4-FFF2-40B4-BE49-F238E27FC236}">
                <a16:creationId xmlns:a16="http://schemas.microsoft.com/office/drawing/2014/main" id="{B1268005-25D6-476D-AA06-12277925845B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讀取模型資料 · 6 個工具</a:t>
            </a:r>
          </a:p>
        </p:txBody>
      </p:sp>
      <p:sp>
        <p:nvSpPr>
          <p:cNvPr id="25" name="review2-34-1">
            <a:extLst>
              <a:ext uri="{FF2B5EF4-FFF2-40B4-BE49-F238E27FC236}">
                <a16:creationId xmlns:a16="http://schemas.microsoft.com/office/drawing/2014/main" id="{9122CFB0-4559-4F04-AC78-FE835C76E3FD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10820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涵蓋訓練、四組影片驗證、輸入對照、Encoder、梯度與未訓練模型。</a:t>
            </a:r>
          </a:p>
        </p:txBody>
      </p:sp>
      <p:sp>
        <p:nvSpPr>
          <p:cNvPr id="26" name="review2-34-2">
            <a:extLst>
              <a:ext uri="{FF2B5EF4-FFF2-40B4-BE49-F238E27FC236}">
                <a16:creationId xmlns:a16="http://schemas.microsoft.com/office/drawing/2014/main" id="{0DAD063C-D27F-4497-B24E-84C9A4F7DB8C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10820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get_training_evidence / get_verification_evidence / get_sensitivity_evidence</a:t>
            </a:r>
          </a:p>
          <a:p>
            <a:pPr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get_encoder_evidence / get_gradient_evidence / get_fresh_gradient_evidence</a:t>
            </a:r>
          </a:p>
        </p:txBody>
      </p:sp>
      <p:sp>
        <p:nvSpPr>
          <p:cNvPr id="27" name="review2-34-3">
            <a:extLst>
              <a:ext uri="{FF2B5EF4-FFF2-40B4-BE49-F238E27FC236}">
                <a16:creationId xmlns:a16="http://schemas.microsoft.com/office/drawing/2014/main" id="{334911C8-35E3-4C54-AEE7-78512A320814}"/>
              </a:ext>
            </a:extLst>
          </p:cNvPr>
          <p:cNvSpPr>
            <a:spLocks noGrp="1"/>
          </p:cNvSpPr>
          <p:nvPr/>
        </p:nvSpPr>
        <p:spPr>
          <a:xfrm>
            <a:off x="685800" y="3593582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比較影片與模型 · compare_domains</a:t>
            </a:r>
          </a:p>
        </p:txBody>
      </p:sp>
      <p:sp>
        <p:nvSpPr>
          <p:cNvPr id="28" name="review2-34-4">
            <a:extLst>
              <a:ext uri="{FF2B5EF4-FFF2-40B4-BE49-F238E27FC236}">
                <a16:creationId xmlns:a16="http://schemas.microsoft.com/office/drawing/2014/main" id="{726BD953-B60D-47ED-A96E-1C9901ED5B31}"/>
              </a:ext>
            </a:extLst>
          </p:cNvPr>
          <p:cNvSpPr>
            <a:spLocks noGrp="1"/>
          </p:cNvSpPr>
          <p:nvPr/>
        </p:nvSpPr>
        <p:spPr>
          <a:xfrm>
            <a:off x="685800" y="4022207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用相同條件，比較不同影片與模型版本。</a:t>
            </a:r>
          </a:p>
        </p:txBody>
      </p:sp>
      <p:sp>
        <p:nvSpPr>
          <p:cNvPr id="29" name="review2-34-5">
            <a:extLst>
              <a:ext uri="{FF2B5EF4-FFF2-40B4-BE49-F238E27FC236}">
                <a16:creationId xmlns:a16="http://schemas.microsoft.com/office/drawing/2014/main" id="{938122EB-AA0A-4912-9ACD-B246E12B54E0}"/>
              </a:ext>
            </a:extLst>
          </p:cNvPr>
          <p:cNvSpPr>
            <a:spLocks noGrp="1"/>
          </p:cNvSpPr>
          <p:nvPr/>
        </p:nvSpPr>
        <p:spPr>
          <a:xfrm>
            <a:off x="685800" y="4939491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檢查說法 · check_diagnostic_claim</a:t>
            </a:r>
          </a:p>
        </p:txBody>
      </p:sp>
      <p:sp>
        <p:nvSpPr>
          <p:cNvPr id="30" name="review2-34-6">
            <a:extLst>
              <a:ext uri="{FF2B5EF4-FFF2-40B4-BE49-F238E27FC236}">
                <a16:creationId xmlns:a16="http://schemas.microsoft.com/office/drawing/2014/main" id="{117605F0-DAE8-4656-AB0E-D0907381633C}"/>
              </a:ext>
            </a:extLst>
          </p:cNvPr>
          <p:cNvSpPr>
            <a:spLocks noGrp="1"/>
          </p:cNvSpPr>
          <p:nvPr/>
        </p:nvSpPr>
        <p:spPr>
          <a:xfrm>
            <a:off x="685800" y="5368116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依已整理的證據檢查說法；有資料支持，也不代表已找到唯一原因</a:t>
            </a:r>
            <a:r>
              <a:rPr sz="18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0018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Edited text 251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4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Vision 實測：給真實圖片，看 Agent 怎麼描述</a:t>
            </a:r>
          </a:p>
        </p:txBody>
      </p:sp>
      <p:sp>
        <p:nvSpPr>
          <p:cNvPr id="252" name="Edited text 252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35</a:t>
            </a:r>
          </a:p>
        </p:txBody>
      </p:sp>
      <p:sp>
        <p:nvSpPr>
          <p:cNvPr id="253" name="Rule 253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4" name="Edited text 254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55" name="Edited text 255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DO NEW V2 · 單張圖片實測</a:t>
            </a:r>
          </a:p>
        </p:txBody>
      </p:sp>
      <p:pic>
        <p:nvPicPr>
          <p:cNvPr id="256" name="vision-source" descr="Actual replay screenshot; see slide notes for provenance.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1781175"/>
            <a:ext cx="5257800" cy="3943350"/>
          </a:xfrm>
          <a:prstGeom prst="rect">
            <a:avLst/>
          </a:prstGeom>
        </p:spPr>
      </p:pic>
      <p:sp>
        <p:nvSpPr>
          <p:cNvPr id="257" name="review-input">
            <a:extLst>
              <a:ext uri="{FF2B5EF4-FFF2-40B4-BE49-F238E27FC236}">
                <a16:creationId xmlns:a16="http://schemas.microsoft.com/office/drawing/2014/main" id="{CCE184C5-E215-43AA-BDF6-55837D78D343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542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輸入：B6 實際驗證圖片</a:t>
            </a:r>
          </a:p>
        </p:txBody>
      </p:sp>
      <p:sp>
        <p:nvSpPr>
          <p:cNvPr id="258" name="review-process">
            <a:extLst>
              <a:ext uri="{FF2B5EF4-FFF2-40B4-BE49-F238E27FC236}">
                <a16:creationId xmlns:a16="http://schemas.microsoft.com/office/drawing/2014/main" id="{285F8281-8D30-41E2-BCC4-ABC74B160FBD}"/>
              </a:ext>
            </a:extLst>
          </p:cNvPr>
          <p:cNvSpPr>
            <a:spLocks noGrp="1"/>
          </p:cNvSpPr>
          <p:nvPr/>
        </p:nvSpPr>
        <p:spPr>
          <a:xfrm>
            <a:off x="6572250" y="1466850"/>
            <a:ext cx="493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處理：將 PNG 檔案送給 Gemini</a:t>
            </a:r>
          </a:p>
        </p:txBody>
      </p:sp>
      <p:sp>
        <p:nvSpPr>
          <p:cNvPr id="259" name="review-process-detail">
            <a:extLst>
              <a:ext uri="{FF2B5EF4-FFF2-40B4-BE49-F238E27FC236}">
                <a16:creationId xmlns:a16="http://schemas.microsoft.com/office/drawing/2014/main" id="{70F64AEF-D15E-499C-80C4-027D36F46E22}"/>
              </a:ext>
            </a:extLst>
          </p:cNvPr>
          <p:cNvSpPr>
            <a:spLocks noGrp="1"/>
          </p:cNvSpPr>
          <p:nvPr/>
        </p:nvSpPr>
        <p:spPr>
          <a:xfrm>
            <a:off x="6572250" y="1819275"/>
            <a:ext cx="49339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gemini-3.8-flash，輸出固定欄位報告</a:t>
            </a:r>
          </a:p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來源：使用者原始紀錄／§30</a:t>
            </a:r>
          </a:p>
        </p:txBody>
      </p:sp>
      <p:sp>
        <p:nvSpPr>
          <p:cNvPr id="260" name="review-output">
            <a:extLst>
              <a:ext uri="{FF2B5EF4-FFF2-40B4-BE49-F238E27FC236}">
                <a16:creationId xmlns:a16="http://schemas.microsoft.com/office/drawing/2014/main" id="{A8FB3D6E-2463-4081-B871-DCD87BF0C565}"/>
              </a:ext>
            </a:extLst>
          </p:cNvPr>
          <p:cNvSpPr>
            <a:spLocks noGrp="1"/>
          </p:cNvSpPr>
          <p:nvPr/>
        </p:nvSpPr>
        <p:spPr>
          <a:xfrm>
            <a:off x="6572250" y="2476500"/>
            <a:ext cx="493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65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Agent 看到：路徑與車道線有鋸齒</a:t>
            </a:r>
          </a:p>
        </p:txBody>
      </p:sp>
      <p:sp>
        <p:nvSpPr>
          <p:cNvPr id="261" name="review-original-path-quote">
            <a:extLst>
              <a:ext uri="{FF2B5EF4-FFF2-40B4-BE49-F238E27FC236}">
                <a16:creationId xmlns:a16="http://schemas.microsoft.com/office/drawing/2014/main" id="{708CFC69-1EA2-4C81-8096-A616E2245578}"/>
              </a:ext>
            </a:extLst>
          </p:cNvPr>
          <p:cNvSpPr>
            <a:spLocks noGrp="1"/>
          </p:cNvSpPr>
          <p:nvPr/>
        </p:nvSpPr>
        <p:spPr>
          <a:xfrm>
            <a:off x="6572250" y="2857500"/>
            <a:ext cx="49339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5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“Severe high-frequency spatial oscillation /</a:t>
            </a:r>
          </a:p>
          <a:p>
            <a:pPr>
              <a:defRPr sz="15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regression noise affecting the path and</a:t>
            </a:r>
          </a:p>
          <a:p>
            <a:pPr>
              <a:defRPr sz="15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both lane line outputs simultaneously.”</a:t>
            </a:r>
          </a:p>
        </p:txBody>
      </p:sp>
      <p:sp>
        <p:nvSpPr>
          <p:cNvPr id="262" name="review-lead-label">
            <a:extLst>
              <a:ext uri="{FF2B5EF4-FFF2-40B4-BE49-F238E27FC236}">
                <a16:creationId xmlns:a16="http://schemas.microsoft.com/office/drawing/2014/main" id="{EC695BAA-12D2-4E96-B6D4-69E7CFE92080}"/>
              </a:ext>
            </a:extLst>
          </p:cNvPr>
          <p:cNvSpPr>
            <a:spLocks noGrp="1"/>
          </p:cNvSpPr>
          <p:nvPr/>
        </p:nvSpPr>
        <p:spPr>
          <a:xfrm>
            <a:off x="6572250" y="3933825"/>
            <a:ext cx="493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前車對應：無法判斷（Unknown）</a:t>
            </a:r>
          </a:p>
        </p:txBody>
      </p:sp>
      <p:sp>
        <p:nvSpPr>
          <p:cNvPr id="263" name="review-original-lead-quote">
            <a:extLst>
              <a:ext uri="{FF2B5EF4-FFF2-40B4-BE49-F238E27FC236}">
                <a16:creationId xmlns:a16="http://schemas.microsoft.com/office/drawing/2014/main" id="{EDF9BCD0-49BE-4632-ADFC-61E64BF8D835}"/>
              </a:ext>
            </a:extLst>
          </p:cNvPr>
          <p:cNvSpPr>
            <a:spLocks noGrp="1"/>
          </p:cNvSpPr>
          <p:nvPr/>
        </p:nvSpPr>
        <p:spPr>
          <a:xfrm>
            <a:off x="6572250" y="4314825"/>
            <a:ext cx="49339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“no lead bounding box, tracking icon, or</a:t>
            </a:r>
          </a:p>
          <a:p>
            <a:pPr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lead-specific overlay is rendered.”</a:t>
            </a:r>
          </a:p>
        </p:txBody>
      </p:sp>
      <p:sp>
        <p:nvSpPr>
          <p:cNvPr id="264" name="review-image-limit">
            <a:extLst>
              <a:ext uri="{FF2B5EF4-FFF2-40B4-BE49-F238E27FC236}">
                <a16:creationId xmlns:a16="http://schemas.microsoft.com/office/drawing/2014/main" id="{509DF2D5-5D4A-41C1-90FB-2F4A2C4D82DD}"/>
              </a:ext>
            </a:extLst>
          </p:cNvPr>
          <p:cNvSpPr>
            <a:spLocks noGrp="1"/>
          </p:cNvSpPr>
          <p:nvPr/>
        </p:nvSpPr>
        <p:spPr>
          <a:xfrm>
            <a:off x="6572250" y="5219700"/>
            <a:ext cx="49339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限制：單張只能看空間形狀，不能確認</a:t>
            </a:r>
          </a:p>
          <a:p>
            <a:pPr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移動情形、準確度、安全或唯一原因。</a:t>
            </a:r>
          </a:p>
        </p:txBody>
      </p:sp>
      <p:sp>
        <p:nvSpPr>
          <p:cNvPr id="265" name="review-image-source">
            <a:extLst>
              <a:ext uri="{FF2B5EF4-FFF2-40B4-BE49-F238E27FC236}">
                <a16:creationId xmlns:a16="http://schemas.microsoft.com/office/drawing/2014/main" id="{E4A5C9B0-D7D0-41D1-835F-ABC6C904E11A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542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USA／final／frame 1 · 1200 × 900 · hash 8c548903…</a:t>
            </a:r>
          </a:p>
        </p:txBody>
      </p:sp>
    </p:spTree>
    <p:extLst>
      <p:ext uri="{BB962C8B-B14F-4D97-AF65-F5344CB8AC3E}">
        <p14:creationId xmlns:p14="http://schemas.microsoft.com/office/powerpoint/2010/main" val="319717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36-textbox-0">
            <a:extLst>
              <a:ext uri="{FF2B5EF4-FFF2-40B4-BE49-F238E27FC236}">
                <a16:creationId xmlns:a16="http://schemas.microsoft.com/office/drawing/2014/main" id="{095E56A5-0FA4-4C74-BFCA-72F6E8451A17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目前實測與驗收狀態</a:t>
            </a:r>
          </a:p>
        </p:txBody>
      </p:sp>
      <p:sp>
        <p:nvSpPr>
          <p:cNvPr id="2" name="p36-textbox-1">
            <a:extLst>
              <a:ext uri="{FF2B5EF4-FFF2-40B4-BE49-F238E27FC236}">
                <a16:creationId xmlns:a16="http://schemas.microsoft.com/office/drawing/2014/main" id="{6CB5F8D3-9191-4739-ACD2-8726213E2CAF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Diagnosis／Unified：給什麼資料，得到什麼回答</a:t>
            </a:r>
          </a:p>
        </p:txBody>
      </p:sp>
      <p:sp>
        <p:nvSpPr>
          <p:cNvPr id="3" name="p36-rect-2">
            <a:extLst>
              <a:ext uri="{FF2B5EF4-FFF2-40B4-BE49-F238E27FC236}">
                <a16:creationId xmlns:a16="http://schemas.microsoft.com/office/drawing/2014/main" id="{703CD8C4-B0C6-421B-99F8-671BFFF1AEB2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14288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36-textbox-3">
            <a:extLst>
              <a:ext uri="{FF2B5EF4-FFF2-40B4-BE49-F238E27FC236}">
                <a16:creationId xmlns:a16="http://schemas.microsoft.com/office/drawing/2014/main" id="{A50BADC9-1AC1-4570-81C7-1FEEABA71762}"/>
              </a:ext>
            </a:extLst>
          </p:cNvPr>
          <p:cNvSpPr>
            <a:spLocks noGrp="1"/>
          </p:cNvSpPr>
          <p:nvPr/>
        </p:nvSpPr>
        <p:spPr>
          <a:xfrm>
            <a:off x="685800" y="6467475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5" name="p36-textbox-4">
            <a:extLst>
              <a:ext uri="{FF2B5EF4-FFF2-40B4-BE49-F238E27FC236}">
                <a16:creationId xmlns:a16="http://schemas.microsoft.com/office/drawing/2014/main" id="{D21751B2-BF31-47B3-90C7-EF914F5B1210}"/>
              </a:ext>
            </a:extLst>
          </p:cNvPr>
          <p:cNvSpPr>
            <a:spLocks noGrp="1"/>
          </p:cNvSpPr>
          <p:nvPr/>
        </p:nvSpPr>
        <p:spPr>
          <a:xfrm>
            <a:off x="11029950" y="64389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36</a:t>
            </a:r>
          </a:p>
        </p:txBody>
      </p:sp>
      <p:sp>
        <p:nvSpPr>
          <p:cNvPr id="16" name="review2-36-0">
            <a:extLst>
              <a:ext uri="{FF2B5EF4-FFF2-40B4-BE49-F238E27FC236}">
                <a16:creationId xmlns:a16="http://schemas.microsoft.com/office/drawing/2014/main" id="{94CDF1EF-D871-4068-A99F-3FCB320933B2}"/>
              </a:ext>
            </a:extLst>
          </p:cNvPr>
          <p:cNvSpPr>
            <a:spLocks noGrp="1"/>
          </p:cNvSpPr>
          <p:nvPr/>
        </p:nvSpPr>
        <p:spPr>
          <a:xfrm>
            <a:off x="685800" y="1647825"/>
            <a:ext cx="516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Diagnosis</a:t>
            </a:r>
          </a:p>
        </p:txBody>
      </p:sp>
      <p:sp>
        <p:nvSpPr>
          <p:cNvPr id="17" name="review2-36-1">
            <a:extLst>
              <a:ext uri="{FF2B5EF4-FFF2-40B4-BE49-F238E27FC236}">
                <a16:creationId xmlns:a16="http://schemas.microsoft.com/office/drawing/2014/main" id="{DF4DC37A-F4A9-47D6-B804-D8481C6B3756}"/>
              </a:ext>
            </a:extLst>
          </p:cNvPr>
          <p:cNvSpPr>
            <a:spLocks noGrp="1"/>
          </p:cNvSpPr>
          <p:nvPr/>
        </p:nvSpPr>
        <p:spPr>
          <a:xfrm>
            <a:off x="6343650" y="1647825"/>
            <a:ext cx="516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Unified</a:t>
            </a:r>
          </a:p>
        </p:txBody>
      </p:sp>
      <p:sp>
        <p:nvSpPr>
          <p:cNvPr id="18" name="review2-36-2">
            <a:extLst>
              <a:ext uri="{FF2B5EF4-FFF2-40B4-BE49-F238E27FC236}">
                <a16:creationId xmlns:a16="http://schemas.microsoft.com/office/drawing/2014/main" id="{D03AE0F9-2BE1-428D-8AD6-D4EE422C6FEC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51625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輸入：B6 訓練、梯度與 Encoder 資料</a:t>
            </a:r>
          </a:p>
          <a:p>
            <a:pPr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指定工具：訓練、梯度、Encoder、說法檢查</a:t>
            </a:r>
          </a:p>
        </p:txBody>
      </p:sp>
      <p:sp>
        <p:nvSpPr>
          <p:cNvPr id="19" name="review2-36-3">
            <a:extLst>
              <a:ext uri="{FF2B5EF4-FFF2-40B4-BE49-F238E27FC236}">
                <a16:creationId xmlns:a16="http://schemas.microsoft.com/office/drawing/2014/main" id="{5351582E-432F-443F-BC22-649ADFC0429F}"/>
              </a:ext>
            </a:extLst>
          </p:cNvPr>
          <p:cNvSpPr>
            <a:spLocks noGrp="1"/>
          </p:cNvSpPr>
          <p:nvPr/>
        </p:nvSpPr>
        <p:spPr>
          <a:xfrm>
            <a:off x="6343650" y="2190750"/>
            <a:ext cx="51625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輸入：台灣 Best 第 1 幀＋數值資料</a:t>
            </a:r>
          </a:p>
          <a:p>
            <a:pPr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指定工具：影片驗證、compare_domains</a:t>
            </a:r>
          </a:p>
        </p:txBody>
      </p:sp>
      <p:sp>
        <p:nvSpPr>
          <p:cNvPr id="20" name="review2-36-4">
            <a:extLst>
              <a:ext uri="{FF2B5EF4-FFF2-40B4-BE49-F238E27FC236}">
                <a16:creationId xmlns:a16="http://schemas.microsoft.com/office/drawing/2014/main" id="{12C3AC58-66DC-4C8E-A7C8-2025F6051171}"/>
              </a:ext>
            </a:extLst>
          </p:cNvPr>
          <p:cNvSpPr>
            <a:spLocks noGrp="1"/>
          </p:cNvSpPr>
          <p:nvPr/>
        </p:nvSpPr>
        <p:spPr>
          <a:xfrm>
            <a:off x="685800" y="3057525"/>
            <a:ext cx="516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實際回答（原文節錄）</a:t>
            </a:r>
          </a:p>
        </p:txBody>
      </p:sp>
      <p:sp>
        <p:nvSpPr>
          <p:cNvPr id="21" name="review2-36-5">
            <a:extLst>
              <a:ext uri="{FF2B5EF4-FFF2-40B4-BE49-F238E27FC236}">
                <a16:creationId xmlns:a16="http://schemas.microsoft.com/office/drawing/2014/main" id="{243DB02C-ED7A-4228-9523-F9A7BE980700}"/>
              </a:ext>
            </a:extLst>
          </p:cNvPr>
          <p:cNvSpPr>
            <a:spLocks noGrp="1"/>
          </p:cNvSpPr>
          <p:nvPr/>
        </p:nvSpPr>
        <p:spPr>
          <a:xfrm>
            <a:off x="685800" y="3533775"/>
            <a:ext cx="51625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“Validation deterioration is compatible</a:t>
            </a:r>
          </a:p>
          <a:p>
            <a:pPr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with overfitting/instability, not a</a:t>
            </a:r>
          </a:p>
          <a:p>
            <a:pPr>
              <a:def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definitive cause”</a:t>
            </a:r>
          </a:p>
        </p:txBody>
      </p:sp>
      <p:sp>
        <p:nvSpPr>
          <p:cNvPr id="22" name="review2-36-6">
            <a:extLst>
              <a:ext uri="{FF2B5EF4-FFF2-40B4-BE49-F238E27FC236}">
                <a16:creationId xmlns:a16="http://schemas.microsoft.com/office/drawing/2014/main" id="{C098D420-293E-40A4-809B-4D1B36B741D2}"/>
              </a:ext>
            </a:extLst>
          </p:cNvPr>
          <p:cNvSpPr>
            <a:spLocks noGrp="1"/>
          </p:cNvSpPr>
          <p:nvPr/>
        </p:nvSpPr>
        <p:spPr>
          <a:xfrm>
            <a:off x="6343650" y="3057525"/>
            <a:ext cx="516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實際回答（原文節錄）</a:t>
            </a:r>
          </a:p>
        </p:txBody>
      </p:sp>
      <p:sp>
        <p:nvSpPr>
          <p:cNvPr id="23" name="review2-36-7">
            <a:extLst>
              <a:ext uri="{FF2B5EF4-FFF2-40B4-BE49-F238E27FC236}">
                <a16:creationId xmlns:a16="http://schemas.microsoft.com/office/drawing/2014/main" id="{1E561469-87D0-4D9C-83FF-3F53F53EE541}"/>
              </a:ext>
            </a:extLst>
          </p:cNvPr>
          <p:cNvSpPr>
            <a:spLocks noGrp="1"/>
          </p:cNvSpPr>
          <p:nvPr/>
        </p:nvSpPr>
        <p:spPr>
          <a:xfrm>
            <a:off x="6343650" y="3533775"/>
            <a:ext cx="51625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“Whole-clip summary statistics such as</a:t>
            </a:r>
          </a:p>
          <a:p>
            <a:pPr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lane_width_near_nonpositive_frames (0)</a:t>
            </a:r>
          </a:p>
          <a:p>
            <a:pPr>
              <a:def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describe aggregate behavior”</a:t>
            </a:r>
          </a:p>
        </p:txBody>
      </p:sp>
      <p:sp>
        <p:nvSpPr>
          <p:cNvPr id="24" name="review2-36-8">
            <a:extLst>
              <a:ext uri="{FF2B5EF4-FFF2-40B4-BE49-F238E27FC236}">
                <a16:creationId xmlns:a16="http://schemas.microsoft.com/office/drawing/2014/main" id="{F008EEB9-9109-4106-AA67-2F1B5B1E935F}"/>
              </a:ext>
            </a:extLst>
          </p:cNvPr>
          <p:cNvSpPr>
            <a:spLocks noGrp="1"/>
          </p:cNvSpPr>
          <p:nvPr/>
        </p:nvSpPr>
        <p:spPr>
          <a:xfrm>
            <a:off x="685800" y="4638675"/>
            <a:ext cx="516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loss </a:t>
            </a:r>
            <a:r>
              <a:rPr sz="1575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變差，還不能確定是過度擬合</a:t>
            </a:r>
            <a:r>
              <a:rPr sz="1575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25" name="review2-36-9">
            <a:extLst>
              <a:ext uri="{FF2B5EF4-FFF2-40B4-BE49-F238E27FC236}">
                <a16:creationId xmlns:a16="http://schemas.microsoft.com/office/drawing/2014/main" id="{7E60383D-D3C3-415B-8C0D-E28E3DF59FD2}"/>
              </a:ext>
            </a:extLst>
          </p:cNvPr>
          <p:cNvSpPr>
            <a:spLocks noGrp="1"/>
          </p:cNvSpPr>
          <p:nvPr/>
        </p:nvSpPr>
        <p:spPr>
          <a:xfrm>
            <a:off x="6343650" y="4638675"/>
            <a:ext cx="516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5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 dirty="0" err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整段統計無法判定這張圖的誤差</a:t>
            </a:r>
            <a:r>
              <a:rPr sz="1575" b="0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26" name="review2-36-10">
            <a:extLst>
              <a:ext uri="{FF2B5EF4-FFF2-40B4-BE49-F238E27FC236}">
                <a16:creationId xmlns:a16="http://schemas.microsoft.com/office/drawing/2014/main" id="{8884EF7E-9312-40E7-BCE1-75A57AF1A301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08204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575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實測紀錄：Diagnosis 4 工具／29.301 秒，Unified 2 工具／6.857 秒；各跑 1 次、12 項檔案指紋吻合。</a:t>
            </a:r>
          </a:p>
        </p:txBody>
      </p:sp>
    </p:spTree>
    <p:extLst>
      <p:ext uri="{BB962C8B-B14F-4D97-AF65-F5344CB8AC3E}">
        <p14:creationId xmlns:p14="http://schemas.microsoft.com/office/powerpoint/2010/main" val="401932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Edited text 268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5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Agent 有跑完，不代表回答都正確</a:t>
            </a:r>
          </a:p>
        </p:txBody>
      </p:sp>
      <p:sp>
        <p:nvSpPr>
          <p:cNvPr id="269" name="Edited text 269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37</a:t>
            </a:r>
          </a:p>
        </p:txBody>
      </p:sp>
      <p:sp>
        <p:nvSpPr>
          <p:cNvPr id="270" name="Rule 270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1" name="Edited text 271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272" name="Edited text 272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三種檢查，分開看結果</a:t>
            </a:r>
          </a:p>
        </p:txBody>
      </p:sp>
      <p:sp>
        <p:nvSpPr>
          <p:cNvPr id="273" name="review2-37-0">
            <a:extLst>
              <a:ext uri="{FF2B5EF4-FFF2-40B4-BE49-F238E27FC236}">
                <a16:creationId xmlns:a16="http://schemas.microsoft.com/office/drawing/2014/main" id="{F30FCB75-BF74-4EF3-9076-35DB3A2C295C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33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本機測試</a:t>
            </a:r>
          </a:p>
        </p:txBody>
      </p:sp>
      <p:sp>
        <p:nvSpPr>
          <p:cNvPr id="274" name="review2-37-1">
            <a:extLst>
              <a:ext uri="{FF2B5EF4-FFF2-40B4-BE49-F238E27FC236}">
                <a16:creationId xmlns:a16="http://schemas.microsoft.com/office/drawing/2014/main" id="{2C560914-0472-4027-A738-9862FFB96E27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4333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96／96 項測試通過（先前紀錄）</a:t>
            </a:r>
          </a:p>
          <a:p>
            <a:pPr>
              <a:def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檢查程式流程與錯誤處理</a:t>
            </a:r>
          </a:p>
        </p:txBody>
      </p:sp>
      <p:sp>
        <p:nvSpPr>
          <p:cNvPr id="275" name="review2-37-2">
            <a:extLst>
              <a:ext uri="{FF2B5EF4-FFF2-40B4-BE49-F238E27FC236}">
                <a16:creationId xmlns:a16="http://schemas.microsoft.com/office/drawing/2014/main" id="{E83D2D55-1773-42AD-949B-35C2D94CB0F9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33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實際呼叫 API</a:t>
            </a:r>
          </a:p>
        </p:txBody>
      </p:sp>
      <p:sp>
        <p:nvSpPr>
          <p:cNvPr id="276" name="review2-37-3">
            <a:extLst>
              <a:ext uri="{FF2B5EF4-FFF2-40B4-BE49-F238E27FC236}">
                <a16:creationId xmlns:a16="http://schemas.microsoft.com/office/drawing/2014/main" id="{5C2161D7-867D-4DE3-9842-9A0482E478F3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4333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檢查工具有回傳、報告有產生</a:t>
            </a:r>
          </a:p>
          <a:p>
            <a:pPr>
              <a:def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檔案指紋吻合，只代表讀到同一份檔案</a:t>
            </a:r>
          </a:p>
        </p:txBody>
      </p:sp>
      <p:sp>
        <p:nvSpPr>
          <p:cNvPr id="277" name="review2-37-4">
            <a:extLst>
              <a:ext uri="{FF2B5EF4-FFF2-40B4-BE49-F238E27FC236}">
                <a16:creationId xmlns:a16="http://schemas.microsoft.com/office/drawing/2014/main" id="{D398F780-965A-4A7D-92B7-FF1F0F181B67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433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核對回答內容</a:t>
            </a:r>
          </a:p>
        </p:txBody>
      </p:sp>
      <p:sp>
        <p:nvSpPr>
          <p:cNvPr id="278" name="review2-37-5">
            <a:extLst>
              <a:ext uri="{FF2B5EF4-FFF2-40B4-BE49-F238E27FC236}">
                <a16:creationId xmlns:a16="http://schemas.microsoft.com/office/drawing/2014/main" id="{E0B431D4-2FC2-4563-9E80-30A59F2566F8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4333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人工對照數據、來源與圖片</a:t>
            </a:r>
          </a:p>
          <a:p>
            <a:pPr>
              <a:def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逐項檢查模型的解讀</a:t>
            </a:r>
          </a:p>
        </p:txBody>
      </p:sp>
      <p:sp>
        <p:nvSpPr>
          <p:cNvPr id="279" name="review2-37-6">
            <a:extLst>
              <a:ext uri="{FF2B5EF4-FFF2-40B4-BE49-F238E27FC236}">
                <a16:creationId xmlns:a16="http://schemas.microsoft.com/office/drawing/2014/main" id="{D86CD3D1-65D9-42BF-8080-277EB8F847E6}"/>
              </a:ext>
            </a:extLst>
          </p:cNvPr>
          <p:cNvSpPr>
            <a:spLocks noGrp="1"/>
          </p:cNvSpPr>
          <p:nvPr/>
        </p:nvSpPr>
        <p:spPr>
          <a:xfrm>
            <a:off x="5410200" y="5267325"/>
            <a:ext cx="609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D28D9"/>
                </a:solidFill>
                <a:latin typeface="PingFang TC"/>
                <a:ea typeface="PingFang TC"/>
                <a:cs typeface="PingFang TC"/>
              </a:rPr>
              <a:t>這三項分開驗證，不會自動一起通過。</a:t>
            </a:r>
          </a:p>
        </p:txBody>
      </p:sp>
      <p:graphicFrame>
        <p:nvGraphicFramePr>
          <p:cNvPr id="281" name="表格 280">
            <a:extLst>
              <a:ext uri="{FF2B5EF4-FFF2-40B4-BE49-F238E27FC236}">
                <a16:creationId xmlns:a16="http://schemas.microsoft.com/office/drawing/2014/main" id="{C634844B-D419-43BA-8F5F-D566566AB3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58574"/>
              </p:ext>
            </p:extLst>
          </p:nvPr>
        </p:nvGraphicFramePr>
        <p:xfrm>
          <a:off x="5410200" y="1724025"/>
          <a:ext cx="6096000" cy="3286128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Agent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API 執行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1">
                          <a:solidFill>
                            <a:srgbClr val="6D28D9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內容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Baseline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已記錄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完整回答已核對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Evidence v1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已記錄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8 個數值已核對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Vision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PASS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單張已審核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Diagnosis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PASS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 dirty="0" err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已核對</a:t>
                      </a:r>
                      <a:r>
                        <a:rPr lang="zh-TW" altLang="en-US" sz="1650" b="0" dirty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／修正</a:t>
                      </a:r>
                      <a:endParaRPr sz="1650" b="0" dirty="0">
                        <a:solidFill>
                          <a:srgbClr val="0F172A"/>
                        </a:solidFill>
                        <a:latin typeface="PingFang TC"/>
                        <a:ea typeface="PingFang TC"/>
                        <a:cs typeface="PingFang TC"/>
                      </a:endParaRP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Unified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PASS</a:t>
                      </a: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650" b="0" dirty="0" err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已核對／修正</a:t>
                      </a:r>
                      <a:endParaRPr sz="1650" b="0" dirty="0">
                        <a:solidFill>
                          <a:srgbClr val="0F172A"/>
                        </a:solidFill>
                        <a:latin typeface="PingFang TC"/>
                        <a:ea typeface="PingFang TC"/>
                        <a:cs typeface="PingFang TC"/>
                      </a:endParaRPr>
                    </a:p>
                  </a:txBody>
                  <a:tcPr marL="114300" marR="114300" marT="57150" marB="5715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970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Edited text 114"/>
          <p:cNvSpPr txBox="1"/>
          <p:nvPr/>
        </p:nvSpPr>
        <p:spPr>
          <a:xfrm>
            <a:off x="685800" y="714375"/>
            <a:ext cx="108204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55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Project 2：完成實作，也用實驗追查問題</a:t>
            </a:r>
          </a:p>
        </p:txBody>
      </p:sp>
      <p:sp>
        <p:nvSpPr>
          <p:cNvPr id="115" name="Edited text 115"/>
          <p:cNvSpPr txBox="1"/>
          <p:nvPr/>
        </p:nvSpPr>
        <p:spPr>
          <a:xfrm>
            <a:off x="10953750" y="645795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75" b="1" noProof="1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38</a:t>
            </a:r>
          </a:p>
        </p:txBody>
      </p:sp>
      <p:sp>
        <p:nvSpPr>
          <p:cNvPr id="116" name="Rule 116"/>
          <p:cNvSpPr/>
          <p:nvPr/>
        </p:nvSpPr>
        <p:spPr>
          <a:xfrm>
            <a:off x="685800" y="6372225"/>
            <a:ext cx="10820400" cy="9525"/>
          </a:xfrm>
          <a:prstGeom prst="rect">
            <a:avLst/>
          </a:prstGeom>
          <a:solidFill>
            <a:srgbClr val="544B6D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Edited text 117"/>
          <p:cNvSpPr txBox="1"/>
          <p:nvPr/>
        </p:nvSpPr>
        <p:spPr>
          <a:xfrm>
            <a:off x="685800" y="6457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900" b="0" noProof="1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PROJECT 2</a:t>
            </a:r>
          </a:p>
        </p:txBody>
      </p:sp>
      <p:sp>
        <p:nvSpPr>
          <p:cNvPr id="118" name="Edited text 118"/>
          <p:cNvSpPr txBox="1"/>
          <p:nvPr/>
        </p:nvSpPr>
        <p:spPr>
          <a:xfrm>
            <a:off x="685800" y="323850"/>
            <a:ext cx="108204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125" b="1" noProof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PROJECT 2 · 完成的工作</a:t>
            </a:r>
          </a:p>
        </p:txBody>
      </p:sp>
      <p:sp>
        <p:nvSpPr>
          <p:cNvPr id="119" name="review2-38-0">
            <a:extLst>
              <a:ext uri="{FF2B5EF4-FFF2-40B4-BE49-F238E27FC236}">
                <a16:creationId xmlns:a16="http://schemas.microsoft.com/office/drawing/2014/main" id="{90A29350-F1C3-488A-B0CD-CB6D6786D8EC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85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20" name="review2-38-1">
            <a:extLst>
              <a:ext uri="{FF2B5EF4-FFF2-40B4-BE49-F238E27FC236}">
                <a16:creationId xmlns:a16="http://schemas.microsoft.com/office/drawing/2014/main" id="{2B022281-2BB5-4A6B-83FF-696E371DF85A}"/>
              </a:ext>
            </a:extLst>
          </p:cNvPr>
          <p:cNvSpPr>
            <a:spLocks noGrp="1"/>
          </p:cNvSpPr>
          <p:nvPr/>
        </p:nvSpPr>
        <p:spPr>
          <a:xfrm>
            <a:off x="1847850" y="1685925"/>
            <a:ext cx="965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175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完成課程要求</a:t>
            </a:r>
          </a:p>
        </p:txBody>
      </p:sp>
      <p:sp>
        <p:nvSpPr>
          <p:cNvPr id="121" name="review2-38-2">
            <a:extLst>
              <a:ext uri="{FF2B5EF4-FFF2-40B4-BE49-F238E27FC236}">
                <a16:creationId xmlns:a16="http://schemas.microsoft.com/office/drawing/2014/main" id="{5CCE481C-4FCF-4935-B11A-E129E37BF42D}"/>
              </a:ext>
            </a:extLst>
          </p:cNvPr>
          <p:cNvSpPr>
            <a:spLocks noGrp="1"/>
          </p:cNvSpPr>
          <p:nvPr/>
        </p:nvSpPr>
        <p:spPr>
          <a:xfrm>
            <a:off x="1847850" y="2143125"/>
            <a:ext cx="965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0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B6 訓練 60 epochs、四組 Step 6 驗證、Agno 範例與五層架構分析。</a:t>
            </a:r>
          </a:p>
        </p:txBody>
      </p:sp>
      <p:sp>
        <p:nvSpPr>
          <p:cNvPr id="122" name="review2-38-3">
            <a:extLst>
              <a:ext uri="{FF2B5EF4-FFF2-40B4-BE49-F238E27FC236}">
                <a16:creationId xmlns:a16="http://schemas.microsoft.com/office/drawing/2014/main" id="{1B6BAA82-1467-4E29-83D9-58BB1BC68E44}"/>
              </a:ext>
            </a:extLst>
          </p:cNvPr>
          <p:cNvSpPr>
            <a:spLocks noGrp="1"/>
          </p:cNvSpPr>
          <p:nvPr/>
        </p:nvSpPr>
        <p:spPr>
          <a:xfrm>
            <a:off x="685800" y="2771775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85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3" name="review2-38-4">
            <a:extLst>
              <a:ext uri="{FF2B5EF4-FFF2-40B4-BE49-F238E27FC236}">
                <a16:creationId xmlns:a16="http://schemas.microsoft.com/office/drawing/2014/main" id="{54EF11B6-3DC9-45B9-A267-812424B908F7}"/>
              </a:ext>
            </a:extLst>
          </p:cNvPr>
          <p:cNvSpPr>
            <a:spLocks noGrp="1"/>
          </p:cNvSpPr>
          <p:nvPr/>
        </p:nvSpPr>
        <p:spPr>
          <a:xfrm>
            <a:off x="1847850" y="2771775"/>
            <a:ext cx="965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10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自己設計實驗，測試可能的修復方法</a:t>
            </a:r>
          </a:p>
        </p:txBody>
      </p:sp>
      <p:sp>
        <p:nvSpPr>
          <p:cNvPr id="124" name="review2-38-5">
            <a:extLst>
              <a:ext uri="{FF2B5EF4-FFF2-40B4-BE49-F238E27FC236}">
                <a16:creationId xmlns:a16="http://schemas.microsoft.com/office/drawing/2014/main" id="{842D528B-15CE-48D1-A872-639B43E6C046}"/>
              </a:ext>
            </a:extLst>
          </p:cNvPr>
          <p:cNvSpPr>
            <a:spLocks noGrp="1"/>
          </p:cNvSpPr>
          <p:nvPr/>
        </p:nvSpPr>
        <p:spPr>
          <a:xfrm>
            <a:off x="1847850" y="3228975"/>
            <a:ext cx="965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0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比較影像／state、Encoder 與梯度；兩種修復版本都未達到續訓條件。</a:t>
            </a:r>
          </a:p>
        </p:txBody>
      </p:sp>
      <p:sp>
        <p:nvSpPr>
          <p:cNvPr id="125" name="review2-38-6">
            <a:extLst>
              <a:ext uri="{FF2B5EF4-FFF2-40B4-BE49-F238E27FC236}">
                <a16:creationId xmlns:a16="http://schemas.microsoft.com/office/drawing/2014/main" id="{0A9C4660-F33B-4716-A41D-390E8308BA45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85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26" name="review2-38-7">
            <a:extLst>
              <a:ext uri="{FF2B5EF4-FFF2-40B4-BE49-F238E27FC236}">
                <a16:creationId xmlns:a16="http://schemas.microsoft.com/office/drawing/2014/main" id="{0ED37EF4-93E9-4F40-9EC7-22C8D13F003D}"/>
              </a:ext>
            </a:extLst>
          </p:cNvPr>
          <p:cNvSpPr>
            <a:spLocks noGrp="1"/>
          </p:cNvSpPr>
          <p:nvPr/>
        </p:nvSpPr>
        <p:spPr>
          <a:xfrm>
            <a:off x="1847850" y="3857625"/>
            <a:ext cx="965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100" b="1">
                <a:solidFill>
                  <a:srgbClr val="C4B5FD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C4B5FD"/>
                </a:solidFill>
                <a:latin typeface="PingFang TC"/>
                <a:ea typeface="PingFang TC"/>
                <a:cs typeface="PingFang TC"/>
              </a:rPr>
              <a:t>讓 Agent 讀實驗資料，保留判斷來源</a:t>
            </a:r>
          </a:p>
        </p:txBody>
      </p:sp>
      <p:sp>
        <p:nvSpPr>
          <p:cNvPr id="127" name="review2-38-8">
            <a:extLst>
              <a:ext uri="{FF2B5EF4-FFF2-40B4-BE49-F238E27FC236}">
                <a16:creationId xmlns:a16="http://schemas.microsoft.com/office/drawing/2014/main" id="{EC1A947D-9B13-4B81-8C09-B6531CC335B1}"/>
              </a:ext>
            </a:extLst>
          </p:cNvPr>
          <p:cNvSpPr>
            <a:spLocks noGrp="1"/>
          </p:cNvSpPr>
          <p:nvPr/>
        </p:nvSpPr>
        <p:spPr>
          <a:xfrm>
            <a:off x="1847850" y="4314825"/>
            <a:ext cx="9658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80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Evidence／Vision、Diagnosis／Unified 已實測，並加入來源、雜湊與路徑檢查。</a:t>
            </a:r>
          </a:p>
        </p:txBody>
      </p:sp>
      <p:sp>
        <p:nvSpPr>
          <p:cNvPr id="128" name="review2-38-9">
            <a:extLst>
              <a:ext uri="{FF2B5EF4-FFF2-40B4-BE49-F238E27FC236}">
                <a16:creationId xmlns:a16="http://schemas.microsoft.com/office/drawing/2014/main" id="{B437326C-4DFE-4C69-804B-331A05FC84EA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我的做法：先用對照實驗縮小問題，再看結果決定要不要繼續訓練。</a:t>
            </a:r>
          </a:p>
        </p:txBody>
      </p:sp>
      <p:sp>
        <p:nvSpPr>
          <p:cNvPr id="129" name="review2-38-10">
            <a:extLst>
              <a:ext uri="{FF2B5EF4-FFF2-40B4-BE49-F238E27FC236}">
                <a16:creationId xmlns:a16="http://schemas.microsoft.com/office/drawing/2014/main" id="{EE5892F8-CD70-4082-9CEA-C848BA6BBC53}"/>
              </a:ext>
            </a:extLst>
          </p:cNvPr>
          <p:cNvSpPr>
            <a:spLocks noGrp="1"/>
          </p:cNvSpPr>
          <p:nvPr/>
        </p:nvSpPr>
        <p:spPr>
          <a:xfrm>
            <a:off x="685800" y="5597156"/>
            <a:ext cx="108204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>
              <a:defRPr sz="1425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NOT VERIFIED｜駕駛品質、唯一原因、有效修復、自主選工具與跨樣本可靠度，仍未證實。</a:t>
            </a:r>
          </a:p>
          <a:p>
            <a:pPr>
              <a:defRPr sz="1425" b="0">
                <a:solidFill>
                  <a:srgbClr val="D4CFE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D4CFE2"/>
                </a:solidFill>
                <a:latin typeface="PingFang TC"/>
                <a:ea typeface="PingFang TC"/>
                <a:cs typeface="PingFang TC"/>
              </a:rPr>
              <a:t>CONFIRMED｜Diagnosis／Unified 本次內容已核對並修正；驗證範圍限已測資料。</a:t>
            </a:r>
          </a:p>
        </p:txBody>
      </p:sp>
    </p:spTree>
    <p:extLst>
      <p:ext uri="{BB962C8B-B14F-4D97-AF65-F5344CB8AC3E}">
        <p14:creationId xmlns:p14="http://schemas.microsoft.com/office/powerpoint/2010/main" val="13033209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16882</Words>
  <Application>Microsoft Macintosh PowerPoint</Application>
  <DocSecurity>0</DocSecurity>
  <PresentationFormat>寬螢幕</PresentationFormat>
  <Paragraphs>1164</Paragraphs>
  <Slides>38</Slides>
  <Notes>38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1" baseType="lpstr">
      <vt:lpstr>PingFang TC</vt:lpstr>
      <vt:lpstr>Aptos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2006 Wu</cp:lastModifiedBy>
  <cp:revision>20</cp:revision>
  <dcterms:created xsi:type="dcterms:W3CDTF">2026-10-08T16:44:56Z</dcterms:created>
  <dcterms:modified xsi:type="dcterms:W3CDTF">2026-10-16T05:30:10Z</dcterms:modified>
</cp:coreProperties>
</file>