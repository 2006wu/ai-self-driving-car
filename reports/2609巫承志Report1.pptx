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26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R12</a:t>
            </a:r>
          </a:p>
          <a:p>
            <a:r>
              <a:t>E02: 實作採macOS ARM64上Docker linux/amd64 Ubuntu20.04，Compute/Display一致基底。</a:t>
            </a:r>
          </a:p>
          <a:p>
            <a:r>
              <a:t>Tier: ENGINEERING IMPROVEMENT; confidence: CONFIRMED</a:t>
            </a:r>
          </a:p>
          <a:p>
            <a:r>
              <a:t>Sources: docker/Dockerfile.compute:1; docker/Dockerfile.display:1; docs/IMPLEMENTATION.md:11-17; build/baseline-diff.txt; build/current-runtime.txt</a:t>
            </a:r>
          </a:p>
          <a:p>
            <a:r>
              <a:t>Type: Current configuration and runtime</a:t>
            </a:r>
          </a:p>
          <a:p>
            <a:r>
              <a:t>Boundary: 與原Ubuntu24.04教學不同，未證明教授批准平台差異。</a:t>
            </a:r>
          </a:p>
          <a:p>
            <a:endParaRPr/>
          </a:p>
          <a:p>
            <a:r>
              <a:t>E03: OpenPilot0.9.1 commit d891d3df；Python3.8.10/Poetry1.3.2/SCons4.4.0；目前submodules列出7項已初始化。</a:t>
            </a:r>
          </a:p>
          <a:p>
            <a:r>
              <a:t>Tier: COURSE REQUIREMENT; confidence: CONFIRMED</a:t>
            </a:r>
          </a:p>
          <a:p>
            <a:r>
              <a:t>Sources: docker/Dockerfile.compute; build/current-runtime.txt</a:t>
            </a:r>
          </a:p>
          <a:p>
            <a:r>
              <a:t>Type: Current runtime identity</a:t>
            </a:r>
          </a:p>
          <a:p>
            <a:r>
              <a:t>Boundary: Python範例3.8.20；未另建教授sconsvenv/完整lock安裝。歷史文件8項與現有7项不混用。</a:t>
            </a:r>
          </a:p>
          <a:p>
            <a:endParaRPr/>
          </a:p>
          <a:p>
            <a:r>
              <a:t>E18: 10/04歷史紀錄記載official USA、compat JLL USA、compat Taiwan在VNC看到道路/疊圖/速度。</a:t>
            </a:r>
          </a:p>
          <a:p>
            <a:r>
              <a:t>Tier: COURSE REQUIREMENT; confidence: CONFIRMED</a:t>
            </a:r>
          </a:p>
          <a:p>
            <a:r>
              <a:t>Sources: docs/IMPLEMENTATION.md:140-160; docs/INSTALLOP_AUDIT.md:337-397; build/acceptance-diff.txt</a:t>
            </a:r>
          </a:p>
          <a:p>
            <a:r>
              <a:t>Type: Historical documented acceptance</a:t>
            </a:r>
          </a:p>
          <a:p>
            <a:r>
              <a:t>Boundary: 歷史片段驗收，不是完整11segments/current replay/driving quality。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R01, R02, R03, R04, R05, R12</a:t>
            </a:r>
          </a:p>
          <a:p>
            <a:r>
              <a:t>E01: 課程指定 Ubuntu24.04/OpenPilot0.9.1、建置/UI、JLL USA/Taiwan、dataB6/aJLL保存、VSC/Q&amp;A與指定參考。</a:t>
            </a:r>
          </a:p>
          <a:p>
            <a:r>
              <a:t>Tier: COURSE REQUIREMENT; confidence: CONFIRMED</a:t>
            </a:r>
          </a:p>
          <a:p>
            <a:r>
              <a:t>Sources: docs/COURSE_PLAN.md:79-100; docs/INSTALLOP_AUDIT.md:20-48</a:t>
            </a:r>
          </a:p>
          <a:p>
            <a:r>
              <a:t>Type: Source requirements</a:t>
            </a:r>
          </a:p>
          <a:p>
            <a:r>
              <a:t>Boundary: 原InstallOP.docx本次缺席，依既存逐項稽核及課程計畫；不宣稱重新讀原DocX。</a:t>
            </a:r>
          </a:p>
          <a:p>
            <a:endParaRPr/>
          </a:p>
          <a:p>
            <a:r>
              <a:t>E02: 實作採macOS ARM64上Docker linux/amd64 Ubuntu20.04，Compute/Display一致基底。</a:t>
            </a:r>
          </a:p>
          <a:p>
            <a:r>
              <a:t>Tier: ENGINEERING IMPROVEMENT; confidence: CONFIRMED</a:t>
            </a:r>
          </a:p>
          <a:p>
            <a:r>
              <a:t>Sources: docker/Dockerfile.compute:1; docker/Dockerfile.display:1; docs/IMPLEMENTATION.md:11-17; build/baseline-diff.txt; build/current-runtime.txt</a:t>
            </a:r>
          </a:p>
          <a:p>
            <a:r>
              <a:t>Type: Current configuration and runtime</a:t>
            </a:r>
          </a:p>
          <a:p>
            <a:r>
              <a:t>Boundary: 與原Ubuntu24.04教學不同，未證明教授批准平台差異。</a:t>
            </a:r>
          </a:p>
          <a:p>
            <a:endParaRPr/>
          </a:p>
          <a:p>
            <a:r>
              <a:t>E03: OpenPilot0.9.1 commit d891d3df；Python3.8.10/Poetry1.3.2/SCons4.4.0；目前submodules列出7項已初始化。</a:t>
            </a:r>
          </a:p>
          <a:p>
            <a:r>
              <a:t>Tier: COURSE REQUIREMENT; confidence: CONFIRMED</a:t>
            </a:r>
          </a:p>
          <a:p>
            <a:r>
              <a:t>Sources: docker/Dockerfile.compute; build/current-runtime.txt</a:t>
            </a:r>
          </a:p>
          <a:p>
            <a:r>
              <a:t>Type: Current runtime identity</a:t>
            </a:r>
          </a:p>
          <a:p>
            <a:r>
              <a:t>Boundary: Python範例3.8.20；未另建教授sconsvenv/完整lock安裝。歷史文件8項與現有7项不混用。</a:t>
            </a:r>
          </a:p>
          <a:p>
            <a:endParaRPr/>
          </a:p>
          <a:p>
            <a:r>
              <a:t>E04: LFS/submodule、build依賴與acados encoding修正寫入Dockerfile，歷史基底全量SCons exit0。</a:t>
            </a:r>
          </a:p>
          <a:p>
            <a:r>
              <a:t>Tier: COURSE REQUIREMENT; confidence: CONFIRMED</a:t>
            </a:r>
          </a:p>
          <a:p>
            <a:r>
              <a:t>Sources: docker/Dockerfile.compute:11-47; docs/IMPLEMENTATION.md:19-28,86-101; build/baseline-diff.txt</a:t>
            </a:r>
          </a:p>
          <a:p>
            <a:r>
              <a:t>Type: Code and historical documented build</a:t>
            </a:r>
          </a:p>
          <a:p>
            <a:r>
              <a:t>Boundary: 基底build早於tools092 overlay；本次未重build，不代表overlay全量clean。</a:t>
            </a:r>
          </a:p>
          <a:p>
            <a:endParaRPr/>
          </a:p>
          <a:p>
            <a:r>
              <a:t>E08: tools092/教授設定/dataC已整合，官方tools備份與原版JLL/compat分開。</a:t>
            </a:r>
          </a:p>
          <a:p>
            <a:r>
              <a:t>Tier: COURSE REQUIREMENT; confidence: CONFIRMED</a:t>
            </a:r>
          </a:p>
          <a:p>
            <a:r>
              <a:t>Sources: docs/IMPLEMENTATION.md:63-83; docs/INSTALLOP_ASSETS.md:16-40; scripts/openpilot.sh:109-151; build/integration-diff.txt; build/current-runtime.txt</a:t>
            </a:r>
          </a:p>
          <a:p>
            <a:r>
              <a:t>Type: Source and current file presence</a:t>
            </a:r>
          </a:p>
          <a:p>
            <a:r>
              <a:t>Boundary: update_requirements.sh存在且可執行不證明跑過教授完整流程。</a:t>
            </a:r>
          </a:p>
          <a:p>
            <a:endParaRPr/>
          </a:p>
          <a:p>
            <a:r>
              <a:t>E25: 空volume還原、overlay全量cleanbuild、原版plain demo及完整segments/駕駛品質缺充分證據。</a:t>
            </a:r>
          </a:p>
          <a:p>
            <a:r>
              <a:t>Tier: COURSE REQUIREMENT; confidence: NOT VERIFIED</a:t>
            </a:r>
          </a:p>
          <a:p>
            <a:r>
              <a:t>Sources: docs/IMPLEMENTATION.md:157-160; docs/INSTALLOP_AUDIT.md:369-371,395-397</a:t>
            </a:r>
          </a:p>
          <a:p>
            <a:r>
              <a:t>Type: Evidence boundary</a:t>
            </a:r>
          </a:p>
          <a:p>
            <a:r>
              <a:t>Boundary: 駕駛品質/實車不屬於本deck已驗證範圍。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R06, R07, R08, R09, R10, R11, R12</a:t>
            </a:r>
          </a:p>
          <a:p>
            <a:r>
              <a:t>E01: 課程指定 Ubuntu24.04/OpenPilot0.9.1、建置/UI、JLL USA/Taiwan、dataB6/aJLL保存、VSC/Q&amp;A與指定參考。</a:t>
            </a:r>
          </a:p>
          <a:p>
            <a:r>
              <a:t>Tier: COURSE REQUIREMENT; confidence: CONFIRMED</a:t>
            </a:r>
          </a:p>
          <a:p>
            <a:r>
              <a:t>Sources: docs/COURSE_PLAN.md:79-100; docs/INSTALLOP_AUDIT.md:20-48</a:t>
            </a:r>
          </a:p>
          <a:p>
            <a:r>
              <a:t>Type: Source requirements</a:t>
            </a:r>
          </a:p>
          <a:p>
            <a:r>
              <a:t>Boundary: 原InstallOP.docx本次缺席，依既存逐項稽核及課程計畫；不宣稱重新讀原DocX。</a:t>
            </a:r>
          </a:p>
          <a:p>
            <a:endParaRPr/>
          </a:p>
          <a:p>
            <a:r>
              <a:t>E09: USA快捷使用qcam/--no-hw-decoder；Taiwan使用本地dataC segment61；dataB6/aJLL在P1僅保存。</a:t>
            </a:r>
          </a:p>
          <a:p>
            <a:r>
              <a:t>Tier: COURSE REQUIREMENT; confidence: CONFIRMED</a:t>
            </a:r>
          </a:p>
          <a:p>
            <a:r>
              <a:t>Sources: scripts/openpilot.sh:109-151; docs/INSTALLOP_AUDIT.md:113-173; build/current-runtime.txt</a:t>
            </a:r>
          </a:p>
          <a:p>
            <a:r>
              <a:t>Type: Workflow and scope inspection</a:t>
            </a:r>
          </a:p>
          <a:p>
            <a:r>
              <a:t>Boundary: 原版plain --demo完整流程仍未驗證；aJLL後續P2掛載不計入P1。</a:t>
            </a:r>
          </a:p>
          <a:p>
            <a:endParaRPr/>
          </a:p>
          <a:p>
            <a:r>
              <a:t>E10: dataB6本次129files、2,977,906,784bytes；歷史逐檔size/CRC與ZIP符合。</a:t>
            </a:r>
          </a:p>
          <a:p>
            <a:r>
              <a:t>Tier: COURSE REQUIREMENT; confidence: CONFIRMED</a:t>
            </a:r>
          </a:p>
          <a:p>
            <a:r>
              <a:t>Sources: build/current-data.txt; docs/INSTALLOP_AUDIT.md:142-173</a:t>
            </a:r>
          </a:p>
          <a:p>
            <a:r>
              <a:t>Type: Current file inventory and historical integrity</a:t>
            </a:r>
          </a:p>
          <a:p>
            <a:r>
              <a:t>Boundary: 本次重新查數量+總bytes，未重跑CRC；ZIP現缺失。不宣稱Replay/training。</a:t>
            </a:r>
          </a:p>
          <a:p>
            <a:endParaRPr/>
          </a:p>
          <a:p>
            <a:r>
              <a:t>E11: aJLL本次180files，歷史181files；原archives目錄本次0files。</a:t>
            </a:r>
          </a:p>
          <a:p>
            <a:r>
              <a:t>Tier: COURSE REQUIREMENT; confidence: CONFIRMED</a:t>
            </a:r>
          </a:p>
          <a:p>
            <a:r>
              <a:t>Sources: build/observations.json; docs/IMPLEMENTATION.md:77-79; docs/INSTALLOP_ASSETS.md</a:t>
            </a:r>
          </a:p>
          <a:p>
            <a:r>
              <a:t>Type: Current availability</a:t>
            </a:r>
          </a:p>
          <a:p>
            <a:r>
              <a:t>Boundary: 無逐檔歷史manifest可判斷數量差異原因；遠端完整性與還原來源未核實。</a:t>
            </a:r>
          </a:p>
          <a:p>
            <a:endParaRPr/>
          </a:p>
          <a:p>
            <a:r>
              <a:t>E18: 10/04歷史紀錄記載official USA、compat JLL USA、compat Taiwan在VNC看到道路/疊圖/速度。</a:t>
            </a:r>
          </a:p>
          <a:p>
            <a:r>
              <a:t>Tier: COURSE REQUIREMENT; confidence: CONFIRMED</a:t>
            </a:r>
          </a:p>
          <a:p>
            <a:r>
              <a:t>Sources: docs/IMPLEMENTATION.md:140-160; docs/INSTALLOP_AUDIT.md:337-397; build/acceptance-diff.txt</a:t>
            </a:r>
          </a:p>
          <a:p>
            <a:r>
              <a:t>Type: Historical documented acceptance</a:t>
            </a:r>
          </a:p>
          <a:p>
            <a:r>
              <a:t>Boundary: 歷史片段驗收，不是完整11segments/current replay/driving quality。</a:t>
            </a:r>
          </a:p>
          <a:p>
            <a:endParaRPr/>
          </a:p>
          <a:p>
            <a:r>
              <a:t>E26: aJLL遠端manifest、archive還原來源、VSC/Q&amp;A/Notes與指定Report1參考完成度未核實。</a:t>
            </a:r>
          </a:p>
          <a:p>
            <a:r>
              <a:t>Tier: COURSE REQUIREMENT; confidence: NOT VERIFIED</a:t>
            </a:r>
          </a:p>
          <a:p>
            <a:r>
              <a:t>Sources: docs/INSTALLOP_AUDIT.md:25,73,322; docs/COURSE_PLAN.md:79-100; build/observations.json</a:t>
            </a:r>
          </a:p>
          <a:p>
            <a:r>
              <a:t>Type: Requirement evidence gap</a:t>
            </a:r>
          </a:p>
          <a:p>
            <a:r>
              <a:t>Boundary: 不把缺證據等同確定未做；原DocX現不在原路徑。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</a:t>
            </a:r>
          </a:p>
          <a:p>
            <a:r>
              <a:t>E01: 課程指定 Ubuntu24.04/OpenPilot0.9.1、建置/UI、JLL USA/Taiwan、dataB6/aJLL保存、VSC/Q&amp;A與指定參考。</a:t>
            </a:r>
          </a:p>
          <a:p>
            <a:r>
              <a:t>Tier: COURSE REQUIREMENT; confidence: CONFIRMED</a:t>
            </a:r>
          </a:p>
          <a:p>
            <a:r>
              <a:t>Sources: docs/COURSE_PLAN.md:79-100; docs/INSTALLOP_AUDIT.md:20-48</a:t>
            </a:r>
          </a:p>
          <a:p>
            <a:r>
              <a:t>Type: Source requirements</a:t>
            </a:r>
          </a:p>
          <a:p>
            <a:r>
              <a:t>Boundary: 原InstallOP.docx本次缺席，依既存逐項稽核及課程計畫；不宣稱重新讀原DocX。</a:t>
            </a:r>
          </a:p>
          <a:p>
            <a:endParaRPr/>
          </a:p>
          <a:p>
            <a:r>
              <a:t>E05: Compute負責Replay/build，Display負責Qt UI/Xvfb/Openbox/VNC；同基底並共享IPC/PID支援跨服務通訊。</a:t>
            </a:r>
          </a:p>
          <a:p>
            <a:r>
              <a:t>Tier: ENGINEERING IMPROVEMENT; confidence: CONFIRMED</a:t>
            </a:r>
          </a:p>
          <a:p>
            <a:r>
              <a:t>Sources: docker/docker-compose.yaml:1-65; docs/IMPLEMENTATION.md:30-54; build/baseline-diff.txt</a:t>
            </a:r>
          </a:p>
          <a:p>
            <a:r>
              <a:t>Type: Source architecture</a:t>
            </a:r>
          </a:p>
          <a:p>
            <a:r>
              <a:t>Boundary: 服務邊界是部署分工，並非網路HTTP影片服務。</a:t>
            </a:r>
          </a:p>
          <a:p>
            <a:endParaRPr/>
          </a:p>
          <a:p>
            <a:r>
              <a:t>E16: 隔離volume唯讀複製working source，SCons指定JLL target，另安裝replayJLL.compat。</a:t>
            </a:r>
          </a:p>
          <a:p>
            <a:r>
              <a:t>Tier: ORIGINAL INVESTIGATION / EXTENSION; confidence: CONFIRMED</a:t>
            </a:r>
          </a:p>
          <a:p>
            <a:r>
              <a:t>Sources: scripts/build-jll-compatible.sh:13-58; build/compatibility-diff.txt; docs/INSTALLOP_AUDIT.md:333-345</a:t>
            </a:r>
          </a:p>
          <a:p>
            <a:r>
              <a:t>Type: Implementation and historical target build</a:t>
            </a:r>
          </a:p>
          <a:p>
            <a:r>
              <a:t>Boundary: 會寫新compat到working volume；不宣稱完全無寫入。歷史targetbuild exit0，非本次重建。</a:t>
            </a:r>
          </a:p>
          <a:p>
            <a:endParaRPr/>
          </a:p>
          <a:p>
            <a:r>
              <a:t>E20: Xvfb歷史premature exit，修正以PID/socket readiness最多3次attempt；historical多次coldstarthealthy。</a:t>
            </a:r>
          </a:p>
          <a:p>
            <a:r>
              <a:t>Tier: ENGINEERING IMPROVEMENT; confidence: CONFIRMED</a:t>
            </a:r>
          </a:p>
          <a:p>
            <a:r>
              <a:t>Sources: docker/display-entrypoint:10-38; docker/docker-compose.yaml:47-49; docs/INSTALLOP_AUDIT.md:235-260,328-333; build/compatibility-diff.txt</a:t>
            </a:r>
          </a:p>
          <a:p>
            <a:r>
              <a:t>Type: Code and historical readiness results</a:t>
            </a:r>
          </a:p>
          <a:p>
            <a:r>
              <a:t>Boundary: 第一個完整stderr未留存，不將時序當確定根因。</a:t>
            </a:r>
          </a:p>
          <a:p>
            <a:endParaRPr/>
          </a:p>
          <a:p>
            <a:r>
              <a:t>E22: 歷史NO PANDA調查：startedtrue但pandaStates12秒無訊息；uiDebug過濾舊schema，移除-b後ignitiontrue/roads。</a:t>
            </a:r>
          </a:p>
          <a:p>
            <a:r>
              <a:t>Tier: ENGINEERING IMPROVEMENT; confidence: CONFIRMED</a:t>
            </a:r>
          </a:p>
          <a:p>
            <a:r>
              <a:t>Sources: docs/INSTALLOP_AUDIT.md:348-357; scripts/openpilot.sh:129-150; build/compatibility-diff.txt</a:t>
            </a:r>
          </a:p>
          <a:p>
            <a:r>
              <a:t>Type: Historical message investigation and retained fix</a:t>
            </a:r>
          </a:p>
          <a:p>
            <a:r>
              <a:t>Boundary: 依歷史訂閱查核，本次未重現；不宣稱實車Panda連接。</a:t>
            </a:r>
          </a:p>
          <a:p>
            <a:endParaRPr/>
          </a:p>
          <a:p>
            <a:r>
              <a:t>E24: launcher/快捷入口/唯讀validate形成操作與核對流程；launcher復用官方UI binary並管理窗口生命週期。</a:t>
            </a:r>
          </a:p>
          <a:p>
            <a:r>
              <a:t>Tier: ENGINEERING IMPROVEMENT; confidence: CONFIRMED</a:t>
            </a:r>
          </a:p>
          <a:p>
            <a:r>
              <a:t>Sources: scripts/openpilot.sh; scripts/validate-docker.sh; docker/launcher.py; docs/IMPLEMENTATION.md:30-45</a:t>
            </a:r>
          </a:p>
          <a:p>
            <a:r>
              <a:t>Type: Source and historical interaction</a:t>
            </a:r>
          </a:p>
          <a:p>
            <a:r>
              <a:t>Boundary: validate不驗證道路畫面；歷史UIclose/reopen2cycle不是本次操作。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R01, R03</a:t>
            </a:r>
          </a:p>
          <a:p>
            <a:r>
              <a:t>E01: 課程指定 Ubuntu24.04/OpenPilot0.9.1、建置/UI、JLL USA/Taiwan、dataB6/aJLL保存、VSC/Q&amp;A與指定參考。</a:t>
            </a:r>
          </a:p>
          <a:p>
            <a:r>
              <a:t>Tier: COURSE REQUIREMENT; confidence: CONFIRMED</a:t>
            </a:r>
          </a:p>
          <a:p>
            <a:r>
              <a:t>Sources: docs/COURSE_PLAN.md:79-100; docs/INSTALLOP_AUDIT.md:20-48</a:t>
            </a:r>
          </a:p>
          <a:p>
            <a:r>
              <a:t>Type: Source requirements</a:t>
            </a:r>
          </a:p>
          <a:p>
            <a:r>
              <a:t>Boundary: 原InstallOP.docx本次缺席，依既存逐項稽核及課程計畫；不宣稱重新讀原DocX。</a:t>
            </a:r>
          </a:p>
          <a:p>
            <a:endParaRPr/>
          </a:p>
          <a:p>
            <a:r>
              <a:t>E02: 實作採macOS ARM64上Docker linux/amd64 Ubuntu20.04，Compute/Display一致基底。</a:t>
            </a:r>
          </a:p>
          <a:p>
            <a:r>
              <a:t>Tier: ENGINEERING IMPROVEMENT; confidence: CONFIRMED</a:t>
            </a:r>
          </a:p>
          <a:p>
            <a:r>
              <a:t>Sources: docker/Dockerfile.compute:1; docker/Dockerfile.display:1; docs/IMPLEMENTATION.md:11-17; build/baseline-diff.txt; build/current-runtime.txt</a:t>
            </a:r>
          </a:p>
          <a:p>
            <a:r>
              <a:t>Type: Current configuration and runtime</a:t>
            </a:r>
          </a:p>
          <a:p>
            <a:r>
              <a:t>Boundary: 與原Ubuntu24.04教學不同，未證明教授批准平台差異。</a:t>
            </a:r>
          </a:p>
          <a:p>
            <a:endParaRPr/>
          </a:p>
          <a:p>
            <a:r>
              <a:t>E03: OpenPilot0.9.1 commit d891d3df；Python3.8.10/Poetry1.3.2/SCons4.4.0；目前submodules列出7項已初始化。</a:t>
            </a:r>
          </a:p>
          <a:p>
            <a:r>
              <a:t>Tier: COURSE REQUIREMENT; confidence: CONFIRMED</a:t>
            </a:r>
          </a:p>
          <a:p>
            <a:r>
              <a:t>Sources: docker/Dockerfile.compute; build/current-runtime.txt</a:t>
            </a:r>
          </a:p>
          <a:p>
            <a:r>
              <a:t>Type: Current runtime identity</a:t>
            </a:r>
          </a:p>
          <a:p>
            <a:r>
              <a:t>Boundary: Python範例3.8.20；未另建教授sconsvenv/完整lock安裝。歷史文件8項與現有7项不混用。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R01, R02, R03, R04, R05</a:t>
            </a:r>
          </a:p>
          <a:p>
            <a:r>
              <a:t>E03: OpenPilot0.9.1 commit d891d3df；Python3.8.10/Poetry1.3.2/SCons4.4.0；目前submodules列出7項已初始化。</a:t>
            </a:r>
          </a:p>
          <a:p>
            <a:r>
              <a:t>Tier: COURSE REQUIREMENT; confidence: CONFIRMED</a:t>
            </a:r>
          </a:p>
          <a:p>
            <a:r>
              <a:t>Sources: docker/Dockerfile.compute; build/current-runtime.txt</a:t>
            </a:r>
          </a:p>
          <a:p>
            <a:r>
              <a:t>Type: Current runtime identity</a:t>
            </a:r>
          </a:p>
          <a:p>
            <a:r>
              <a:t>Boundary: Python範例3.8.20；未另建教授sconsvenv/完整lock安裝。歷史文件8項與現有7项不混用。</a:t>
            </a:r>
          </a:p>
          <a:p>
            <a:endParaRPr/>
          </a:p>
          <a:p>
            <a:r>
              <a:t>E04: LFS/submodule、build依賴與acados encoding修正寫入Dockerfile，歷史基底全量SCons exit0。</a:t>
            </a:r>
          </a:p>
          <a:p>
            <a:r>
              <a:t>Tier: COURSE REQUIREMENT; confidence: CONFIRMED</a:t>
            </a:r>
          </a:p>
          <a:p>
            <a:r>
              <a:t>Sources: docker/Dockerfile.compute:11-47; docs/IMPLEMENTATION.md:19-28,86-101; build/baseline-diff.txt</a:t>
            </a:r>
          </a:p>
          <a:p>
            <a:r>
              <a:t>Type: Code and historical documented build</a:t>
            </a:r>
          </a:p>
          <a:p>
            <a:r>
              <a:t>Boundary: 基底build早於tools092 overlay；本次未重build，不代表overlay全量clean。</a:t>
            </a:r>
          </a:p>
          <a:p>
            <a:endParaRPr/>
          </a:p>
          <a:p>
            <a:r>
              <a:t>E08: tools092/教授設定/dataC已整合，官方tools備份與原版JLL/compat分開。</a:t>
            </a:r>
          </a:p>
          <a:p>
            <a:r>
              <a:t>Tier: COURSE REQUIREMENT; confidence: CONFIRMED</a:t>
            </a:r>
          </a:p>
          <a:p>
            <a:r>
              <a:t>Sources: docs/IMPLEMENTATION.md:63-83; docs/INSTALLOP_ASSETS.md:16-40; scripts/openpilot.sh:109-151; build/integration-diff.txt; build/current-runtime.txt</a:t>
            </a:r>
          </a:p>
          <a:p>
            <a:r>
              <a:t>Type: Source and current file presence</a:t>
            </a:r>
          </a:p>
          <a:p>
            <a:r>
              <a:t>Boundary: update_requirements.sh存在且可執行不證明跑過教授完整流程。</a:t>
            </a:r>
          </a:p>
          <a:p>
            <a:endParaRPr/>
          </a:p>
          <a:p>
            <a:r>
              <a:t>E25: 空volume還原、overlay全量cleanbuild、原版plain demo及完整segments/駕駛品質缺充分證據。</a:t>
            </a:r>
          </a:p>
          <a:p>
            <a:r>
              <a:t>Tier: COURSE REQUIREMENT; confidence: NOT VERIFIED</a:t>
            </a:r>
          </a:p>
          <a:p>
            <a:r>
              <a:t>Sources: docs/IMPLEMENTATION.md:157-160; docs/INSTALLOP_AUDIT.md:369-371,395-397</a:t>
            </a:r>
          </a:p>
          <a:p>
            <a:r>
              <a:t>Type: Evidence boundary</a:t>
            </a:r>
          </a:p>
          <a:p>
            <a:r>
              <a:t>Boundary: 駕駛品質/實車不屬於本deck已驗證範圍。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R06</a:t>
            </a:r>
          </a:p>
          <a:p>
            <a:r>
              <a:t>E05: Compute負責Replay/build，Display負責Qt UI/Xvfb/Openbox/VNC；同基底並共享IPC/PID支援跨服務通訊。</a:t>
            </a:r>
          </a:p>
          <a:p>
            <a:r>
              <a:t>Tier: ENGINEERING IMPROVEMENT; confidence: CONFIRMED</a:t>
            </a:r>
          </a:p>
          <a:p>
            <a:r>
              <a:t>Sources: docker/docker-compose.yaml:1-65; docs/IMPLEMENTATION.md:30-54; build/baseline-diff.txt</a:t>
            </a:r>
          </a:p>
          <a:p>
            <a:r>
              <a:t>Type: Source architecture</a:t>
            </a:r>
          </a:p>
          <a:p>
            <a:r>
              <a:t>Boundary: 服務邊界是部署分工，並非網路HTTP影片服務。</a:t>
            </a:r>
          </a:p>
          <a:p>
            <a:endParaRPr/>
          </a:p>
          <a:p>
            <a:r>
              <a:t>E06: msgq共享/dev/shm；VisionIPC透過/tmp socket與FD；健康socket是獨立服務核對。</a:t>
            </a:r>
          </a:p>
          <a:p>
            <a:r>
              <a:t>Tier: ENGINEERING IMPROVEMENT; confidence: CONFIRMED</a:t>
            </a:r>
          </a:p>
          <a:p>
            <a:r>
              <a:t>Sources: docker/docker-compose.yaml:15-26,35-39,60-63; docs/IMPLEMENTATION.md:47-54; docs/INSTALLOP_AUDIT.md:213-231; docker/socket_server.py</a:t>
            </a:r>
          </a:p>
          <a:p>
            <a:r>
              <a:t>Type: Source architecture</a:t>
            </a:r>
          </a:p>
          <a:p>
            <a:r>
              <a:t>Boundary: health不保證UI影像。</a:t>
            </a:r>
          </a:p>
          <a:p>
            <a:endParaRPr/>
          </a:p>
          <a:p>
            <a:r>
              <a:t>E07: source/data持久volume和共享tmp用途不同；Display source唯讀、Compute可寫。</a:t>
            </a:r>
          </a:p>
          <a:p>
            <a:r>
              <a:t>Tier: ENGINEERING IMPROVEMENT; confidence: CONFIRMED</a:t>
            </a:r>
          </a:p>
          <a:p>
            <a:r>
              <a:t>Sources: docker/docker-compose.yaml:15-26,60-63; docs/IMPLEMENTATION.md:157-160</a:t>
            </a:r>
          </a:p>
          <a:p>
            <a:r>
              <a:t>Type: Source storage boundaries</a:t>
            </a:r>
          </a:p>
          <a:p>
            <a:r>
              <a:t>Boundary: 保留volume重建容器不等於全新空volume還原。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R05</a:t>
            </a:r>
          </a:p>
          <a:p>
            <a:r>
              <a:t>E05: Compute負責Replay/build，Display負責Qt UI/Xvfb/Openbox/VNC；同基底並共享IPC/PID支援跨服務通訊。</a:t>
            </a:r>
          </a:p>
          <a:p>
            <a:r>
              <a:t>Tier: ENGINEERING IMPROVEMENT; confidence: CONFIRMED</a:t>
            </a:r>
          </a:p>
          <a:p>
            <a:r>
              <a:t>Sources: docker/docker-compose.yaml:1-65; docs/IMPLEMENTATION.md:30-54; build/baseline-diff.txt</a:t>
            </a:r>
          </a:p>
          <a:p>
            <a:r>
              <a:t>Type: Source architecture</a:t>
            </a:r>
          </a:p>
          <a:p>
            <a:r>
              <a:t>Boundary: 服務邊界是部署分工，並非網路HTTP影片服務。</a:t>
            </a:r>
          </a:p>
          <a:p>
            <a:endParaRPr/>
          </a:p>
          <a:p>
            <a:r>
              <a:t>E06: msgq共享/dev/shm；VisionIPC透過/tmp socket與FD；健康socket是獨立服務核對。</a:t>
            </a:r>
          </a:p>
          <a:p>
            <a:r>
              <a:t>Tier: ENGINEERING IMPROVEMENT; confidence: CONFIRMED</a:t>
            </a:r>
          </a:p>
          <a:p>
            <a:r>
              <a:t>Sources: docker/docker-compose.yaml:15-26,35-39,60-63; docs/IMPLEMENTATION.md:47-54; docs/INSTALLOP_AUDIT.md:213-231; docker/socket_server.py</a:t>
            </a:r>
          </a:p>
          <a:p>
            <a:r>
              <a:t>Type: Source architecture</a:t>
            </a:r>
          </a:p>
          <a:p>
            <a:r>
              <a:t>Boundary: health不保證UI影像。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</a:t>
            </a:r>
          </a:p>
          <a:p>
            <a:r>
              <a:t>E07: source/data持久volume和共享tmp用途不同；Display source唯讀、Compute可寫。</a:t>
            </a:r>
          </a:p>
          <a:p>
            <a:r>
              <a:t>Tier: ENGINEERING IMPROVEMENT; confidence: CONFIRMED</a:t>
            </a:r>
          </a:p>
          <a:p>
            <a:r>
              <a:t>Sources: docker/docker-compose.yaml:15-26,60-63; docs/IMPLEMENTATION.md:157-160</a:t>
            </a:r>
          </a:p>
          <a:p>
            <a:r>
              <a:t>Type: Source storage boundaries</a:t>
            </a:r>
          </a:p>
          <a:p>
            <a:r>
              <a:t>Boundary: 保留volume重建容器不等於全新空volume還原。</a:t>
            </a:r>
          </a:p>
          <a:p>
            <a:endParaRPr/>
          </a:p>
          <a:p>
            <a:r>
              <a:t>E11: aJLL本次180files，歷史181files；原archives目錄本次0files。</a:t>
            </a:r>
          </a:p>
          <a:p>
            <a:r>
              <a:t>Tier: COURSE REQUIREMENT; confidence: CONFIRMED</a:t>
            </a:r>
          </a:p>
          <a:p>
            <a:r>
              <a:t>Sources: build/observations.json; docs/IMPLEMENTATION.md:77-79; docs/INSTALLOP_ASSETS.md</a:t>
            </a:r>
          </a:p>
          <a:p>
            <a:r>
              <a:t>Type: Current availability</a:t>
            </a:r>
          </a:p>
          <a:p>
            <a:r>
              <a:t>Boundary: 無逐檔歷史manifest可判斷數量差異原因；遠端完整性與還原來源未核實。</a:t>
            </a:r>
          </a:p>
          <a:p>
            <a:endParaRPr/>
          </a:p>
          <a:p>
            <a:r>
              <a:t>E25: 空volume還原、overlay全量cleanbuild、原版plain demo及完整segments/駕駛品質缺充分證據。</a:t>
            </a:r>
          </a:p>
          <a:p>
            <a:r>
              <a:t>Tier: COURSE REQUIREMENT; confidence: NOT VERIFIED</a:t>
            </a:r>
          </a:p>
          <a:p>
            <a:r>
              <a:t>Sources: docs/IMPLEMENTATION.md:157-160; docs/INSTALLOP_AUDIT.md:369-371,395-397</a:t>
            </a:r>
          </a:p>
          <a:p>
            <a:r>
              <a:t>Type: Evidence boundary</a:t>
            </a:r>
          </a:p>
          <a:p>
            <a:r>
              <a:t>Boundary: 駕駛品質/實車不屬於本deck已驗證範圍。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R04, R07, R08, R09, R10</a:t>
            </a:r>
          </a:p>
          <a:p>
            <a:r>
              <a:t>E08: tools092/教授設定/dataC已整合，官方tools備份與原版JLL/compat分開。</a:t>
            </a:r>
          </a:p>
          <a:p>
            <a:r>
              <a:t>Tier: COURSE REQUIREMENT; confidence: CONFIRMED</a:t>
            </a:r>
          </a:p>
          <a:p>
            <a:r>
              <a:t>Sources: docs/IMPLEMENTATION.md:63-83; docs/INSTALLOP_ASSETS.md:16-40; scripts/openpilot.sh:109-151; build/integration-diff.txt; build/current-runtime.txt</a:t>
            </a:r>
          </a:p>
          <a:p>
            <a:r>
              <a:t>Type: Source and current file presence</a:t>
            </a:r>
          </a:p>
          <a:p>
            <a:r>
              <a:t>Boundary: update_requirements.sh存在且可執行不證明跑過教授完整流程。</a:t>
            </a:r>
          </a:p>
          <a:p>
            <a:endParaRPr/>
          </a:p>
          <a:p>
            <a:r>
              <a:t>E09: USA快捷使用qcam/--no-hw-decoder；Taiwan使用本地dataC segment61；dataB6/aJLL在P1僅保存。</a:t>
            </a:r>
          </a:p>
          <a:p>
            <a:r>
              <a:t>Tier: COURSE REQUIREMENT; confidence: CONFIRMED</a:t>
            </a:r>
          </a:p>
          <a:p>
            <a:r>
              <a:t>Sources: scripts/openpilot.sh:109-151; docs/INSTALLOP_AUDIT.md:113-173; build/current-runtime.txt</a:t>
            </a:r>
          </a:p>
          <a:p>
            <a:r>
              <a:t>Type: Workflow and scope inspection</a:t>
            </a:r>
          </a:p>
          <a:p>
            <a:r>
              <a:t>Boundary: 原版plain --demo完整流程仍未驗證；aJLL後續P2掛載不計入P1。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R09, R10</a:t>
            </a:r>
          </a:p>
          <a:p>
            <a:r>
              <a:t>E10: dataB6本次129files、2,977,906,784bytes；歷史逐檔size/CRC與ZIP符合。</a:t>
            </a:r>
          </a:p>
          <a:p>
            <a:r>
              <a:t>Tier: COURSE REQUIREMENT; confidence: CONFIRMED</a:t>
            </a:r>
          </a:p>
          <a:p>
            <a:r>
              <a:t>Sources: build/current-data.txt; docs/INSTALLOP_AUDIT.md:142-173</a:t>
            </a:r>
          </a:p>
          <a:p>
            <a:r>
              <a:t>Type: Current file inventory and historical integrity</a:t>
            </a:r>
          </a:p>
          <a:p>
            <a:r>
              <a:t>Boundary: 本次重新查數量+總bytes，未重跑CRC；ZIP現缺失。不宣稱Replay/training。</a:t>
            </a:r>
          </a:p>
          <a:p>
            <a:endParaRPr/>
          </a:p>
          <a:p>
            <a:r>
              <a:t>E11: aJLL本次180files，歷史181files；原archives目錄本次0files。</a:t>
            </a:r>
          </a:p>
          <a:p>
            <a:r>
              <a:t>Tier: COURSE REQUIREMENT; confidence: CONFIRMED</a:t>
            </a:r>
          </a:p>
          <a:p>
            <a:r>
              <a:t>Sources: build/observations.json; docs/IMPLEMENTATION.md:77-79; docs/INSTALLOP_ASSETS.md</a:t>
            </a:r>
          </a:p>
          <a:p>
            <a:r>
              <a:t>Type: Current availability</a:t>
            </a:r>
          </a:p>
          <a:p>
            <a:r>
              <a:t>Boundary: 無逐檔歷史manifest可判斷數量差異原因；遠端完整性與還原來源未核實。</a:t>
            </a:r>
          </a:p>
          <a:p>
            <a:endParaRPr/>
          </a:p>
          <a:p>
            <a:r>
              <a:t>E26: aJLL遠端manifest、archive還原來源、VSC/Q&amp;A/Notes與指定Report1參考完成度未核實。</a:t>
            </a:r>
          </a:p>
          <a:p>
            <a:r>
              <a:t>Tier: COURSE REQUIREMENT; confidence: NOT VERIFIED</a:t>
            </a:r>
          </a:p>
          <a:p>
            <a:r>
              <a:t>Sources: docs/INSTALLOP_AUDIT.md:25,73,322; docs/COURSE_PLAN.md:79-100; build/observations.json</a:t>
            </a:r>
          </a:p>
          <a:p>
            <a:r>
              <a:t>Type: Requirement evidence gap</a:t>
            </a:r>
          </a:p>
          <a:p>
            <a:r>
              <a:t>Boundary: 不把缺證據等同確定未做；原DocX現不在原路徑。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docs/replay-verified.png (historical official replay screenshot); original source retained.</a:t>
            </a:r>
          </a:p>
          <a:p>
            <a:r>
              <a:t>New screenshot capture: 2026-10-13 Asia/Taipei, actual Qt UI on display :99, window 0x01000006, container 57011a5584ea.</a:t>
            </a:r>
          </a:p>
          <a:p>
            <a:r>
              <a:t>USA: tools/replay/replayJLL.compat --demo --qcam --no-hw-decoder --no-loop -c 1; screenshot 62 mph, actual highway/path/lane/lead markers.</a:t>
            </a:r>
          </a:p>
          <a:p>
            <a:r>
              <a:t>Taiwan: tools/replay/replayJLL.compat --no-hw-decoder --data_dir tools/replay/dataC "8bfda98c9c9e4291|2020-05-11--03-00-57--61"; screenshot 19 mph, roads/speed visible; no lane-overlay claim for this screenshot.</a:t>
            </a:r>
          </a:p>
          <a:p>
            <a:r>
              <a:t>Both tests bounded with timeout -s INT 50s; logs and exact PNGs retained in revision-12-18-22/build. No full-route or driving-quality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R07</a:t>
            </a:r>
          </a:p>
          <a:p>
            <a:r>
              <a:t>E13: 歷史原版JLL playing但UI msgq assertion exit134，重啟再現；官方備份Replay可顯示。</a:t>
            </a:r>
          </a:p>
          <a:p>
            <a:r>
              <a:t>Tier: ORIGINAL INVESTIGATION / EXTENSION; confidence: CONFIRMED</a:t>
            </a:r>
          </a:p>
          <a:p>
            <a:r>
              <a:t>Sources: docs/INSTALLOP_AUDIT.md:75-109; build/integration-diff.txt</a:t>
            </a:r>
          </a:p>
          <a:p>
            <a:r>
              <a:t>Type: Historical documented control comparison</a:t>
            </a:r>
          </a:p>
          <a:p>
            <a:r>
              <a:t>Boundary: 本次未重播失敗。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</a:t>
            </a:r>
          </a:p>
          <a:p>
            <a:r>
              <a:t>E13: 歷史原版JLL playing但UI msgq assertion exit134，重啟再現；官方備份Replay可顯示。</a:t>
            </a:r>
          </a:p>
          <a:p>
            <a:r>
              <a:t>Tier: ORIGINAL INVESTIGATION / EXTENSION; confidence: CONFIRMED</a:t>
            </a:r>
          </a:p>
          <a:p>
            <a:r>
              <a:t>Sources: docs/INSTALLOP_AUDIT.md:75-109; build/integration-diff.txt</a:t>
            </a:r>
          </a:p>
          <a:p>
            <a:r>
              <a:t>Type: Historical documented control comparison</a:t>
            </a:r>
          </a:p>
          <a:p>
            <a:r>
              <a:t>Boundary: 本次未重播失敗。</a:t>
            </a:r>
          </a:p>
          <a:p>
            <a:endParaRPr/>
          </a:p>
          <a:p>
            <a:r>
              <a:t>E14: 當前UI data offset0x138=312B、原JLL0x1c8=456B，差144B；source按sizeof(header)定位data。</a:t>
            </a:r>
          </a:p>
          <a:p>
            <a:r>
              <a:t>Tier: ORIGINAL INVESTIGATION / EXTENSION; confidence: CONFIRMED</a:t>
            </a:r>
          </a:p>
          <a:p>
            <a:r>
              <a:t>Sources: build/current-abi-independent.txt; docs/INSTALLOP_AUDIT.md:75-109; container:cereal/messaging/msgq.cc:100-132</a:t>
            </a:r>
          </a:p>
          <a:p>
            <a:r>
              <a:t>Type: Current disassembly and source</a:t>
            </a:r>
          </a:p>
          <a:p>
            <a:r>
              <a:t>Boundary: 限定這組binary；獨立反組譯與source讀取均exit0。本次未重播故障。</a:t>
            </a:r>
          </a:p>
          <a:p>
            <a:endParaRPr/>
          </a:p>
          <a:p>
            <a:r>
              <a:t>E15: 歷史modelV2共享記憶體檔案總size差144bytes與header offset差一致，支持msgq ABI不相容調查。</a:t>
            </a:r>
          </a:p>
          <a:p>
            <a:r>
              <a:t>Tier: ORIGINAL INVESTIGATION / EXTENSION; confidence: CONFIRMED</a:t>
            </a:r>
          </a:p>
          <a:p>
            <a:r>
              <a:t>Sources: docs/INSTALLOP_AUDIT.md:75-109</a:t>
            </a:r>
          </a:p>
          <a:p>
            <a:r>
              <a:t>Type: Historical layout corroboration</a:t>
            </a:r>
          </a:p>
          <a:p>
            <a:r>
              <a:t>Boundary: 10,486,216/10,486,072是歷史總size觀察，非本次runtime重新量測。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</a:t>
            </a:r>
          </a:p>
          <a:p>
            <a:r>
              <a:t>E14: 當前UI data offset0x138=312B、原JLL0x1c8=456B，差144B；source按sizeof(header)定位data。</a:t>
            </a:r>
          </a:p>
          <a:p>
            <a:r>
              <a:t>Tier: ORIGINAL INVESTIGATION / EXTENSION; confidence: CONFIRMED</a:t>
            </a:r>
          </a:p>
          <a:p>
            <a:r>
              <a:t>Sources: build/current-abi-independent.txt; docs/INSTALLOP_AUDIT.md:75-109; container:cereal/messaging/msgq.cc:100-132</a:t>
            </a:r>
          </a:p>
          <a:p>
            <a:r>
              <a:t>Type: Current disassembly and source</a:t>
            </a:r>
          </a:p>
          <a:p>
            <a:r>
              <a:t>Boundary: 限定這組binary；獨立反組譯與source讀取均exit0。本次未重播故障。</a:t>
            </a:r>
          </a:p>
          <a:p>
            <a:endParaRPr/>
          </a:p>
          <a:p>
            <a:r>
              <a:t>E15: 歷史modelV2共享記憶體檔案總size差144bytes與header offset差一致，支持msgq ABI不相容調查。</a:t>
            </a:r>
          </a:p>
          <a:p>
            <a:r>
              <a:t>Tier: ORIGINAL INVESTIGATION / EXTENSION; confidence: CONFIRMED</a:t>
            </a:r>
          </a:p>
          <a:p>
            <a:r>
              <a:t>Sources: docs/INSTALLOP_AUDIT.md:75-109</a:t>
            </a:r>
          </a:p>
          <a:p>
            <a:r>
              <a:t>Type: Historical layout corroboration</a:t>
            </a:r>
          </a:p>
          <a:p>
            <a:r>
              <a:t>Boundary: 10,486,216/10,486,072是歷史總size觀察，非本次runtime重新量測。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R07</a:t>
            </a:r>
          </a:p>
          <a:p>
            <a:r>
              <a:t>E16: 隔離volume唯讀複製working source，SCons指定JLL target，另安裝replayJLL.compat。</a:t>
            </a:r>
          </a:p>
          <a:p>
            <a:r>
              <a:t>Tier: ORIGINAL INVESTIGATION / EXTENSION; confidence: CONFIRMED</a:t>
            </a:r>
          </a:p>
          <a:p>
            <a:r>
              <a:t>Sources: scripts/build-jll-compatible.sh:13-58; build/compatibility-diff.txt; docs/INSTALLOP_AUDIT.md:333-345</a:t>
            </a:r>
          </a:p>
          <a:p>
            <a:r>
              <a:t>Type: Implementation and historical target build</a:t>
            </a:r>
          </a:p>
          <a:p>
            <a:r>
              <a:t>Boundary: 會寫新compat到working volume；不宣稱完全無寫入。歷史targetbuild exit0，非本次重建。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</a:t>
            </a:r>
          </a:p>
          <a:p>
            <a:r>
              <a:t>E17: 原版expectedSHAguard/安裝比較/成功清理失敗保留；本次原JLL/compat/UI hash吻合歷史紀錄。</a:t>
            </a:r>
          </a:p>
          <a:p>
            <a:r>
              <a:t>Tier: ORIGINAL INVESTIGATION / EXTENSION; confidence: CONFIRMED</a:t>
            </a:r>
          </a:p>
          <a:p>
            <a:r>
              <a:t>Sources: scripts/build-jll-compatible.sh:13-58; build/current-runtime.txt; docs/INSTALLOP_AUDIT.md:79-84,342-345</a:t>
            </a:r>
          </a:p>
          <a:p>
            <a:r>
              <a:t>Type: Current identity and protection code</a:t>
            </a:r>
          </a:p>
          <a:p>
            <a:r>
              <a:t>Boundary: 身份核對不是本次Replay視覺驗收。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Historical source: docs/INSTALLOP_AUDIT.md and original slide18 notes. Historical 52/26 mph retained as historical, not overwritten by new 62/19 mph observations.</a:t>
            </a:r>
          </a:p>
          <a:p>
            <a:r>
              <a:t>2026-10-13 additions: actual bounded JLL USA/Taiwan replay, logs route/playing and independent Qt UI screenshots. USA demo loaded 11 valid segments; this is not full playback of all 11. Taiwan loaded one valid segment61.</a:t>
            </a:r>
          </a:p>
          <a:p>
            <a:r>
              <a:t>Current services healthy before capture. Original official screenshot reused as historical evidence only.</a:t>
            </a:r>
          </a:p>
          <a:p>
            <a:r>
              <a:t>Screenshots: revision-12-18-22/build/assets/jll-usa.png and jll-taiwan.png. Both unmodified actual window captures.</a:t>
            </a:r>
          </a:p>
          <a:p>
            <a:r>
              <a:t>No training, build, source edits, dependency changes or volume removal. No fresh restore/driving-quality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</a:t>
            </a:r>
          </a:p>
          <a:p>
            <a:r>
              <a:t>E20: Xvfb歷史premature exit，修正以PID/socket readiness最多3次attempt；historical多次coldstarthealthy。</a:t>
            </a:r>
          </a:p>
          <a:p>
            <a:r>
              <a:t>Tier: ENGINEERING IMPROVEMENT; confidence: CONFIRMED</a:t>
            </a:r>
          </a:p>
          <a:p>
            <a:r>
              <a:t>Sources: docker/display-entrypoint:10-38; docker/docker-compose.yaml:47-49; docs/INSTALLOP_AUDIT.md:235-260,328-333; build/compatibility-diff.txt</a:t>
            </a:r>
          </a:p>
          <a:p>
            <a:r>
              <a:t>Type: Code and historical readiness results</a:t>
            </a:r>
          </a:p>
          <a:p>
            <a:r>
              <a:t>Boundary: 第一個完整stderr未留存，不將時序當確定根因。</a:t>
            </a:r>
          </a:p>
          <a:p>
            <a:endParaRPr/>
          </a:p>
          <a:p>
            <a:r>
              <a:t>E21: Xvfb啟動時序可能相關，但原退出原因未建立。</a:t>
            </a:r>
          </a:p>
          <a:p>
            <a:r>
              <a:t>Tier: ENGINEERING IMPROVEMENT; confidence: LIKELY / SUGGESTED</a:t>
            </a:r>
          </a:p>
          <a:p>
            <a:r>
              <a:t>Sources: docker/display-entrypoint:10-11; docs/INSTALLOP_AUDIT.md:253-260</a:t>
            </a:r>
          </a:p>
          <a:p>
            <a:r>
              <a:t>Type: Comment-supported hypothesis</a:t>
            </a:r>
          </a:p>
          <a:p>
            <a:r>
              <a:t>Boundary: 根因NOT VERIFIED。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</a:t>
            </a:r>
          </a:p>
          <a:p>
            <a:r>
              <a:t>E22: 歷史NO PANDA調查：startedtrue但pandaStates12秒無訊息；uiDebug過濾舊schema，移除-b後ignitiontrue/roads。</a:t>
            </a:r>
          </a:p>
          <a:p>
            <a:r>
              <a:t>Tier: ENGINEERING IMPROVEMENT; confidence: CONFIRMED</a:t>
            </a:r>
          </a:p>
          <a:p>
            <a:r>
              <a:t>Sources: docs/INSTALLOP_AUDIT.md:348-357; scripts/openpilot.sh:129-150; build/compatibility-diff.txt</a:t>
            </a:r>
          </a:p>
          <a:p>
            <a:r>
              <a:t>Type: Historical message investigation and retained fix</a:t>
            </a:r>
          </a:p>
          <a:p>
            <a:r>
              <a:t>Boundary: 依歷史訂閱查核，本次未重現；不宣稱實車Panda連接。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</a:t>
            </a:r>
          </a:p>
          <a:p>
            <a:r>
              <a:t>E23: 歷史USA playing但VNC顯示舊Taiwan；重連核對窗口/容器hostname一致後驗收USA道路52mph。</a:t>
            </a:r>
          </a:p>
          <a:p>
            <a:r>
              <a:t>Tier: ENGINEERING IMPROVEMENT; confidence: CONFIRMED</a:t>
            </a:r>
          </a:p>
          <a:p>
            <a:r>
              <a:t>Sources: docs/INSTALLOP_AUDIT.md:373-397; build/acceptance-diff.txt</a:t>
            </a:r>
          </a:p>
          <a:p>
            <a:r>
              <a:t>Type: Historical observation provenance check</a:t>
            </a:r>
          </a:p>
          <a:p>
            <a:r>
              <a:t>Boundary: 52mph為回放畫面值非性能，並非新runtimehostname。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Operation example from current scripts/openpilot.sh and docker/launcher.py at repository HEAD e1a1bc5. Commands shown are source-verified usage, not a claim that this task executed all four through the launcher.</a:t>
            </a:r>
          </a:p>
          <a:p>
            <a:r>
              <a:t>Capture: existing actual launcher window0x00600006 on display :99, and actual Taiwan replay UI window0x01000006, 2026-10-13 Asia/Taipei. Launcher screenshot preserves original container rendering, including current CJK glyph limitations.</a:t>
            </a:r>
          </a:p>
          <a:p>
            <a:r>
              <a:t>The capture task directly launched a bounded UI instance and bounded existing-data replay; captured UI was not launched by clicking the launcher. No automated-click acceptance is claimed.</a:t>
            </a:r>
          </a:p>
          <a:p>
            <a:r>
              <a:t>Historical launcher close/reopen acceptance remains historical. validate is a non-destructive structural/environment check; visible roads require UI observation. build-op can update binaries and is not part of routine validation.</a:t>
            </a:r>
          </a:p>
          <a:p>
            <a:r>
              <a:t>Sources: scripts/openpilot.sh; docker/launcher.py; docs/INSTALLOP_AUDIT.md. No password/API key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</a:t>
            </a:r>
          </a:p>
          <a:p>
            <a:r>
              <a:t>E14: 當前UI data offset0x138=312B、原JLL0x1c8=456B，差144B；source按sizeof(header)定位data。</a:t>
            </a:r>
          </a:p>
          <a:p>
            <a:r>
              <a:t>Tier: ORIGINAL INVESTIGATION / EXTENSION; confidence: CONFIRMED</a:t>
            </a:r>
          </a:p>
          <a:p>
            <a:r>
              <a:t>Sources: build/current-abi-independent.txt; docs/INSTALLOP_AUDIT.md:75-109; container:cereal/messaging/msgq.cc:100-132</a:t>
            </a:r>
          </a:p>
          <a:p>
            <a:r>
              <a:t>Type: Current disassembly and source</a:t>
            </a:r>
          </a:p>
          <a:p>
            <a:r>
              <a:t>Boundary: 限定這組binary；獨立反組譯與source讀取均exit0。本次未重播故障。</a:t>
            </a:r>
          </a:p>
          <a:p>
            <a:endParaRPr/>
          </a:p>
          <a:p>
            <a:r>
              <a:t>E16: 隔離volume唯讀複製working source，SCons指定JLL target，另安裝replayJLL.compat。</a:t>
            </a:r>
          </a:p>
          <a:p>
            <a:r>
              <a:t>Tier: ORIGINAL INVESTIGATION / EXTENSION; confidence: CONFIRMED</a:t>
            </a:r>
          </a:p>
          <a:p>
            <a:r>
              <a:t>Sources: scripts/build-jll-compatible.sh:13-58; build/compatibility-diff.txt; docs/INSTALLOP_AUDIT.md:333-345</a:t>
            </a:r>
          </a:p>
          <a:p>
            <a:r>
              <a:t>Type: Implementation and historical target build</a:t>
            </a:r>
          </a:p>
          <a:p>
            <a:r>
              <a:t>Boundary: 會寫新compat到working volume；不宣稱完全無寫入。歷史targetbuild exit0，非本次重建。</a:t>
            </a:r>
          </a:p>
          <a:p>
            <a:endParaRPr/>
          </a:p>
          <a:p>
            <a:r>
              <a:t>E20: Xvfb歷史premature exit，修正以PID/socket readiness最多3次attempt；historical多次coldstarthealthy。</a:t>
            </a:r>
          </a:p>
          <a:p>
            <a:r>
              <a:t>Tier: ENGINEERING IMPROVEMENT; confidence: CONFIRMED</a:t>
            </a:r>
          </a:p>
          <a:p>
            <a:r>
              <a:t>Sources: docker/display-entrypoint:10-38; docker/docker-compose.yaml:47-49; docs/INSTALLOP_AUDIT.md:235-260,328-333; build/compatibility-diff.txt</a:t>
            </a:r>
          </a:p>
          <a:p>
            <a:r>
              <a:t>Type: Code and historical readiness results</a:t>
            </a:r>
          </a:p>
          <a:p>
            <a:r>
              <a:t>Boundary: 第一個完整stderr未留存，不將時序當確定根因。</a:t>
            </a:r>
          </a:p>
          <a:p>
            <a:endParaRPr/>
          </a:p>
          <a:p>
            <a:r>
              <a:t>E22: 歷史NO PANDA調查：startedtrue但pandaStates12秒無訊息；uiDebug過濾舊schema，移除-b後ignitiontrue/roads。</a:t>
            </a:r>
          </a:p>
          <a:p>
            <a:r>
              <a:t>Tier: ENGINEERING IMPROVEMENT; confidence: CONFIRMED</a:t>
            </a:r>
          </a:p>
          <a:p>
            <a:r>
              <a:t>Sources: docs/INSTALLOP_AUDIT.md:348-357; scripts/openpilot.sh:129-150; build/compatibility-diff.txt</a:t>
            </a:r>
          </a:p>
          <a:p>
            <a:r>
              <a:t>Type: Historical message investigation and retained fix</a:t>
            </a:r>
          </a:p>
          <a:p>
            <a:r>
              <a:t>Boundary: 依歷史訂閱查核，本次未重現；不宣稱實車Panda連接。</a:t>
            </a:r>
          </a:p>
          <a:p>
            <a:endParaRPr/>
          </a:p>
          <a:p>
            <a:r>
              <a:t>E23: 歷史USA playing但VNC顯示舊Taiwan；重連核對窗口/容器hostname一致後驗收USA道路52mph。</a:t>
            </a:r>
          </a:p>
          <a:p>
            <a:r>
              <a:t>Tier: ENGINEERING IMPROVEMENT; confidence: CONFIRMED</a:t>
            </a:r>
          </a:p>
          <a:p>
            <a:r>
              <a:t>Sources: docs/INSTALLOP_AUDIT.md:373-397; build/acceptance-diff.txt</a:t>
            </a:r>
          </a:p>
          <a:p>
            <a:r>
              <a:t>Type: Historical observation provenance check</a:t>
            </a:r>
          </a:p>
          <a:p>
            <a:r>
              <a:t>Boundary: 52mph為回放畫面值非性能，並非新runtimehostname。</a:t>
            </a:r>
          </a:p>
          <a:p>
            <a:endParaRPr/>
          </a:p>
          <a:p>
            <a:r>
              <a:t>E28: 技術理解可由對應實作展示：環境/服務隔離、IPC、ABI、buildlink、就緒與驗收分層。</a:t>
            </a:r>
          </a:p>
          <a:p>
            <a:r>
              <a:t>Tier: ENGINEERING IMPROVEMENT; confidence: CONFIRMED</a:t>
            </a:r>
          </a:p>
          <a:p>
            <a:r>
              <a:t>Sources: docker/docker-compose.yaml; scripts/build-jll-compatible.sh; docker/display-entrypoint; docs/INSTALLOP_AUDIT.md:75-109,328-397</a:t>
            </a:r>
          </a:p>
          <a:p>
            <a:r>
              <a:t>Type: Interpretation tied to documented work</a:t>
            </a:r>
          </a:p>
          <a:p>
            <a:r>
              <a:t>Boundary: 這是對實作推理的說明，不捏造個人內心學習歷程或通用教科書課程。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R12</a:t>
            </a:r>
          </a:p>
          <a:p>
            <a:r>
              <a:t>E04: LFS/submodule、build依賴與acados encoding修正寫入Dockerfile，歷史基底全量SCons exit0。</a:t>
            </a:r>
          </a:p>
          <a:p>
            <a:r>
              <a:t>Tier: COURSE REQUIREMENT; confidence: CONFIRMED</a:t>
            </a:r>
          </a:p>
          <a:p>
            <a:r>
              <a:t>Sources: docker/Dockerfile.compute:11-47; docs/IMPLEMENTATION.md:19-28,86-101; build/baseline-diff.txt</a:t>
            </a:r>
          </a:p>
          <a:p>
            <a:r>
              <a:t>Type: Code and historical documented build</a:t>
            </a:r>
          </a:p>
          <a:p>
            <a:r>
              <a:t>Boundary: 基底build早於tools092 overlay；本次未重build，不代表overlay全量clean。</a:t>
            </a:r>
          </a:p>
          <a:p>
            <a:endParaRPr/>
          </a:p>
          <a:p>
            <a:r>
              <a:t>E12: 保留官方Replay截圖可見道路、車道/路徑與59mph及branch not tested警告。</a:t>
            </a:r>
          </a:p>
          <a:p>
            <a:r>
              <a:t>Tier: COURSE REQUIREMENT; confidence: CONFIRMED</a:t>
            </a:r>
          </a:p>
          <a:p>
            <a:r>
              <a:t>Sources: docs/replay-verified.png; docs/IMPLEMENTATION.md:97-121</a:t>
            </a:r>
          </a:p>
          <a:p>
            <a:r>
              <a:t>Type: Saved visual artifact</a:t>
            </a:r>
          </a:p>
          <a:p>
            <a:r>
              <a:t>Boundary: 單一歷史官方示例，非JLL route獨立證明，不支持駕駛品質/實車安全。</a:t>
            </a:r>
          </a:p>
          <a:p>
            <a:endParaRPr/>
          </a:p>
          <a:p>
            <a:r>
              <a:t>E18: 10/04歷史紀錄記載official USA、compat JLL USA、compat Taiwan在VNC看到道路/疊圖/速度。</a:t>
            </a:r>
          </a:p>
          <a:p>
            <a:r>
              <a:t>Tier: COURSE REQUIREMENT; confidence: CONFIRMED</a:t>
            </a:r>
          </a:p>
          <a:p>
            <a:r>
              <a:t>Sources: docs/IMPLEMENTATION.md:140-160; docs/INSTALLOP_AUDIT.md:337-397; build/acceptance-diff.txt</a:t>
            </a:r>
          </a:p>
          <a:p>
            <a:r>
              <a:t>Type: Historical documented acceptance</a:t>
            </a:r>
          </a:p>
          <a:p>
            <a:r>
              <a:t>Boundary: 歷史片段驗收，不是完整11segments/current replay/driving quality。</a:t>
            </a:r>
          </a:p>
          <a:p>
            <a:endParaRPr/>
          </a:p>
          <a:p>
            <a:r>
              <a:t>E19: 本次compute/display皆running healthy，dataC rlog/HEVC存在，binary身份與dataB6inventory一致。</a:t>
            </a:r>
          </a:p>
          <a:p>
            <a:r>
              <a:t>Tier: ENGINEERING IMPROVEMENT; confidence: CONFIRMED</a:t>
            </a:r>
          </a:p>
          <a:p>
            <a:r>
              <a:t>Sources: build/current-runtime.txt; build/current-data.txt</a:t>
            </a:r>
          </a:p>
          <a:p>
            <a:r>
              <a:t>Type: Read-only current inspection</a:t>
            </a:r>
          </a:p>
          <a:p>
            <a:r>
              <a:t>Boundary: 未操作UI/replay、restart或freshbuild。</a:t>
            </a:r>
          </a:p>
          <a:p>
            <a:endParaRPr/>
          </a:p>
          <a:p>
            <a:r>
              <a:t>E25: 空volume還原、overlay全量cleanbuild、原版plain demo及完整segments/駕駛品質缺充分證據。</a:t>
            </a:r>
          </a:p>
          <a:p>
            <a:r>
              <a:t>Tier: COURSE REQUIREMENT; confidence: NOT VERIFIED</a:t>
            </a:r>
          </a:p>
          <a:p>
            <a:r>
              <a:t>Sources: docs/IMPLEMENTATION.md:157-160; docs/INSTALLOP_AUDIT.md:369-371,395-397</a:t>
            </a:r>
          </a:p>
          <a:p>
            <a:r>
              <a:t>Type: Evidence boundary</a:t>
            </a:r>
          </a:p>
          <a:p>
            <a:r>
              <a:t>Boundary: 駕駛品質/實車不屬於本deck已驗證範圍。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R03, R05, R07, R10, R11</a:t>
            </a:r>
          </a:p>
          <a:p>
            <a:r>
              <a:t>E11: aJLL本次180files，歷史181files；原archives目錄本次0files。</a:t>
            </a:r>
          </a:p>
          <a:p>
            <a:r>
              <a:t>Tier: COURSE REQUIREMENT; confidence: CONFIRMED</a:t>
            </a:r>
          </a:p>
          <a:p>
            <a:r>
              <a:t>Sources: build/observations.json; docs/IMPLEMENTATION.md:77-79; docs/INSTALLOP_ASSETS.md</a:t>
            </a:r>
          </a:p>
          <a:p>
            <a:r>
              <a:t>Type: Current availability</a:t>
            </a:r>
          </a:p>
          <a:p>
            <a:r>
              <a:t>Boundary: 無逐檔歷史manifest可判斷數量差異原因；遠端完整性與還原來源未核實。</a:t>
            </a:r>
          </a:p>
          <a:p>
            <a:endParaRPr/>
          </a:p>
          <a:p>
            <a:r>
              <a:t>E21: Xvfb啟動時序可能相關，但原退出原因未建立。</a:t>
            </a:r>
          </a:p>
          <a:p>
            <a:r>
              <a:t>Tier: ENGINEERING IMPROVEMENT; confidence: LIKELY / SUGGESTED</a:t>
            </a:r>
          </a:p>
          <a:p>
            <a:r>
              <a:t>Sources: docker/display-entrypoint:10-11; docs/INSTALLOP_AUDIT.md:253-260</a:t>
            </a:r>
          </a:p>
          <a:p>
            <a:r>
              <a:t>Type: Comment-supported hypothesis</a:t>
            </a:r>
          </a:p>
          <a:p>
            <a:r>
              <a:t>Boundary: 根因NOT VERIFIED。</a:t>
            </a:r>
          </a:p>
          <a:p>
            <a:endParaRPr/>
          </a:p>
          <a:p>
            <a:r>
              <a:t>E25: 空volume還原、overlay全量cleanbuild、原版plain demo及完整segments/駕駛品質缺充分證據。</a:t>
            </a:r>
          </a:p>
          <a:p>
            <a:r>
              <a:t>Tier: COURSE REQUIREMENT; confidence: NOT VERIFIED</a:t>
            </a:r>
          </a:p>
          <a:p>
            <a:r>
              <a:t>Sources: docs/IMPLEMENTATION.md:157-160; docs/INSTALLOP_AUDIT.md:369-371,395-397</a:t>
            </a:r>
          </a:p>
          <a:p>
            <a:r>
              <a:t>Type: Evidence boundary</a:t>
            </a:r>
          </a:p>
          <a:p>
            <a:r>
              <a:t>Boundary: 駕駛品質/實車不屬於本deck已驗證範圍。</a:t>
            </a:r>
          </a:p>
          <a:p>
            <a:endParaRPr/>
          </a:p>
          <a:p>
            <a:r>
              <a:t>E26: aJLL遠端manifest、archive還原來源、VSC/Q&amp;A/Notes與指定Report1參考完成度未核實。</a:t>
            </a:r>
          </a:p>
          <a:p>
            <a:r>
              <a:t>Tier: COURSE REQUIREMENT; confidence: NOT VERIFIED</a:t>
            </a:r>
          </a:p>
          <a:p>
            <a:r>
              <a:t>Sources: docs/INSTALLOP_AUDIT.md:25,73,322; docs/COURSE_PLAN.md:79-100; build/observations.json</a:t>
            </a:r>
          </a:p>
          <a:p>
            <a:r>
              <a:t>Type: Requirement evidence gap</a:t>
            </a:r>
          </a:p>
          <a:p>
            <a:r>
              <a:t>Boundary: 不把缺證據等同確定未做；原DocX現不在原路徑。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Project 1 Compatible | SELF-CONTAINED REPORT DECK MODE | CROSS-APPLICATION SAFE MODE</a:t>
            </a:r>
          </a:p>
          <a:p>
            <a:r>
              <a:t>Repository HEAD e1a1bc5c75a085e1b39629986b98302f1842fe4b; audited2026-10-08 Asia/Taipei. P1 cutoff263be56811df996003c1a67ff009f82fbe48705b.</a:t>
            </a:r>
          </a:p>
          <a:p>
            <a:r>
              <a:t>Requirement coverage: R12</a:t>
            </a:r>
          </a:p>
          <a:p>
            <a:r>
              <a:t>E02: 實作採macOS ARM64上Docker linux/amd64 Ubuntu20.04，Compute/Display一致基底。</a:t>
            </a:r>
          </a:p>
          <a:p>
            <a:r>
              <a:t>Tier: ENGINEERING IMPROVEMENT; confidence: CONFIRMED</a:t>
            </a:r>
          </a:p>
          <a:p>
            <a:r>
              <a:t>Sources: docker/Dockerfile.compute:1; docker/Dockerfile.display:1; docs/IMPLEMENTATION.md:11-17; build/baseline-diff.txt; build/current-runtime.txt</a:t>
            </a:r>
          </a:p>
          <a:p>
            <a:r>
              <a:t>Type: Current configuration and runtime</a:t>
            </a:r>
          </a:p>
          <a:p>
            <a:r>
              <a:t>Boundary: 與原Ubuntu24.04教學不同，未證明教授批准平台差異。</a:t>
            </a:r>
          </a:p>
          <a:p>
            <a:endParaRPr/>
          </a:p>
          <a:p>
            <a:r>
              <a:t>E10: dataB6本次129files、2,977,906,784bytes；歷史逐檔size/CRC與ZIP符合。</a:t>
            </a:r>
          </a:p>
          <a:p>
            <a:r>
              <a:t>Tier: COURSE REQUIREMENT; confidence: CONFIRMED</a:t>
            </a:r>
          </a:p>
          <a:p>
            <a:r>
              <a:t>Sources: build/current-data.txt; docs/INSTALLOP_AUDIT.md:142-173</a:t>
            </a:r>
          </a:p>
          <a:p>
            <a:r>
              <a:t>Type: Current file inventory and historical integrity</a:t>
            </a:r>
          </a:p>
          <a:p>
            <a:r>
              <a:t>Boundary: 本次重新查數量+總bytes，未重跑CRC；ZIP現缺失。不宣稱Replay/training。</a:t>
            </a:r>
          </a:p>
          <a:p>
            <a:endParaRPr/>
          </a:p>
          <a:p>
            <a:r>
              <a:t>E16: 隔離volume唯讀複製working source，SCons指定JLL target，另安裝replayJLL.compat。</a:t>
            </a:r>
          </a:p>
          <a:p>
            <a:r>
              <a:t>Tier: ORIGINAL INVESTIGATION / EXTENSION; confidence: CONFIRMED</a:t>
            </a:r>
          </a:p>
          <a:p>
            <a:r>
              <a:t>Sources: scripts/build-jll-compatible.sh:13-58; build/compatibility-diff.txt; docs/INSTALLOP_AUDIT.md:333-345</a:t>
            </a:r>
          </a:p>
          <a:p>
            <a:r>
              <a:t>Type: Implementation and historical target build</a:t>
            </a:r>
          </a:p>
          <a:p>
            <a:r>
              <a:t>Boundary: 會寫新compat到working volume；不宣稱完全無寫入。歷史targetbuild exit0，非本次重建。</a:t>
            </a:r>
          </a:p>
          <a:p>
            <a:endParaRPr/>
          </a:p>
          <a:p>
            <a:r>
              <a:t>E18: 10/04歷史紀錄記載official USA、compat JLL USA、compat Taiwan在VNC看到道路/疊圖/速度。</a:t>
            </a:r>
          </a:p>
          <a:p>
            <a:r>
              <a:t>Tier: COURSE REQUIREMENT; confidence: CONFIRMED</a:t>
            </a:r>
          </a:p>
          <a:p>
            <a:r>
              <a:t>Sources: docs/IMPLEMENTATION.md:140-160; docs/INSTALLOP_AUDIT.md:337-397; build/acceptance-diff.txt</a:t>
            </a:r>
          </a:p>
          <a:p>
            <a:r>
              <a:t>Type: Historical documented acceptance</a:t>
            </a:r>
          </a:p>
          <a:p>
            <a:r>
              <a:t>Boundary: 歷史片段驗收，不是完整11segments/current replay/driving quality。</a:t>
            </a:r>
          </a:p>
          <a:p>
            <a:endParaRPr/>
          </a:p>
          <a:p>
            <a:r>
              <a:t>E24: launcher/快捷入口/唯讀validate形成操作與核對流程；launcher復用官方UI binary並管理窗口生命週期。</a:t>
            </a:r>
          </a:p>
          <a:p>
            <a:r>
              <a:t>Tier: ENGINEERING IMPROVEMENT; confidence: CONFIRMED</a:t>
            </a:r>
          </a:p>
          <a:p>
            <a:r>
              <a:t>Sources: scripts/openpilot.sh; scripts/validate-docker.sh; docker/launcher.py; docs/IMPLEMENTATION.md:30-45</a:t>
            </a:r>
          </a:p>
          <a:p>
            <a:r>
              <a:t>Type: Source and historical interaction</a:t>
            </a:r>
          </a:p>
          <a:p>
            <a:r>
              <a:t>Boundary: validate不驗證道路畫面；歷史UIclose/reopen2cycle不是本次操作。</a:t>
            </a:r>
          </a:p>
          <a:p>
            <a:endParaRPr/>
          </a:p>
          <a:p>
            <a:r>
              <a:t>E25: 空volume還原、overlay全量cleanbuild、原版plain demo及完整segments/駕駛品質缺充分證據。</a:t>
            </a:r>
          </a:p>
          <a:p>
            <a:r>
              <a:t>Tier: COURSE REQUIREMENT; confidence: NOT VERIFIED</a:t>
            </a:r>
          </a:p>
          <a:p>
            <a:r>
              <a:t>Sources: docs/IMPLEMENTATION.md:157-160; docs/INSTALLOP_AUDIT.md:369-371,395-397</a:t>
            </a:r>
          </a:p>
          <a:p>
            <a:r>
              <a:t>Type: Evidence boundary</a:t>
            </a:r>
          </a:p>
          <a:p>
            <a:r>
              <a:t>Boundary: 駕駛品質/實車不屬於本deck已驗證範圍。</a:t>
            </a:r>
          </a:p>
          <a:p>
            <a:endParaRPr/>
          </a:p>
          <a:p>
            <a:r>
              <a:t>E27: P1環境與Replay資料/介面支援後續模型/Agent方向，僅P1階段PLANNED銜接。</a:t>
            </a:r>
          </a:p>
          <a:p>
            <a:r>
              <a:t>Tier: COURSE REQUIREMENT; confidence: PLANNED</a:t>
            </a:r>
          </a:p>
          <a:p>
            <a:r>
              <a:t>Sources: docs/COURSE_PLAN.md:102-131; build/project-separation.txt</a:t>
            </a:r>
          </a:p>
          <a:p>
            <a:r>
              <a:t>Type: Course roadmap</a:t>
            </a:r>
          </a:p>
          <a:p>
            <a:r>
              <a:t>Boundary: 不計後續P2訓練、diagnosis/unified、P3控制成果。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0A97AA2-F787-4D38-A98A-1A3312EA1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FE21109-B9C2-47CB-AB11-1F4166E8B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A36F8CD-43BE-47C8-822D-663AEC744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38B335C-CF17-42F9-92AD-63554DBEA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FAE3042-CF96-4334-97F3-984CC97A7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4C310-B98A-4F65-AFA7-219BD3BC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2DBF69B-578D-48A5-B955-37E9CE0BC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ED71417-A030-460E-B0EC-32EC4CC5EDF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D8C537B-F2EB-4ECE-9BAA-381D0B699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4418AFF-3B7F-40F9-946F-A90915905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01">
            <a:extLst>
              <a:ext uri="{FF2B5EF4-FFF2-40B4-BE49-F238E27FC236}">
                <a16:creationId xmlns:a16="http://schemas.microsoft.com/office/drawing/2014/main" id="{6F31F7C0-81AA-4779-8F0D-6B8D0845ED6A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7DD3FC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2" name="PROJECT 1  /  FINAL SUBMISSION REPORT">
            <a:extLst>
              <a:ext uri="{FF2B5EF4-FFF2-40B4-BE49-F238E27FC236}">
                <a16:creationId xmlns:a16="http://schemas.microsoft.com/office/drawing/2014/main" id="{E16985C1-BF40-41FD-85E6-E5FFDF9B175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1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1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 noProof="1">
                <a:solidFill>
                  <a:srgbClr val="7DD3FC"/>
                </a:solidFill>
                <a:latin typeface="PingFang TC"/>
                <a:ea typeface="PingFang TC"/>
                <a:cs typeface="PingFang TC"/>
              </a:rPr>
              <a:t>PROJECT 1</a:t>
            </a:r>
          </a:p>
        </p:txBody>
      </p:sp>
      <p:sp>
        <p:nvSpPr>
          <p:cNvPr id="4" name="OpenPilot Replay 的工程基礎">
            <a:extLst>
              <a:ext uri="{FF2B5EF4-FFF2-40B4-BE49-F238E27FC236}">
                <a16:creationId xmlns:a16="http://schemas.microsoft.com/office/drawing/2014/main" id="{921E165E-271F-4E4C-BC36-C4C0A2C07275}"/>
              </a:ext>
            </a:extLst>
          </p:cNvPr>
          <p:cNvSpPr>
            <a:spLocks noGrp="1"/>
          </p:cNvSpPr>
          <p:nvPr/>
        </p:nvSpPr>
        <p:spPr>
          <a:xfrm>
            <a:off x="638175" y="2171700"/>
            <a:ext cx="109347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6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6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5400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Building a Reliable </a:t>
            </a:r>
          </a:p>
          <a:p>
            <a:pPr algn="l">
              <a:lnSpc>
                <a:spcPct val="116000"/>
              </a:lnSpc>
              <a:buNone/>
              <a:defRPr sz="36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5400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OpenPilot Replay Environment</a:t>
            </a:r>
          </a:p>
        </p:txBody>
      </p:sp>
      <p:sp>
        <p:nvSpPr>
          <p:cNvPr id="5" name="環境移植 → 跨服務資料流 → 相容性調查 → 可驗收的工作流程">
            <a:extLst>
              <a:ext uri="{FF2B5EF4-FFF2-40B4-BE49-F238E27FC236}">
                <a16:creationId xmlns:a16="http://schemas.microsoft.com/office/drawing/2014/main" id="{428E5D0E-558D-42B9-9636-CD2C57A6B70F}"/>
              </a:ext>
            </a:extLst>
          </p:cNvPr>
          <p:cNvSpPr>
            <a:spLocks noGrp="1"/>
          </p:cNvSpPr>
          <p:nvPr/>
        </p:nvSpPr>
        <p:spPr>
          <a:xfrm>
            <a:off x="638175" y="3429000"/>
            <a:ext cx="108204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02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從平台移植、跨服務</a:t>
            </a:r>
            <a:r>
              <a:rPr lang="en-US" altLang="zh-TW" sz="2025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 Replay </a:t>
            </a:r>
            <a:r>
              <a:rPr lang="zh-TW" altLang="en-US" sz="2025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到 </a:t>
            </a:r>
            <a:r>
              <a:rPr lang="en-US" altLang="zh-TW" sz="2025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msgq ABI </a:t>
            </a:r>
            <a:r>
              <a:rPr lang="zh-TW" altLang="en-US" sz="2025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相容性分析</a:t>
            </a:r>
            <a:endParaRPr sz="2025" b="0" noProof="1">
              <a:solidFill>
                <a:srgbClr val="B8CDD9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OpenPilot v0.9.1  ·  macOS ARM64 / Docker linux/">
            <a:extLst>
              <a:ext uri="{FF2B5EF4-FFF2-40B4-BE49-F238E27FC236}">
                <a16:creationId xmlns:a16="http://schemas.microsoft.com/office/drawing/2014/main" id="{85F6E7D6-8AF7-41BB-9F5B-29D5F40A7D2B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7DD3FC"/>
                </a:solidFill>
                <a:latin typeface="PingFang TC"/>
                <a:ea typeface="PingFang TC"/>
                <a:cs typeface="PingFang TC"/>
              </a:rPr>
              <a:t>OpenPilot v0.9.1  ·  macOS ARM64 / Docker linux/amd64</a:t>
            </a:r>
          </a:p>
        </p:txBody>
      </p:sp>
      <p:sp>
        <p:nvSpPr>
          <p:cNvPr id="8" name="巫承志  ·  113033225  ·  動機28">
            <a:extLst>
              <a:ext uri="{FF2B5EF4-FFF2-40B4-BE49-F238E27FC236}">
                <a16:creationId xmlns:a16="http://schemas.microsoft.com/office/drawing/2014/main" id="{5900C124-FD31-459C-9626-3897BDB3DB29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7DD3FC"/>
                </a:solidFill>
                <a:latin typeface="PingFang TC"/>
                <a:ea typeface="PingFang TC"/>
                <a:cs typeface="PingFang TC"/>
              </a:rPr>
              <a:t>巫承志  ·  113033225  ·  動機28</a:t>
            </a:r>
          </a:p>
        </p:txBody>
      </p:sp>
    </p:spTree>
    <p:extLst>
      <p:ext uri="{BB962C8B-B14F-4D97-AF65-F5344CB8AC3E}">
        <p14:creationId xmlns:p14="http://schemas.microsoft.com/office/powerpoint/2010/main" val="299646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課程要求 → 實作 → 證據：環境與建置">
            <a:extLst>
              <a:ext uri="{FF2B5EF4-FFF2-40B4-BE49-F238E27FC236}">
                <a16:creationId xmlns:a16="http://schemas.microsoft.com/office/drawing/2014/main" id="{E5313E2F-EAC5-41AF-9CDB-D828E472D8E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課程要求 → 實作 → 證據：環境與建置</a:t>
            </a:r>
          </a:p>
        </p:txBody>
      </p:sp>
      <p:sp>
        <p:nvSpPr>
          <p:cNvPr id="3" name="02">
            <a:extLst>
              <a:ext uri="{FF2B5EF4-FFF2-40B4-BE49-F238E27FC236}">
                <a16:creationId xmlns:a16="http://schemas.microsoft.com/office/drawing/2014/main" id="{F52DFF8B-C3ED-4822-88D4-046363B362B2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0C241B6-0DE5-402F-8423-A8B1EFA4A8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7454039"/>
              </p:ext>
            </p:extLst>
          </p:nvPr>
        </p:nvGraphicFramePr>
        <p:xfrm>
          <a:off x="609600" y="1461595"/>
          <a:ext cx="10972800" cy="3476625"/>
        </p:xfrm>
        <a:graphic>
          <a:graphicData uri="http://schemas.openxmlformats.org/drawingml/2006/table">
            <a:tbl>
              <a:tblPr/>
              <a:tblGrid>
                <a:gridCol w="2617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9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1" noProof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課程要求</a:t>
                      </a:r>
                    </a:p>
                  </a:txBody>
                  <a:tcPr marL="152400" marR="152400" marT="114300" marB="11430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1" noProof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我的實作</a:t>
                      </a:r>
                    </a:p>
                  </a:txBody>
                  <a:tcPr marL="152400" marR="152400" marT="114300" marB="11430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1" noProof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證據 / 狀態</a:t>
                      </a:r>
                    </a:p>
                  </a:txBody>
                  <a:tcPr marL="152400" marR="152400" marT="114300" marB="114300"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Ubuntu 24.04</a:t>
                      </a:r>
                      <a:endParaRPr sz="1650" noProof="1"/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/ OpenPilot 0.9.1</a:t>
                      </a:r>
                      <a:endParaRPr sz="1650" noProof="1"/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macOS ARM64 → Docker linux/amd64</a:t>
                      </a:r>
                      <a:endParaRPr sz="1650" noProof="1"/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→ Ubuntu 20.04 + OpenPilot 0.9.1</a:t>
                      </a:r>
                      <a:endParaRPr sz="1650" noProof="1"/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CONFIRMED｜</a:t>
                      </a:r>
                      <a:r>
                        <a:rPr lang="en-US"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完成平台適配</a:t>
                      </a:r>
                      <a:endParaRPr sz="1650" noProof="1"/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與課程 Ubuntu 24.04 有差異</a:t>
                      </a:r>
                      <a:endParaRPr sz="1650" noProof="1"/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版本 / 子模組 / Build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固定 OpenPilot commit</a:t>
                      </a:r>
                      <a:endParaRPr sz="1650" noProof="1"/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整合 Poetry / SCons 與必要依賴</a:t>
                      </a:r>
                      <a:endParaRPr sz="1650" noProof="1"/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CONFIRMED｜歷史基底 Build 成功</a:t>
                      </a:r>
                      <a:endParaRPr sz="1650" noProof="1"/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本次核對版本與檔案</a:t>
                      </a:r>
                      <a:endParaRPr sz="1650" noProof="1"/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教授 tools 與設定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lang="en-US"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整合 tools092、設定與 dataC</a:t>
                      </a:r>
                      <a:endParaRPr sz="1650" noProof="1"/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lang="en-US"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官方 tools 另行保留</a:t>
                      </a:r>
                      <a:endParaRPr sz="1650" noProof="1"/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CONFIRMED｜檔案整合</a:t>
                      </a:r>
                      <a:endParaRPr sz="1650" noProof="1"/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65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完整 lock 流程未驗證</a:t>
                      </a:r>
                      <a:endParaRPr sz="1650" noProof="1"/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可交付的是經適配的工作基底；未宣稱與原教學環境完全相同。">
            <a:extLst>
              <a:ext uri="{FF2B5EF4-FFF2-40B4-BE49-F238E27FC236}">
                <a16:creationId xmlns:a16="http://schemas.microsoft.com/office/drawing/2014/main" id="{34558E69-3344-43F7-8648-E703840B299A}"/>
              </a:ext>
            </a:extLst>
          </p:cNvPr>
          <p:cNvSpPr>
            <a:spLocks noGrp="1"/>
          </p:cNvSpPr>
          <p:nvPr/>
        </p:nvSpPr>
        <p:spPr>
          <a:xfrm>
            <a:off x="609600" y="5134796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8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完成可運作的 OpenPilot 0.9.1 環境；因電腦為 macOS ARM64，</a:t>
            </a:r>
            <a:endParaRPr sz="1875" noProof="1"/>
          </a:p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8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以 Docker linux/amd64 進行平台適配。</a:t>
            </a:r>
            <a:endParaRPr sz="1875" noProof="1"/>
          </a:p>
        </p:txBody>
      </p:sp>
      <p:sp>
        <p:nvSpPr>
          <p:cNvPr id="6" name="NOT VERIFIED：教授 sconsvenv 原樣流程、overlay 全量 clean ">
            <a:extLst>
              <a:ext uri="{FF2B5EF4-FFF2-40B4-BE49-F238E27FC236}">
                <a16:creationId xmlns:a16="http://schemas.microsoft.com/office/drawing/2014/main" id="{139404F1-1986-428F-B9C7-E13574931436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NOT VERIFIED｜教授 sconsvenv 原樣流程、overlay 全量 clean build、Ubuntu 版本差異是否獲得教授批准。</a:t>
            </a:r>
            <a:endParaRPr sz="1575" noProof="1"/>
          </a:p>
        </p:txBody>
      </p:sp>
    </p:spTree>
    <p:extLst>
      <p:ext uri="{BB962C8B-B14F-4D97-AF65-F5344CB8AC3E}">
        <p14:creationId xmlns:p14="http://schemas.microsoft.com/office/powerpoint/2010/main" val="1877936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課程要求 → 實作 → 證據：Replay 與資料">
            <a:extLst>
              <a:ext uri="{FF2B5EF4-FFF2-40B4-BE49-F238E27FC236}">
                <a16:creationId xmlns:a16="http://schemas.microsoft.com/office/drawing/2014/main" id="{D47C50FD-70C1-4981-B78D-963B586F742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課程要求 → 實作 → 證據：Replay 與資料</a:t>
            </a:r>
          </a:p>
        </p:txBody>
      </p:sp>
      <p:sp>
        <p:nvSpPr>
          <p:cNvPr id="3" name="03">
            <a:extLst>
              <a:ext uri="{FF2B5EF4-FFF2-40B4-BE49-F238E27FC236}">
                <a16:creationId xmlns:a16="http://schemas.microsoft.com/office/drawing/2014/main" id="{9049DF0D-C2FD-4C2C-A530-2313E3589AF3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5E3B415-23D0-4ED6-B662-DA583339B7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55113"/>
              </p:ext>
            </p:extLst>
          </p:nvPr>
        </p:nvGraphicFramePr>
        <p:xfrm>
          <a:off x="609600" y="1563085"/>
          <a:ext cx="10972800" cy="3333093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5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893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1" noProof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課程要求</a:t>
                      </a:r>
                    </a:p>
                  </a:txBody>
                  <a:tcPr marL="152400" marR="152400" marT="114300" marB="11430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1" noProof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我的實作</a:t>
                      </a:r>
                    </a:p>
                  </a:txBody>
                  <a:tcPr marL="152400" marR="152400" marT="114300" marB="11430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1" noProof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證據 / 狀態</a:t>
                      </a:r>
                    </a:p>
                  </a:txBody>
                  <a:tcPr marL="152400" marR="152400" marT="114300" marB="114300"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UI / JLL Replay</a:t>
                      </a:r>
                      <a:endParaRPr sz="1800" noProof="1"/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USA / Taiwan</a:t>
                      </a:r>
                      <a:endParaRPr sz="1800" noProof="1"/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VNC 道路畫面；JLL 相容版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Taiwan 指定 dataC segment 61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CONFIRMED｜歷史片段驗收</a:t>
                      </a:r>
                      <a:endParaRPr sz="1800" noProof="1"/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原版 plain demo 未驗證</a:t>
                      </a:r>
                      <a:endParaRPr sz="1800" noProof="1"/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dataB6 / aJLL </a:t>
                      </a:r>
                      <a:r>
                        <a:rPr lang="zh-TW" altLang="en-US"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下載</a:t>
                      </a:r>
                      <a:endParaRPr sz="1800" b="0" noProof="1">
                        <a:solidFill>
                          <a:srgbClr val="0F172A"/>
                        </a:solidFill>
                        <a:latin typeface="PingFang TC"/>
                        <a:ea typeface="PingFang TC"/>
                        <a:cs typeface="PingFang TC"/>
                      </a:endParaRP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dataB6：129 個檔案</a:t>
                      </a:r>
                      <a:endParaRPr sz="1800" noProof="1"/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aJLL：P</a:t>
                      </a:r>
                      <a:r>
                        <a:rPr lang="en-US"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roject</a:t>
                      </a:r>
                      <a:r>
                        <a:rPr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 </a:t>
                      </a:r>
                      <a:r>
                        <a:rPr lang="en-US"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參考並保存</a:t>
                      </a:r>
                      <a:endParaRPr sz="1800" noProof="1"/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CONFIRMED｜本地保存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aJLL 遠端完整性未驗證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VSC / Copilot / Q&amp;A</a:t>
                      </a:r>
                      <a:endParaRPr sz="1800" noProof="1"/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Notes / Report1 參考工作</a:t>
                      </a:r>
                      <a:endParaRPr sz="1800" noProof="1"/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lang="zh-TW" altLang="en-US"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本來就已具備</a:t>
                      </a:r>
                      <a:r>
                        <a:rPr lang="en-US" altLang="zh-TW"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 VSC / Copilot</a:t>
                      </a:r>
                      <a:endParaRPr sz="1800" noProof="1"/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lang="en-US" sz="18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CONFIRMED | 工具已具備</a:t>
                      </a:r>
                      <a:endParaRPr sz="1800" b="0" noProof="1">
                        <a:solidFill>
                          <a:srgbClr val="0F172A"/>
                        </a:solidFill>
                        <a:latin typeface="PingFang TC"/>
                        <a:ea typeface="PingFang TC"/>
                        <a:cs typeface="PingFang TC"/>
                      </a:endParaRP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play 顯示、資料保存與參考工作，分別接受對應的證據。">
            <a:extLst>
              <a:ext uri="{FF2B5EF4-FFF2-40B4-BE49-F238E27FC236}">
                <a16:creationId xmlns:a16="http://schemas.microsoft.com/office/drawing/2014/main" id="{27D186F6-CF05-43C2-BAD5-284BC284B62A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Replay 顯示、資料保存與參考工作，分別接受對應的證據。</a:t>
            </a:r>
          </a:p>
        </p:txBody>
      </p:sp>
      <p:sp>
        <p:nvSpPr>
          <p:cNvPr id="6" name="dataB6 / aJLL 的 P1 要求是取得保存；不宣稱 P1 已完成其模型訓練或執行。">
            <a:extLst>
              <a:ext uri="{FF2B5EF4-FFF2-40B4-BE49-F238E27FC236}">
                <a16:creationId xmlns:a16="http://schemas.microsoft.com/office/drawing/2014/main" id="{CFA28BB8-FE73-4123-85D3-2EA42E1A3CFA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dataB6 / aJLL 的 P1 要求是取得保存；不宣稱 P1 已完成其模型訓練或執行。</a:t>
            </a:r>
          </a:p>
        </p:txBody>
      </p:sp>
    </p:spTree>
    <p:extLst>
      <p:ext uri="{BB962C8B-B14F-4D97-AF65-F5344CB8AC3E}">
        <p14:creationId xmlns:p14="http://schemas.microsoft.com/office/powerpoint/2010/main" val="1596032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額外投入的價值：從部署到原創調查">
            <a:extLst>
              <a:ext uri="{FF2B5EF4-FFF2-40B4-BE49-F238E27FC236}">
                <a16:creationId xmlns:a16="http://schemas.microsoft.com/office/drawing/2014/main" id="{612CC00B-314B-4E47-90BE-E7098B2C2FA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3075" noProof="1"/>
              <a:t>課程要求外的更新</a:t>
            </a:r>
            <a:endParaRPr sz="3075" noProof="1"/>
          </a:p>
        </p:txBody>
      </p:sp>
      <p:sp>
        <p:nvSpPr>
          <p:cNvPr id="3" name="04">
            <a:extLst>
              <a:ext uri="{FF2B5EF4-FFF2-40B4-BE49-F238E27FC236}">
                <a16:creationId xmlns:a16="http://schemas.microsoft.com/office/drawing/2014/main" id="{6DBFB854-E42A-411C-B649-62407A7B75EB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4" name="ORIGINAL INVESTIGATION / EXTENSION">
            <a:extLst>
              <a:ext uri="{FF2B5EF4-FFF2-40B4-BE49-F238E27FC236}">
                <a16:creationId xmlns:a16="http://schemas.microsoft.com/office/drawing/2014/main" id="{ACAA3767-521C-4412-8CE4-6A95B2F76F6E}"/>
              </a:ext>
            </a:extLst>
          </p:cNvPr>
          <p:cNvSpPr>
            <a:spLocks noGrp="1"/>
          </p:cNvSpPr>
          <p:nvPr/>
        </p:nvSpPr>
        <p:spPr>
          <a:xfrm>
            <a:off x="609600" y="1450593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ORIGINAL INVESTIGATION / EXTENSION</a:t>
            </a:r>
          </a:p>
        </p:txBody>
      </p:sp>
      <p:sp>
        <p:nvSpPr>
          <p:cNvPr id="5" name="msgq ABI 定位與隔離重建">
            <a:extLst>
              <a:ext uri="{FF2B5EF4-FFF2-40B4-BE49-F238E27FC236}">
                <a16:creationId xmlns:a16="http://schemas.microsoft.com/office/drawing/2014/main" id="{BBBCA298-E627-4C12-8CE6-B085F51A8191}"/>
              </a:ext>
            </a:extLst>
          </p:cNvPr>
          <p:cNvSpPr>
            <a:spLocks noGrp="1"/>
          </p:cNvSpPr>
          <p:nvPr/>
        </p:nvSpPr>
        <p:spPr>
          <a:xfrm>
            <a:off x="620110" y="1746195"/>
            <a:ext cx="109728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5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5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5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msgq ABI 定位與隔離重建</a:t>
            </a:r>
          </a:p>
        </p:txBody>
      </p:sp>
      <p:sp>
        <p:nvSpPr>
          <p:cNvPr id="6" name="以可工作的官方 Replay 作對照，結合 binary offset、source 與共享記憶">
            <a:extLst>
              <a:ext uri="{FF2B5EF4-FFF2-40B4-BE49-F238E27FC236}">
                <a16:creationId xmlns:a16="http://schemas.microsoft.com/office/drawing/2014/main" id="{40A9E46D-080E-45AA-9D50-1EB005A61C04}"/>
              </a:ext>
            </a:extLst>
          </p:cNvPr>
          <p:cNvSpPr>
            <a:spLocks noGrp="1"/>
          </p:cNvSpPr>
          <p:nvPr/>
        </p:nvSpPr>
        <p:spPr>
          <a:xfrm>
            <a:off x="620110" y="2427232"/>
            <a:ext cx="109728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以可工作的官方 Replay 作對照，結合 binary offset、source 與共享記憶體證據，</a:t>
            </a:r>
          </a:p>
          <a:p>
            <a:pPr algn="l">
              <a:lnSpc>
                <a:spcPct val="116000"/>
              </a:lnSpc>
              <a:buNone/>
              <a:defRPr sz="20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定位 144-byte 介面差異；重建指定 target 並保護原版身份。</a:t>
            </a:r>
          </a:p>
        </p:txBody>
      </p:sp>
      <p:sp>
        <p:nvSpPr>
          <p:cNvPr id="7" name="Fixed-position line">
            <a:extLst>
              <a:ext uri="{FF2B5EF4-FFF2-40B4-BE49-F238E27FC236}">
                <a16:creationId xmlns:a16="http://schemas.microsoft.com/office/drawing/2014/main" id="{B23B16ED-4413-496F-88CB-B4E67FE709B9}"/>
              </a:ext>
            </a:extLst>
          </p:cNvPr>
          <p:cNvSpPr>
            <a:spLocks noGrp="1"/>
          </p:cNvSpPr>
          <p:nvPr/>
        </p:nvSpPr>
        <p:spPr>
          <a:xfrm>
            <a:off x="609600" y="3607676"/>
            <a:ext cx="10972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8" name="ENGINEERING IMPROVEMENT">
            <a:extLst>
              <a:ext uri="{FF2B5EF4-FFF2-40B4-BE49-F238E27FC236}">
                <a16:creationId xmlns:a16="http://schemas.microsoft.com/office/drawing/2014/main" id="{6B95741F-FF5A-4BBC-8A8D-BAB7E1EBB930}"/>
              </a:ext>
            </a:extLst>
          </p:cNvPr>
          <p:cNvSpPr>
            <a:spLocks noGrp="1"/>
          </p:cNvSpPr>
          <p:nvPr/>
        </p:nvSpPr>
        <p:spPr>
          <a:xfrm>
            <a:off x="609600" y="3941214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ENGINEERING IMPROVEMENT</a:t>
            </a:r>
          </a:p>
        </p:txBody>
      </p:sp>
      <p:sp>
        <p:nvSpPr>
          <p:cNvPr id="9" name="Compute / Display 分工、就緒重試、訊息過濾修正、VNC 來源核對&#10;Launch">
            <a:extLst>
              <a:ext uri="{FF2B5EF4-FFF2-40B4-BE49-F238E27FC236}">
                <a16:creationId xmlns:a16="http://schemas.microsoft.com/office/drawing/2014/main" id="{466D4546-B4DC-4145-8B3B-9472057F5D43}"/>
              </a:ext>
            </a:extLst>
          </p:cNvPr>
          <p:cNvSpPr>
            <a:spLocks noGrp="1"/>
          </p:cNvSpPr>
          <p:nvPr/>
        </p:nvSpPr>
        <p:spPr>
          <a:xfrm>
            <a:off x="609600" y="4292982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0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0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Compute / Display 分工、就緒重試、訊息過濾修正、VNC 來源核對</a:t>
            </a:r>
          </a:p>
          <a:p>
            <a:pPr algn="l">
              <a:lnSpc>
                <a:spcPct val="116000"/>
              </a:lnSpc>
              <a:buNone/>
              <a:defRPr sz="210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Launcher、快捷指令、唯讀查核與完整性記錄</a:t>
            </a:r>
          </a:p>
        </p:txBody>
      </p:sp>
      <p:sp>
        <p:nvSpPr>
          <p:cNvPr id="10" name="COURSE REQUIREMENT：安裝 / Build / UI / JLL Replay ">
            <a:extLst>
              <a:ext uri="{FF2B5EF4-FFF2-40B4-BE49-F238E27FC236}">
                <a16:creationId xmlns:a16="http://schemas.microsoft.com/office/drawing/2014/main" id="{171FE72D-B35D-4FF0-8FE5-6BB8E38FFA1E}"/>
              </a:ext>
            </a:extLst>
          </p:cNvPr>
          <p:cNvSpPr>
            <a:spLocks noGrp="1"/>
          </p:cNvSpPr>
          <p:nvPr/>
        </p:nvSpPr>
        <p:spPr>
          <a:xfrm>
            <a:off x="609600" y="5332521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COURSE REQUIREMENT：安裝 / Build / UI / JLL Replay / 資料保存。原創指本專案調查，非研究新穎性。</a:t>
            </a:r>
          </a:p>
        </p:txBody>
      </p:sp>
    </p:spTree>
    <p:extLst>
      <p:ext uri="{BB962C8B-B14F-4D97-AF65-F5344CB8AC3E}">
        <p14:creationId xmlns:p14="http://schemas.microsoft.com/office/powerpoint/2010/main" val="1691290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平台適配：在 macOS 上建立 Linux 執行基底">
            <a:extLst>
              <a:ext uri="{FF2B5EF4-FFF2-40B4-BE49-F238E27FC236}">
                <a16:creationId xmlns:a16="http://schemas.microsoft.com/office/drawing/2014/main" id="{30F40B24-BD64-434E-A440-5C748307976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環境架設與適配</a:t>
            </a: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：在 macOS 上</a:t>
            </a:r>
            <a:r>
              <a:rPr lang="zh-TW" altLang="en-US"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用</a:t>
            </a:r>
            <a:r>
              <a:rPr lang="en-US" altLang="zh-TW"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 Docker </a:t>
            </a: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建立 Linux </a:t>
            </a:r>
            <a:r>
              <a:rPr lang="en-US"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環境</a:t>
            </a:r>
            <a:endParaRPr sz="3075" b="1" noProof="1">
              <a:solidFill>
                <a:srgbClr val="0F172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05">
            <a:extLst>
              <a:ext uri="{FF2B5EF4-FFF2-40B4-BE49-F238E27FC236}">
                <a16:creationId xmlns:a16="http://schemas.microsoft.com/office/drawing/2014/main" id="{57F00009-6865-4CB9-BDA2-CC1D68D3AD6D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4" name="macOS">
            <a:extLst>
              <a:ext uri="{FF2B5EF4-FFF2-40B4-BE49-F238E27FC236}">
                <a16:creationId xmlns:a16="http://schemas.microsoft.com/office/drawing/2014/main" id="{6A9163D2-5D12-4C51-8CF0-D178ED25B9FF}"/>
              </a:ext>
            </a:extLst>
          </p:cNvPr>
          <p:cNvSpPr>
            <a:spLocks noGrp="1"/>
          </p:cNvSpPr>
          <p:nvPr/>
        </p:nvSpPr>
        <p:spPr>
          <a:xfrm>
            <a:off x="609600" y="1544364"/>
            <a:ext cx="2571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7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7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macOS</a:t>
            </a:r>
          </a:p>
        </p:txBody>
      </p:sp>
      <p:sp>
        <p:nvSpPr>
          <p:cNvPr id="5" name="ARM64 主機">
            <a:extLst>
              <a:ext uri="{FF2B5EF4-FFF2-40B4-BE49-F238E27FC236}">
                <a16:creationId xmlns:a16="http://schemas.microsoft.com/office/drawing/2014/main" id="{AC0519A3-9917-4B82-AF89-90C2ADD9D0EC}"/>
              </a:ext>
            </a:extLst>
          </p:cNvPr>
          <p:cNvSpPr>
            <a:spLocks noGrp="1"/>
          </p:cNvSpPr>
          <p:nvPr/>
        </p:nvSpPr>
        <p:spPr>
          <a:xfrm>
            <a:off x="609600" y="2201589"/>
            <a:ext cx="2571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ARM64 主機</a:t>
            </a:r>
          </a:p>
        </p:txBody>
      </p:sp>
      <p:sp>
        <p:nvSpPr>
          <p:cNvPr id="6" name="Fixed-position line">
            <a:extLst>
              <a:ext uri="{FF2B5EF4-FFF2-40B4-BE49-F238E27FC236}">
                <a16:creationId xmlns:a16="http://schemas.microsoft.com/office/drawing/2014/main" id="{F691583E-03E1-4380-A237-14BAD409DFAD}"/>
              </a:ext>
            </a:extLst>
          </p:cNvPr>
          <p:cNvSpPr>
            <a:spLocks noGrp="1"/>
          </p:cNvSpPr>
          <p:nvPr/>
        </p:nvSpPr>
        <p:spPr>
          <a:xfrm>
            <a:off x="2489641" y="2110285"/>
            <a:ext cx="552450" cy="0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7" name="Fixed-position arrowhead">
            <a:extLst>
              <a:ext uri="{FF2B5EF4-FFF2-40B4-BE49-F238E27FC236}">
                <a16:creationId xmlns:a16="http://schemas.microsoft.com/office/drawing/2014/main" id="{0AAB6838-BAEC-40B7-85E6-7ED4382FF6FD}"/>
              </a:ext>
            </a:extLst>
          </p:cNvPr>
          <p:cNvSpPr>
            <a:spLocks noGrp="1"/>
          </p:cNvSpPr>
          <p:nvPr/>
        </p:nvSpPr>
        <p:spPr>
          <a:xfrm>
            <a:off x="2908741" y="2043610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8" name="Docker">
            <a:extLst>
              <a:ext uri="{FF2B5EF4-FFF2-40B4-BE49-F238E27FC236}">
                <a16:creationId xmlns:a16="http://schemas.microsoft.com/office/drawing/2014/main" id="{DFFFC77B-AB24-48C9-B8A0-6874710F834B}"/>
              </a:ext>
            </a:extLst>
          </p:cNvPr>
          <p:cNvSpPr>
            <a:spLocks noGrp="1"/>
          </p:cNvSpPr>
          <p:nvPr/>
        </p:nvSpPr>
        <p:spPr>
          <a:xfrm>
            <a:off x="3409950" y="1544364"/>
            <a:ext cx="2571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7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7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Docker</a:t>
            </a:r>
          </a:p>
        </p:txBody>
      </p:sp>
      <p:sp>
        <p:nvSpPr>
          <p:cNvPr id="9" name="linux/amd64">
            <a:extLst>
              <a:ext uri="{FF2B5EF4-FFF2-40B4-BE49-F238E27FC236}">
                <a16:creationId xmlns:a16="http://schemas.microsoft.com/office/drawing/2014/main" id="{4C050575-09E2-4ECA-928A-19ACEE6E8AB8}"/>
              </a:ext>
            </a:extLst>
          </p:cNvPr>
          <p:cNvSpPr>
            <a:spLocks noGrp="1"/>
          </p:cNvSpPr>
          <p:nvPr/>
        </p:nvSpPr>
        <p:spPr>
          <a:xfrm>
            <a:off x="3409950" y="2201589"/>
            <a:ext cx="2571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linux/amd64</a:t>
            </a:r>
          </a:p>
        </p:txBody>
      </p:sp>
      <p:sp>
        <p:nvSpPr>
          <p:cNvPr id="10" name="Fixed-position line">
            <a:extLst>
              <a:ext uri="{FF2B5EF4-FFF2-40B4-BE49-F238E27FC236}">
                <a16:creationId xmlns:a16="http://schemas.microsoft.com/office/drawing/2014/main" id="{66DCEC78-E3DB-4218-8D34-C989984FD83E}"/>
              </a:ext>
            </a:extLst>
          </p:cNvPr>
          <p:cNvSpPr>
            <a:spLocks noGrp="1"/>
          </p:cNvSpPr>
          <p:nvPr/>
        </p:nvSpPr>
        <p:spPr>
          <a:xfrm>
            <a:off x="5289991" y="2110285"/>
            <a:ext cx="552450" cy="0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1" name="Fixed-position arrowhead">
            <a:extLst>
              <a:ext uri="{FF2B5EF4-FFF2-40B4-BE49-F238E27FC236}">
                <a16:creationId xmlns:a16="http://schemas.microsoft.com/office/drawing/2014/main" id="{0B6DD944-30C8-421B-8843-BF851ABDE93A}"/>
              </a:ext>
            </a:extLst>
          </p:cNvPr>
          <p:cNvSpPr>
            <a:spLocks noGrp="1"/>
          </p:cNvSpPr>
          <p:nvPr/>
        </p:nvSpPr>
        <p:spPr>
          <a:xfrm>
            <a:off x="5709091" y="2043610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2" name="Ubuntu">
            <a:extLst>
              <a:ext uri="{FF2B5EF4-FFF2-40B4-BE49-F238E27FC236}">
                <a16:creationId xmlns:a16="http://schemas.microsoft.com/office/drawing/2014/main" id="{FF633E8C-A3C5-4BB2-9AFD-CBBCCB91F6B7}"/>
              </a:ext>
            </a:extLst>
          </p:cNvPr>
          <p:cNvSpPr>
            <a:spLocks noGrp="1"/>
          </p:cNvSpPr>
          <p:nvPr/>
        </p:nvSpPr>
        <p:spPr>
          <a:xfrm>
            <a:off x="6210300" y="1544364"/>
            <a:ext cx="2571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7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7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Ubuntu</a:t>
            </a:r>
          </a:p>
        </p:txBody>
      </p:sp>
      <p:sp>
        <p:nvSpPr>
          <p:cNvPr id="13" name="20.04 基底">
            <a:extLst>
              <a:ext uri="{FF2B5EF4-FFF2-40B4-BE49-F238E27FC236}">
                <a16:creationId xmlns:a16="http://schemas.microsoft.com/office/drawing/2014/main" id="{241D3235-767F-43F9-9C65-70E440F7E105}"/>
              </a:ext>
            </a:extLst>
          </p:cNvPr>
          <p:cNvSpPr>
            <a:spLocks noGrp="1"/>
          </p:cNvSpPr>
          <p:nvPr/>
        </p:nvSpPr>
        <p:spPr>
          <a:xfrm>
            <a:off x="6210300" y="2201589"/>
            <a:ext cx="2571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20.04 基底</a:t>
            </a:r>
          </a:p>
        </p:txBody>
      </p:sp>
      <p:sp>
        <p:nvSpPr>
          <p:cNvPr id="14" name="Fixed-position line">
            <a:extLst>
              <a:ext uri="{FF2B5EF4-FFF2-40B4-BE49-F238E27FC236}">
                <a16:creationId xmlns:a16="http://schemas.microsoft.com/office/drawing/2014/main" id="{88E5612B-1F3A-4B0F-B846-150FC971EEC6}"/>
              </a:ext>
            </a:extLst>
          </p:cNvPr>
          <p:cNvSpPr>
            <a:spLocks noGrp="1"/>
          </p:cNvSpPr>
          <p:nvPr/>
        </p:nvSpPr>
        <p:spPr>
          <a:xfrm>
            <a:off x="8090341" y="2110285"/>
            <a:ext cx="552450" cy="0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5" name="Fixed-position arrowhead">
            <a:extLst>
              <a:ext uri="{FF2B5EF4-FFF2-40B4-BE49-F238E27FC236}">
                <a16:creationId xmlns:a16="http://schemas.microsoft.com/office/drawing/2014/main" id="{CB5BCA46-8EDE-4D00-B807-2808936F3D72}"/>
              </a:ext>
            </a:extLst>
          </p:cNvPr>
          <p:cNvSpPr>
            <a:spLocks noGrp="1"/>
          </p:cNvSpPr>
          <p:nvPr/>
        </p:nvSpPr>
        <p:spPr>
          <a:xfrm>
            <a:off x="8509441" y="2043610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6" name="OpenPilot">
            <a:extLst>
              <a:ext uri="{FF2B5EF4-FFF2-40B4-BE49-F238E27FC236}">
                <a16:creationId xmlns:a16="http://schemas.microsoft.com/office/drawing/2014/main" id="{354E17BE-2850-4780-8409-51F7664F353A}"/>
              </a:ext>
            </a:extLst>
          </p:cNvPr>
          <p:cNvSpPr>
            <a:spLocks noGrp="1"/>
          </p:cNvSpPr>
          <p:nvPr/>
        </p:nvSpPr>
        <p:spPr>
          <a:xfrm>
            <a:off x="9010650" y="1544364"/>
            <a:ext cx="2571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7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7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OpenPilot</a:t>
            </a:r>
          </a:p>
        </p:txBody>
      </p:sp>
      <p:sp>
        <p:nvSpPr>
          <p:cNvPr id="17" name="v0.9.1">
            <a:extLst>
              <a:ext uri="{FF2B5EF4-FFF2-40B4-BE49-F238E27FC236}">
                <a16:creationId xmlns:a16="http://schemas.microsoft.com/office/drawing/2014/main" id="{A6D678A7-1F1E-4165-8D66-63CEE25EDE80}"/>
              </a:ext>
            </a:extLst>
          </p:cNvPr>
          <p:cNvSpPr>
            <a:spLocks noGrp="1"/>
          </p:cNvSpPr>
          <p:nvPr/>
        </p:nvSpPr>
        <p:spPr>
          <a:xfrm>
            <a:off x="9010650" y="2201589"/>
            <a:ext cx="2571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v0.9.1</a:t>
            </a:r>
          </a:p>
        </p:txBody>
      </p:sp>
      <p:sp>
        <p:nvSpPr>
          <p:cNvPr id="18" name="為什麼需要適配？">
            <a:extLst>
              <a:ext uri="{FF2B5EF4-FFF2-40B4-BE49-F238E27FC236}">
                <a16:creationId xmlns:a16="http://schemas.microsoft.com/office/drawing/2014/main" id="{ED7C30C0-5808-4D9F-B144-C8E53A5A8A45}"/>
              </a:ext>
            </a:extLst>
          </p:cNvPr>
          <p:cNvSpPr>
            <a:spLocks noGrp="1"/>
          </p:cNvSpPr>
          <p:nvPr/>
        </p:nvSpPr>
        <p:spPr>
          <a:xfrm>
            <a:off x="609600" y="3114021"/>
            <a:ext cx="447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40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40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為什麼需要適配？</a:t>
            </a:r>
          </a:p>
        </p:txBody>
      </p:sp>
      <p:sp>
        <p:nvSpPr>
          <p:cNvPr id="19" name="課程參考 Ubuntu 24.04 主機流程。&#10;本機 macOS ARM64，需用 Linux ">
            <a:extLst>
              <a:ext uri="{FF2B5EF4-FFF2-40B4-BE49-F238E27FC236}">
                <a16:creationId xmlns:a16="http://schemas.microsoft.com/office/drawing/2014/main" id="{E4C25F41-D409-4DAB-98DD-975DCBB2DEB3}"/>
              </a:ext>
            </a:extLst>
          </p:cNvPr>
          <p:cNvSpPr>
            <a:spLocks noGrp="1"/>
          </p:cNvSpPr>
          <p:nvPr/>
        </p:nvSpPr>
        <p:spPr>
          <a:xfrm>
            <a:off x="609600" y="3695046"/>
            <a:ext cx="52197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課程參考 Ubuntu 24.04 主機流程；本機為 macOS ARM64，</a:t>
            </a:r>
            <a:endParaRPr lang="en-US" noProof="1">
              <a:solidFill>
                <a:srgbClr val="475569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16000"/>
              </a:lnSpc>
              <a:buNone/>
              <a:defRPr sz="20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因此以 Docker linux/amd64 提供 OpenPilot 所需的 Linux 執行環境。</a:t>
            </a:r>
            <a:endParaRPr sz="1800" noProof="1"/>
          </a:p>
        </p:txBody>
      </p:sp>
      <p:sp>
        <p:nvSpPr>
          <p:cNvPr id="20" name="我的選擇與邊界">
            <a:extLst>
              <a:ext uri="{FF2B5EF4-FFF2-40B4-BE49-F238E27FC236}">
                <a16:creationId xmlns:a16="http://schemas.microsoft.com/office/drawing/2014/main" id="{547B2613-8435-4268-ADD9-F034A1288C9B}"/>
              </a:ext>
            </a:extLst>
          </p:cNvPr>
          <p:cNvSpPr>
            <a:spLocks noGrp="1"/>
          </p:cNvSpPr>
          <p:nvPr/>
        </p:nvSpPr>
        <p:spPr>
          <a:xfrm>
            <a:off x="6591300" y="3114021"/>
            <a:ext cx="49911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40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40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我的實作</a:t>
            </a:r>
            <a:endParaRPr sz="2400" noProof="1"/>
          </a:p>
        </p:txBody>
      </p:sp>
      <p:sp>
        <p:nvSpPr>
          <p:cNvPr id="21" name="兩服務共用 Ubuntu 20.04；&#10;依賴及修正寫入映像建置流程。&#10;24.04 相容性未由這項">
            <a:extLst>
              <a:ext uri="{FF2B5EF4-FFF2-40B4-BE49-F238E27FC236}">
                <a16:creationId xmlns:a16="http://schemas.microsoft.com/office/drawing/2014/main" id="{FB912785-7D91-492A-A4D5-DAC51D8C27EE}"/>
              </a:ext>
            </a:extLst>
          </p:cNvPr>
          <p:cNvSpPr>
            <a:spLocks noGrp="1"/>
          </p:cNvSpPr>
          <p:nvPr/>
        </p:nvSpPr>
        <p:spPr>
          <a:xfrm>
            <a:off x="6591300" y="4285923"/>
            <a:ext cx="49911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marL="285750" indent="-285750" algn="l">
              <a:lnSpc>
                <a:spcPct val="116000"/>
              </a:lnSpc>
              <a:buFont typeface="Arial" panose="020B0604020202020204" pitchFamily="34" charset="0"/>
              <a:buChar char="•"/>
              <a:defRPr sz="20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Compute / Display 共用 Ubuntu 20.04 基底；</a:t>
            </a:r>
            <a:r>
              <a:rPr lang="en-US"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Dependencies </a:t>
            </a: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與必要修正寫入</a:t>
            </a:r>
            <a:r>
              <a:rPr lang="en-US"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 image build 的流程（Dockerfile）</a:t>
            </a:r>
          </a:p>
          <a:p>
            <a:pPr marL="285750" indent="-285750">
              <a:lnSpc>
                <a:spcPct val="116000"/>
              </a:lnSpc>
              <a:buFont typeface="Arial" panose="020B0604020202020204" pitchFamily="34" charset="0"/>
              <a:buChar char="•"/>
              <a:defRPr sz="20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20.04 </a:t>
            </a: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適配不代表證明與 Ubuntu 24.04 完全</a:t>
            </a:r>
            <a:r>
              <a:rPr lang="zh-TW" altLang="en-US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一樣</a:t>
            </a:r>
            <a:endParaRPr lang="en-US" altLang="zh-TW" noProof="1">
              <a:solidFill>
                <a:srgbClr val="475569"/>
              </a:solidFill>
              <a:latin typeface="PingFang TC"/>
              <a:ea typeface="PingFang TC"/>
              <a:cs typeface="PingFang TC"/>
            </a:endParaRPr>
          </a:p>
          <a:p>
            <a:pPr marL="342900" indent="-342900">
              <a:lnSpc>
                <a:spcPct val="116000"/>
              </a:lnSpc>
              <a:buFont typeface="Arial" panose="020B0604020202020204" pitchFamily="34" charset="0"/>
              <a:buChar char="•"/>
              <a:defRPr sz="20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實際 </a:t>
            </a:r>
            <a:r>
              <a:rPr lang="en" alt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Python 3.8.10</a:t>
            </a:r>
            <a:r>
              <a:rPr lang="zh-TW" altLang="en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；</a:t>
            </a:r>
            <a:r>
              <a:rPr lang="zh-TW" altLang="en-US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教學範例 </a:t>
            </a:r>
            <a:r>
              <a:rPr lang="en-US" altLang="zh-TW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3.8.20</a:t>
            </a:r>
            <a:r>
              <a:rPr lang="zh-TW" altLang="en-US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。未將兩者描述為精確一致。</a:t>
            </a:r>
          </a:p>
          <a:p>
            <a:pPr algn="l">
              <a:lnSpc>
                <a:spcPct val="116000"/>
              </a:lnSpc>
              <a:buNone/>
              <a:defRPr sz="20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endParaRPr sz="1800" noProof="1"/>
          </a:p>
        </p:txBody>
      </p:sp>
    </p:spTree>
    <p:extLst>
      <p:ext uri="{BB962C8B-B14F-4D97-AF65-F5344CB8AC3E}">
        <p14:creationId xmlns:p14="http://schemas.microsoft.com/office/powerpoint/2010/main" val="562823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建置分層：固定版本、補足依賴、保留範圍">
            <a:extLst>
              <a:ext uri="{FF2B5EF4-FFF2-40B4-BE49-F238E27FC236}">
                <a16:creationId xmlns:a16="http://schemas.microsoft.com/office/drawing/2014/main" id="{A082D34C-594A-43E0-8F99-498C108BB4B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建置分層：固定版本、補足依賴、保留範圍</a:t>
            </a:r>
          </a:p>
        </p:txBody>
      </p:sp>
      <p:sp>
        <p:nvSpPr>
          <p:cNvPr id="3" name="06">
            <a:extLst>
              <a:ext uri="{FF2B5EF4-FFF2-40B4-BE49-F238E27FC236}">
                <a16:creationId xmlns:a16="http://schemas.microsoft.com/office/drawing/2014/main" id="{86D1ED92-0910-4A26-BAB2-2D327BFD2096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4B7DC08F-9D2D-440C-80DA-722251925B52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7048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5" name="固定來源">
            <a:extLst>
              <a:ext uri="{FF2B5EF4-FFF2-40B4-BE49-F238E27FC236}">
                <a16:creationId xmlns:a16="http://schemas.microsoft.com/office/drawing/2014/main" id="{76EDF6A9-D56F-4568-966F-DD0749D60F49}"/>
              </a:ext>
            </a:extLst>
          </p:cNvPr>
          <p:cNvSpPr>
            <a:spLocks noGrp="1"/>
          </p:cNvSpPr>
          <p:nvPr/>
        </p:nvSpPr>
        <p:spPr>
          <a:xfrm>
            <a:off x="1524000" y="1562100"/>
            <a:ext cx="25431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固定來源</a:t>
            </a:r>
          </a:p>
        </p:txBody>
      </p:sp>
      <p:sp>
        <p:nvSpPr>
          <p:cNvPr id="6" name="OpenPilot v0.9.1 固定 commit；初始化子模組，LFS 拉取後檢查實際檔案。">
            <a:extLst>
              <a:ext uri="{FF2B5EF4-FFF2-40B4-BE49-F238E27FC236}">
                <a16:creationId xmlns:a16="http://schemas.microsoft.com/office/drawing/2014/main" id="{32C60E67-B82B-4E20-BCF4-1F5E2CBA2740}"/>
              </a:ext>
            </a:extLst>
          </p:cNvPr>
          <p:cNvSpPr>
            <a:spLocks noGrp="1"/>
          </p:cNvSpPr>
          <p:nvPr/>
        </p:nvSpPr>
        <p:spPr>
          <a:xfrm>
            <a:off x="4219575" y="1562100"/>
            <a:ext cx="73628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OpenPilot v0.9.1 固定 commit；初始化子模組，LFS 拉取後檢查實際檔案。</a:t>
            </a:r>
          </a:p>
        </p:txBody>
      </p:sp>
      <p:sp>
        <p:nvSpPr>
          <p:cNvPr id="7" name="Fixed-position line">
            <a:extLst>
              <a:ext uri="{FF2B5EF4-FFF2-40B4-BE49-F238E27FC236}">
                <a16:creationId xmlns:a16="http://schemas.microsoft.com/office/drawing/2014/main" id="{22CAE225-7208-41B9-A6BB-06B8FDE1A578}"/>
              </a:ext>
            </a:extLst>
          </p:cNvPr>
          <p:cNvSpPr>
            <a:spLocks noGrp="1"/>
          </p:cNvSpPr>
          <p:nvPr/>
        </p:nvSpPr>
        <p:spPr>
          <a:xfrm>
            <a:off x="1524000" y="2400300"/>
            <a:ext cx="100584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A10646FA-9817-42BD-B4F1-556DEA925831}"/>
              </a:ext>
            </a:extLst>
          </p:cNvPr>
          <p:cNvSpPr>
            <a:spLocks noGrp="1"/>
          </p:cNvSpPr>
          <p:nvPr/>
        </p:nvSpPr>
        <p:spPr>
          <a:xfrm>
            <a:off x="609600" y="2505075"/>
            <a:ext cx="7048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9" name="補足 Build / Link">
            <a:extLst>
              <a:ext uri="{FF2B5EF4-FFF2-40B4-BE49-F238E27FC236}">
                <a16:creationId xmlns:a16="http://schemas.microsoft.com/office/drawing/2014/main" id="{16F88B73-38CA-4240-A8A6-F835347FC0B2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25431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補足建置 / 連結</a:t>
            </a:r>
            <a:endParaRPr sz="1950" noProof="1"/>
          </a:p>
        </p:txBody>
      </p:sp>
      <p:sp>
        <p:nvSpPr>
          <p:cNvPr id="10" name="依賴">
            <a:extLst>
              <a:ext uri="{FF2B5EF4-FFF2-40B4-BE49-F238E27FC236}">
                <a16:creationId xmlns:a16="http://schemas.microsoft.com/office/drawing/2014/main" id="{8B4AAA14-4C23-43E2-8555-D26E9FD25376}"/>
              </a:ext>
            </a:extLst>
          </p:cNvPr>
          <p:cNvSpPr>
            <a:spLocks noGrp="1"/>
          </p:cNvSpPr>
          <p:nvPr/>
        </p:nvSpPr>
        <p:spPr>
          <a:xfrm>
            <a:off x="1524000" y="2847975"/>
            <a:ext cx="25431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依賴</a:t>
            </a:r>
          </a:p>
        </p:txBody>
      </p:sp>
      <p:sp>
        <p:nvSpPr>
          <p:cNvPr id="11" name="Qt、libusb、JPEG、systemd、ARM toolchain 等依賴；修正 acad">
            <a:extLst>
              <a:ext uri="{FF2B5EF4-FFF2-40B4-BE49-F238E27FC236}">
                <a16:creationId xmlns:a16="http://schemas.microsoft.com/office/drawing/2014/main" id="{573AC644-B218-4C1E-AA2C-A47190BCEC4C}"/>
              </a:ext>
            </a:extLst>
          </p:cNvPr>
          <p:cNvSpPr>
            <a:spLocks noGrp="1"/>
          </p:cNvSpPr>
          <p:nvPr/>
        </p:nvSpPr>
        <p:spPr>
          <a:xfrm>
            <a:off x="4219575" y="2505075"/>
            <a:ext cx="73628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Qt、libusb、JPEG、systemd、ARM toolchain 等依賴；修正 acados encoding 標記。</a:t>
            </a:r>
          </a:p>
        </p:txBody>
      </p:sp>
      <p:sp>
        <p:nvSpPr>
          <p:cNvPr id="12" name="Fixed-position line">
            <a:extLst>
              <a:ext uri="{FF2B5EF4-FFF2-40B4-BE49-F238E27FC236}">
                <a16:creationId xmlns:a16="http://schemas.microsoft.com/office/drawing/2014/main" id="{0623457E-595A-4560-9BE1-6472245595EB}"/>
              </a:ext>
            </a:extLst>
          </p:cNvPr>
          <p:cNvSpPr>
            <a:spLocks noGrp="1"/>
          </p:cNvSpPr>
          <p:nvPr/>
        </p:nvSpPr>
        <p:spPr>
          <a:xfrm>
            <a:off x="1524000" y="3343275"/>
            <a:ext cx="100584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6EFD5D83-041D-4181-BD19-B7B7C83D8105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7048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4" name="基底建置">
            <a:extLst>
              <a:ext uri="{FF2B5EF4-FFF2-40B4-BE49-F238E27FC236}">
                <a16:creationId xmlns:a16="http://schemas.microsoft.com/office/drawing/2014/main" id="{2E3CBFA6-8BC5-48AB-9042-BA141FAB2443}"/>
              </a:ext>
            </a:extLst>
          </p:cNvPr>
          <p:cNvSpPr>
            <a:spLocks noGrp="1"/>
          </p:cNvSpPr>
          <p:nvPr/>
        </p:nvSpPr>
        <p:spPr>
          <a:xfrm>
            <a:off x="1524000" y="3448050"/>
            <a:ext cx="25431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基底建置</a:t>
            </a:r>
          </a:p>
        </p:txBody>
      </p:sp>
      <p:sp>
        <p:nvSpPr>
          <p:cNvPr id="15" name="歷史實作紀錄：全量 SCons exit 0。此結果早於教授 tools092 overlay。">
            <a:extLst>
              <a:ext uri="{FF2B5EF4-FFF2-40B4-BE49-F238E27FC236}">
                <a16:creationId xmlns:a16="http://schemas.microsoft.com/office/drawing/2014/main" id="{4FA15C30-7684-411C-A1A0-59C260ACB435}"/>
              </a:ext>
            </a:extLst>
          </p:cNvPr>
          <p:cNvSpPr>
            <a:spLocks noGrp="1"/>
          </p:cNvSpPr>
          <p:nvPr/>
        </p:nvSpPr>
        <p:spPr>
          <a:xfrm>
            <a:off x="4219575" y="3448050"/>
            <a:ext cx="73628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歷史實作紀錄：全量 SCons exit 0。此結果早於教授 tools092 overlay。</a:t>
            </a:r>
          </a:p>
        </p:txBody>
      </p:sp>
      <p:sp>
        <p:nvSpPr>
          <p:cNvPr id="16" name="Fixed-position line">
            <a:extLst>
              <a:ext uri="{FF2B5EF4-FFF2-40B4-BE49-F238E27FC236}">
                <a16:creationId xmlns:a16="http://schemas.microsoft.com/office/drawing/2014/main" id="{276B7771-8EA5-42B2-84E1-417FA2EE60BF}"/>
              </a:ext>
            </a:extLst>
          </p:cNvPr>
          <p:cNvSpPr>
            <a:spLocks noGrp="1"/>
          </p:cNvSpPr>
          <p:nvPr/>
        </p:nvSpPr>
        <p:spPr>
          <a:xfrm>
            <a:off x="1524000" y="4286250"/>
            <a:ext cx="100584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7" name="04">
            <a:extLst>
              <a:ext uri="{FF2B5EF4-FFF2-40B4-BE49-F238E27FC236}">
                <a16:creationId xmlns:a16="http://schemas.microsoft.com/office/drawing/2014/main" id="{7BDCB1DD-8DA6-43B3-B7E8-C2345CFA2DF4}"/>
              </a:ext>
            </a:extLst>
          </p:cNvPr>
          <p:cNvSpPr>
            <a:spLocks noGrp="1"/>
          </p:cNvSpPr>
          <p:nvPr/>
        </p:nvSpPr>
        <p:spPr>
          <a:xfrm>
            <a:off x="609600" y="4391025"/>
            <a:ext cx="7048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18" name="課程整合與定向重建">
            <a:extLst>
              <a:ext uri="{FF2B5EF4-FFF2-40B4-BE49-F238E27FC236}">
                <a16:creationId xmlns:a16="http://schemas.microsoft.com/office/drawing/2014/main" id="{4045FB12-FC6C-4BAA-A40F-4BDBEE4EF57A}"/>
              </a:ext>
            </a:extLst>
          </p:cNvPr>
          <p:cNvSpPr>
            <a:spLocks noGrp="1"/>
          </p:cNvSpPr>
          <p:nvPr/>
        </p:nvSpPr>
        <p:spPr>
          <a:xfrm>
            <a:off x="1524000" y="4391025"/>
            <a:ext cx="25431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課程整合與定向重建</a:t>
            </a:r>
          </a:p>
        </p:txBody>
      </p:sp>
      <p:sp>
        <p:nvSpPr>
          <p:cNvPr id="19" name="tools092 + pyproject.toml / poetry.lock；&#10;update_">
            <a:extLst>
              <a:ext uri="{FF2B5EF4-FFF2-40B4-BE49-F238E27FC236}">
                <a16:creationId xmlns:a16="http://schemas.microsoft.com/office/drawing/2014/main" id="{D3EE21C8-4B28-464A-9B2D-73C48DAB4476}"/>
              </a:ext>
            </a:extLst>
          </p:cNvPr>
          <p:cNvSpPr>
            <a:spLocks noGrp="1"/>
          </p:cNvSpPr>
          <p:nvPr/>
        </p:nvSpPr>
        <p:spPr>
          <a:xfrm>
            <a:off x="4219575" y="4391025"/>
            <a:ext cx="736282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tools092 + pyproject.toml / poetry.lock；</a:t>
            </a:r>
          </a:p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update_requirements.sh 可執行；加入 dataC，</a:t>
            </a:r>
          </a:p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相容版只重建 replayJLL target。</a:t>
            </a:r>
          </a:p>
        </p:txBody>
      </p:sp>
      <p:sp>
        <p:nvSpPr>
          <p:cNvPr id="20" name="本次核對 Python 3.8.10 / Poetry 1.3.2 / SCons 4.4.0；">
            <a:extLst>
              <a:ext uri="{FF2B5EF4-FFF2-40B4-BE49-F238E27FC236}">
                <a16:creationId xmlns:a16="http://schemas.microsoft.com/office/drawing/2014/main" id="{9CF88EE8-921D-4A10-A51D-2C138F5A6009}"/>
              </a:ext>
            </a:extLst>
          </p:cNvPr>
          <p:cNvSpPr>
            <a:spLocks noGrp="1"/>
          </p:cNvSpPr>
          <p:nvPr/>
        </p:nvSpPr>
        <p:spPr>
          <a:xfrm>
            <a:off x="600075" y="5721241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本次核對 Python 3.8.10 / Poetry 1.3.2 / SCons 4.4.0；本次未重跑 tools092 overlay 後的全量 clean build。</a:t>
            </a:r>
            <a:endParaRPr sz="1575" noProof="1"/>
          </a:p>
        </p:txBody>
      </p:sp>
    </p:spTree>
    <p:extLst>
      <p:ext uri="{BB962C8B-B14F-4D97-AF65-F5344CB8AC3E}">
        <p14:creationId xmlns:p14="http://schemas.microsoft.com/office/powerpoint/2010/main" val="2004708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mpute / Display：分工與觀察路徑">
            <a:extLst>
              <a:ext uri="{FF2B5EF4-FFF2-40B4-BE49-F238E27FC236}">
                <a16:creationId xmlns:a16="http://schemas.microsoft.com/office/drawing/2014/main" id="{BF28F425-C9B0-4107-93B3-EC8787F743E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Compute / Display：分工與觀察路徑</a:t>
            </a:r>
          </a:p>
        </p:txBody>
      </p:sp>
      <p:sp>
        <p:nvSpPr>
          <p:cNvPr id="3" name="07">
            <a:extLst>
              <a:ext uri="{FF2B5EF4-FFF2-40B4-BE49-F238E27FC236}">
                <a16:creationId xmlns:a16="http://schemas.microsoft.com/office/drawing/2014/main" id="{B0EBD12F-CDE1-4848-8F86-A5DD6DE22AF6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27A2FB-7E01-4688-B3C1-D548A18CA759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3905250" cy="1809750"/>
          </a:xfrm>
          <a:prstGeom prst="rect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5" name="Compute">
            <a:extLst>
              <a:ext uri="{FF2B5EF4-FFF2-40B4-BE49-F238E27FC236}">
                <a16:creationId xmlns:a16="http://schemas.microsoft.com/office/drawing/2014/main" id="{34BF0227-0F64-4207-AB82-EFD21681CDC6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34480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Compute</a:t>
            </a:r>
          </a:p>
        </p:txBody>
      </p:sp>
      <p:sp>
        <p:nvSpPr>
          <p:cNvPr id="6" name="Replay 讀取 log / camera&#10;SCons / 資料與 source 管理">
            <a:extLst>
              <a:ext uri="{FF2B5EF4-FFF2-40B4-BE49-F238E27FC236}">
                <a16:creationId xmlns:a16="http://schemas.microsoft.com/office/drawing/2014/main" id="{DF3F0D35-91B8-4477-BE5F-D3C9921BDD2F}"/>
              </a:ext>
            </a:extLst>
          </p:cNvPr>
          <p:cNvSpPr>
            <a:spLocks noGrp="1"/>
          </p:cNvSpPr>
          <p:nvPr/>
        </p:nvSpPr>
        <p:spPr>
          <a:xfrm>
            <a:off x="838200" y="2438400"/>
            <a:ext cx="34480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Replay 讀取 log / camera</a:t>
            </a:r>
          </a:p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SCons / 資料與 source 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DF733D-C8AD-46AD-A41A-2B440ACAC15F}"/>
              </a:ext>
            </a:extLst>
          </p:cNvPr>
          <p:cNvSpPr>
            <a:spLocks noGrp="1"/>
          </p:cNvSpPr>
          <p:nvPr/>
        </p:nvSpPr>
        <p:spPr>
          <a:xfrm>
            <a:off x="7181850" y="1714500"/>
            <a:ext cx="4400550" cy="1809750"/>
          </a:xfrm>
          <a:prstGeom prst="rect">
            <a:avLst/>
          </a:prstGeom>
          <a:solidFill>
            <a:srgbClr val="E0F2FE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8" name="Display">
            <a:extLst>
              <a:ext uri="{FF2B5EF4-FFF2-40B4-BE49-F238E27FC236}">
                <a16:creationId xmlns:a16="http://schemas.microsoft.com/office/drawing/2014/main" id="{581F4315-1C34-458A-87D3-92AA6F0CE6E6}"/>
              </a:ext>
            </a:extLst>
          </p:cNvPr>
          <p:cNvSpPr>
            <a:spLocks noGrp="1"/>
          </p:cNvSpPr>
          <p:nvPr/>
        </p:nvSpPr>
        <p:spPr>
          <a:xfrm>
            <a:off x="7410450" y="1847850"/>
            <a:ext cx="39433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Display</a:t>
            </a:r>
          </a:p>
        </p:txBody>
      </p:sp>
      <p:sp>
        <p:nvSpPr>
          <p:cNvPr id="9" name="Qt UI 顯示 Replay 結果&#10;Xvfb / Openbox 提供桌面">
            <a:extLst>
              <a:ext uri="{FF2B5EF4-FFF2-40B4-BE49-F238E27FC236}">
                <a16:creationId xmlns:a16="http://schemas.microsoft.com/office/drawing/2014/main" id="{F63B444F-E240-46CB-9EB0-AED8BAD5FAD4}"/>
              </a:ext>
            </a:extLst>
          </p:cNvPr>
          <p:cNvSpPr>
            <a:spLocks noGrp="1"/>
          </p:cNvSpPr>
          <p:nvPr/>
        </p:nvSpPr>
        <p:spPr>
          <a:xfrm>
            <a:off x="7410450" y="2438400"/>
            <a:ext cx="39433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Qt UI 顯示 Replay 結果</a:t>
            </a:r>
          </a:p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Xvfb / Openbox 提供</a:t>
            </a:r>
            <a:r>
              <a:rPr lang="zh-TW" altLang="en-US"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顯示桌面</a:t>
            </a:r>
            <a:endParaRPr sz="1800" b="0" noProof="1">
              <a:solidFill>
                <a:srgbClr val="475569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0" name="Fixed-position line">
            <a:extLst>
              <a:ext uri="{FF2B5EF4-FFF2-40B4-BE49-F238E27FC236}">
                <a16:creationId xmlns:a16="http://schemas.microsoft.com/office/drawing/2014/main" id="{7F75139E-91F1-45F8-AA93-DEAAD9DD20E8}"/>
              </a:ext>
            </a:extLst>
          </p:cNvPr>
          <p:cNvSpPr>
            <a:spLocks noGrp="1"/>
          </p:cNvSpPr>
          <p:nvPr/>
        </p:nvSpPr>
        <p:spPr>
          <a:xfrm>
            <a:off x="4514850" y="2619375"/>
            <a:ext cx="2667000" cy="0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1" name="Fixed-position arrowhead">
            <a:extLst>
              <a:ext uri="{FF2B5EF4-FFF2-40B4-BE49-F238E27FC236}">
                <a16:creationId xmlns:a16="http://schemas.microsoft.com/office/drawing/2014/main" id="{57A77181-34B9-4AC4-AA7C-B70706A634D5}"/>
              </a:ext>
            </a:extLst>
          </p:cNvPr>
          <p:cNvSpPr>
            <a:spLocks noGrp="1"/>
          </p:cNvSpPr>
          <p:nvPr/>
        </p:nvSpPr>
        <p:spPr>
          <a:xfrm>
            <a:off x="7048500" y="2552700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2" name="IPC / 資料流">
            <a:extLst>
              <a:ext uri="{FF2B5EF4-FFF2-40B4-BE49-F238E27FC236}">
                <a16:creationId xmlns:a16="http://schemas.microsoft.com/office/drawing/2014/main" id="{925DF60F-B5C9-4B36-960C-A7AA5F3E0350}"/>
              </a:ext>
            </a:extLst>
          </p:cNvPr>
          <p:cNvSpPr>
            <a:spLocks noGrp="1"/>
          </p:cNvSpPr>
          <p:nvPr/>
        </p:nvSpPr>
        <p:spPr>
          <a:xfrm>
            <a:off x="4772025" y="1990725"/>
            <a:ext cx="21240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ctr">
              <a:defRPr sz="18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ctr">
              <a:lnSpc>
                <a:spcPct val="116000"/>
              </a:lnSpc>
              <a:buNone/>
              <a:defRPr sz="18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IPC / 資料流</a:t>
            </a:r>
          </a:p>
        </p:txBody>
      </p:sp>
      <p:sp>
        <p:nvSpPr>
          <p:cNvPr id="13" name="Fixed-position line">
            <a:extLst>
              <a:ext uri="{FF2B5EF4-FFF2-40B4-BE49-F238E27FC236}">
                <a16:creationId xmlns:a16="http://schemas.microsoft.com/office/drawing/2014/main" id="{2FDACBE5-8C2E-4A63-BFD7-D2D7E99D2551}"/>
              </a:ext>
            </a:extLst>
          </p:cNvPr>
          <p:cNvSpPr>
            <a:spLocks noGrp="1"/>
          </p:cNvSpPr>
          <p:nvPr/>
        </p:nvSpPr>
        <p:spPr>
          <a:xfrm>
            <a:off x="9391650" y="3524250"/>
            <a:ext cx="0" cy="419100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4" name="Fixed-position arrowhead">
            <a:extLst>
              <a:ext uri="{FF2B5EF4-FFF2-40B4-BE49-F238E27FC236}">
                <a16:creationId xmlns:a16="http://schemas.microsoft.com/office/drawing/2014/main" id="{B40F3282-45AC-4A99-BC6D-94C8AD299136}"/>
              </a:ext>
            </a:extLst>
          </p:cNvPr>
          <p:cNvSpPr>
            <a:spLocks noGrp="1"/>
          </p:cNvSpPr>
          <p:nvPr/>
        </p:nvSpPr>
        <p:spPr>
          <a:xfrm>
            <a:off x="9324975" y="3810000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0"/>
                </a:lnTo>
                <a:lnTo>
                  <a:pt x="66675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5" name="VNC / noVNC">
            <a:extLst>
              <a:ext uri="{FF2B5EF4-FFF2-40B4-BE49-F238E27FC236}">
                <a16:creationId xmlns:a16="http://schemas.microsoft.com/office/drawing/2014/main" id="{EF66E32B-C9E1-4F6D-8195-00A91C75D8F6}"/>
              </a:ext>
            </a:extLst>
          </p:cNvPr>
          <p:cNvSpPr>
            <a:spLocks noGrp="1"/>
          </p:cNvSpPr>
          <p:nvPr/>
        </p:nvSpPr>
        <p:spPr>
          <a:xfrm>
            <a:off x="7381875" y="3990975"/>
            <a:ext cx="4000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ctr">
              <a:lnSpc>
                <a:spcPct val="116000"/>
              </a:lnSpc>
              <a:buNone/>
              <a:defRPr sz="21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VNC / noVNC</a:t>
            </a:r>
          </a:p>
        </p:txBody>
      </p:sp>
      <p:sp>
        <p:nvSpPr>
          <p:cNvPr id="16" name="localhost 5910 / 6080 → 主機檢視">
            <a:extLst>
              <a:ext uri="{FF2B5EF4-FFF2-40B4-BE49-F238E27FC236}">
                <a16:creationId xmlns:a16="http://schemas.microsoft.com/office/drawing/2014/main" id="{E37AAC9A-F4F6-4142-BAF7-F2183099CFE1}"/>
              </a:ext>
            </a:extLst>
          </p:cNvPr>
          <p:cNvSpPr>
            <a:spLocks noGrp="1"/>
          </p:cNvSpPr>
          <p:nvPr/>
        </p:nvSpPr>
        <p:spPr>
          <a:xfrm>
            <a:off x="609600" y="4086225"/>
            <a:ext cx="6019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localhost 5910 / 6080 → </a:t>
            </a:r>
            <a:r>
              <a:rPr lang="zh-TW" altLang="en-US" sz="195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本機</a:t>
            </a: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檢視</a:t>
            </a:r>
          </a:p>
        </p:txBody>
      </p:sp>
      <p:sp>
        <p:nvSpPr>
          <p:cNvPr id="17" name="分工目的">
            <a:extLst>
              <a:ext uri="{FF2B5EF4-FFF2-40B4-BE49-F238E27FC236}">
                <a16:creationId xmlns:a16="http://schemas.microsoft.com/office/drawing/2014/main" id="{8E68CEDE-3CC4-44CD-A0CA-34CE6B7588FE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20669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為什麼分成</a:t>
            </a:r>
            <a:endParaRPr sz="1950" noProof="1"/>
          </a:p>
          <a:p>
            <a:pPr algn="l">
              <a:lnSpc>
                <a:spcPct val="116000"/>
              </a:lnSpc>
              <a:buNone/>
              <a:defRPr sz="21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兩</a:t>
            </a:r>
            <a:r>
              <a:rPr lang="zh-TW" altLang="en-US" sz="195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邊</a:t>
            </a:r>
            <a:r>
              <a:rPr sz="195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？</a:t>
            </a:r>
            <a:endParaRPr sz="1950" noProof="1"/>
          </a:p>
        </p:txBody>
      </p:sp>
      <p:sp>
        <p:nvSpPr>
          <p:cNvPr id="18" name="把計算與圖形桌面分開管理；一致 Ubuntu 基底降低依賴差異。&#10;Display 不修改 sou">
            <a:extLst>
              <a:ext uri="{FF2B5EF4-FFF2-40B4-BE49-F238E27FC236}">
                <a16:creationId xmlns:a16="http://schemas.microsoft.com/office/drawing/2014/main" id="{F2BE8E3E-7058-4E36-9F86-63FA696B2C50}"/>
              </a:ext>
            </a:extLst>
          </p:cNvPr>
          <p:cNvSpPr>
            <a:spLocks noGrp="1"/>
          </p:cNvSpPr>
          <p:nvPr/>
        </p:nvSpPr>
        <p:spPr>
          <a:xfrm>
            <a:off x="2876550" y="4667250"/>
            <a:ext cx="8705850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把計算與圖形桌面分開管理</a:t>
            </a:r>
            <a:r>
              <a:rPr lang="zh-TW" altLang="en-US"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，減少 </a:t>
            </a:r>
            <a:r>
              <a:rPr lang="en-US" altLang="zh-TW"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container </a:t>
            </a:r>
            <a:r>
              <a:rPr lang="zh-TW" altLang="en-US"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的工作量並提升效能。</a:t>
            </a:r>
            <a:endParaRPr lang="en-US" altLang="zh-TW" sz="1950" b="0" noProof="1">
              <a:solidFill>
                <a:srgbClr val="0F172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Display 不修改 source，兩</a:t>
            </a:r>
            <a:r>
              <a:rPr lang="zh-TW" altLang="en-US"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邊</a:t>
            </a: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仍共享必要的 IPC / PID 與 socket 路徑。</a:t>
            </a:r>
          </a:p>
        </p:txBody>
      </p:sp>
      <p:sp>
        <p:nvSpPr>
          <p:cNvPr id="19" name="主機看到的是 Display 桌面；健康服務和實際 UI 道路畫面需分別驗收。">
            <a:extLst>
              <a:ext uri="{FF2B5EF4-FFF2-40B4-BE49-F238E27FC236}">
                <a16:creationId xmlns:a16="http://schemas.microsoft.com/office/drawing/2014/main" id="{46F96F48-D186-4292-B174-0928C94D6923}"/>
              </a:ext>
            </a:extLst>
          </p:cNvPr>
          <p:cNvSpPr>
            <a:spLocks noGrp="1"/>
          </p:cNvSpPr>
          <p:nvPr/>
        </p:nvSpPr>
        <p:spPr>
          <a:xfrm>
            <a:off x="609600" y="5843586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主機看到的是 Display 桌面；健康服務和實際 UI 道路畫面需分別驗收。</a:t>
            </a:r>
          </a:p>
        </p:txBody>
      </p:sp>
    </p:spTree>
    <p:extLst>
      <p:ext uri="{BB962C8B-B14F-4D97-AF65-F5344CB8AC3E}">
        <p14:creationId xmlns:p14="http://schemas.microsoft.com/office/powerpoint/2010/main" val="1920176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PC：影像與訊息如何跨越服務邊界">
            <a:extLst>
              <a:ext uri="{FF2B5EF4-FFF2-40B4-BE49-F238E27FC236}">
                <a16:creationId xmlns:a16="http://schemas.microsoft.com/office/drawing/2014/main" id="{DFFB78B2-FF35-4709-8665-A17B246200D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IPC：影像與訊息如何跨越服務邊界</a:t>
            </a:r>
          </a:p>
        </p:txBody>
      </p:sp>
      <p:sp>
        <p:nvSpPr>
          <p:cNvPr id="3" name="08">
            <a:extLst>
              <a:ext uri="{FF2B5EF4-FFF2-40B4-BE49-F238E27FC236}">
                <a16:creationId xmlns:a16="http://schemas.microsoft.com/office/drawing/2014/main" id="{9C8A1611-AFD8-48A5-BC11-8250E305C315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4" name="Replay producer">
            <a:extLst>
              <a:ext uri="{FF2B5EF4-FFF2-40B4-BE49-F238E27FC236}">
                <a16:creationId xmlns:a16="http://schemas.microsoft.com/office/drawing/2014/main" id="{D1F2AFBB-CC81-436D-AF9B-AE5656DF6DA3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667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Replay producer</a:t>
            </a:r>
          </a:p>
        </p:txBody>
      </p:sp>
      <p:sp>
        <p:nvSpPr>
          <p:cNvPr id="5" name="UI consumer">
            <a:extLst>
              <a:ext uri="{FF2B5EF4-FFF2-40B4-BE49-F238E27FC236}">
                <a16:creationId xmlns:a16="http://schemas.microsoft.com/office/drawing/2014/main" id="{7779A295-CB93-4332-AF62-91FD8F215E85}"/>
              </a:ext>
            </a:extLst>
          </p:cNvPr>
          <p:cNvSpPr>
            <a:spLocks noGrp="1"/>
          </p:cNvSpPr>
          <p:nvPr/>
        </p:nvSpPr>
        <p:spPr>
          <a:xfrm>
            <a:off x="8210550" y="1533525"/>
            <a:ext cx="3371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UI consumer</a:t>
            </a:r>
          </a:p>
        </p:txBody>
      </p:sp>
      <p:sp>
        <p:nvSpPr>
          <p:cNvPr id="6" name="Fixed-position line">
            <a:extLst>
              <a:ext uri="{FF2B5EF4-FFF2-40B4-BE49-F238E27FC236}">
                <a16:creationId xmlns:a16="http://schemas.microsoft.com/office/drawing/2014/main" id="{D0BBD0DB-071D-4B1A-A321-4ABE59BBC5E6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10972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7" name="msgq">
            <a:extLst>
              <a:ext uri="{FF2B5EF4-FFF2-40B4-BE49-F238E27FC236}">
                <a16:creationId xmlns:a16="http://schemas.microsoft.com/office/drawing/2014/main" id="{9867CBB6-1A2B-4279-AB63-AD0AFDB2B02E}"/>
              </a:ext>
            </a:extLst>
          </p:cNvPr>
          <p:cNvSpPr>
            <a:spLocks noGrp="1"/>
          </p:cNvSpPr>
          <p:nvPr/>
        </p:nvSpPr>
        <p:spPr>
          <a:xfrm>
            <a:off x="609600" y="2543175"/>
            <a:ext cx="22479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7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7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msgq</a:t>
            </a:r>
          </a:p>
        </p:txBody>
      </p:sp>
      <p:sp>
        <p:nvSpPr>
          <p:cNvPr id="8" name="Fixed-position line">
            <a:extLst>
              <a:ext uri="{FF2B5EF4-FFF2-40B4-BE49-F238E27FC236}">
                <a16:creationId xmlns:a16="http://schemas.microsoft.com/office/drawing/2014/main" id="{A46CCCCD-9998-4ECF-A65C-EAF3AA9F8F17}"/>
              </a:ext>
            </a:extLst>
          </p:cNvPr>
          <p:cNvSpPr>
            <a:spLocks noGrp="1"/>
          </p:cNvSpPr>
          <p:nvPr/>
        </p:nvSpPr>
        <p:spPr>
          <a:xfrm>
            <a:off x="3190875" y="3038475"/>
            <a:ext cx="4381500" cy="0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9" name="Fixed-position arrowhead">
            <a:extLst>
              <a:ext uri="{FF2B5EF4-FFF2-40B4-BE49-F238E27FC236}">
                <a16:creationId xmlns:a16="http://schemas.microsoft.com/office/drawing/2014/main" id="{8EF78B18-953B-4BCB-A6EB-F5DD707DAFC2}"/>
              </a:ext>
            </a:extLst>
          </p:cNvPr>
          <p:cNvSpPr>
            <a:spLocks noGrp="1"/>
          </p:cNvSpPr>
          <p:nvPr/>
        </p:nvSpPr>
        <p:spPr>
          <a:xfrm>
            <a:off x="7439025" y="2971800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0" name="共享 /dev/shm">
            <a:extLst>
              <a:ext uri="{FF2B5EF4-FFF2-40B4-BE49-F238E27FC236}">
                <a16:creationId xmlns:a16="http://schemas.microsoft.com/office/drawing/2014/main" id="{944CF36C-7C30-4207-8CEA-41A860A11957}"/>
              </a:ext>
            </a:extLst>
          </p:cNvPr>
          <p:cNvSpPr>
            <a:spLocks noGrp="1"/>
          </p:cNvSpPr>
          <p:nvPr/>
        </p:nvSpPr>
        <p:spPr>
          <a:xfrm>
            <a:off x="3381375" y="2381250"/>
            <a:ext cx="4000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ctr"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ctr">
              <a:lnSpc>
                <a:spcPct val="116000"/>
              </a:lnSpc>
              <a:buNone/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共享 /dev/shm</a:t>
            </a:r>
          </a:p>
        </p:txBody>
      </p:sp>
      <p:sp>
        <p:nvSpPr>
          <p:cNvPr id="11" name="header + serialized messages&#10;讀寫端需採用相容記憶體配置">
            <a:extLst>
              <a:ext uri="{FF2B5EF4-FFF2-40B4-BE49-F238E27FC236}">
                <a16:creationId xmlns:a16="http://schemas.microsoft.com/office/drawing/2014/main" id="{061820EB-D810-445D-A8B5-B05CDBA53B32}"/>
              </a:ext>
            </a:extLst>
          </p:cNvPr>
          <p:cNvSpPr>
            <a:spLocks noGrp="1"/>
          </p:cNvSpPr>
          <p:nvPr/>
        </p:nvSpPr>
        <p:spPr>
          <a:xfrm>
            <a:off x="8067675" y="2447925"/>
            <a:ext cx="3514725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header + serialized messages</a:t>
            </a:r>
          </a:p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讀寫端需採用相容記憶體配置</a:t>
            </a:r>
          </a:p>
        </p:txBody>
      </p:sp>
      <p:sp>
        <p:nvSpPr>
          <p:cNvPr id="12" name="VisionIPC">
            <a:extLst>
              <a:ext uri="{FF2B5EF4-FFF2-40B4-BE49-F238E27FC236}">
                <a16:creationId xmlns:a16="http://schemas.microsoft.com/office/drawing/2014/main" id="{7F893173-2250-4C41-BA88-6586B74B426F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25050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7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7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VisionIPC</a:t>
            </a:r>
          </a:p>
        </p:txBody>
      </p:sp>
      <p:sp>
        <p:nvSpPr>
          <p:cNvPr id="13" name="Fixed-position line">
            <a:extLst>
              <a:ext uri="{FF2B5EF4-FFF2-40B4-BE49-F238E27FC236}">
                <a16:creationId xmlns:a16="http://schemas.microsoft.com/office/drawing/2014/main" id="{5BB1C639-0A44-4BC6-BE5C-85C5C392EA77}"/>
              </a:ext>
            </a:extLst>
          </p:cNvPr>
          <p:cNvSpPr>
            <a:spLocks noGrp="1"/>
          </p:cNvSpPr>
          <p:nvPr/>
        </p:nvSpPr>
        <p:spPr>
          <a:xfrm>
            <a:off x="3190875" y="4305300"/>
            <a:ext cx="4381500" cy="0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4" name="Fixed-position arrowhead">
            <a:extLst>
              <a:ext uri="{FF2B5EF4-FFF2-40B4-BE49-F238E27FC236}">
                <a16:creationId xmlns:a16="http://schemas.microsoft.com/office/drawing/2014/main" id="{F48BF23E-6E82-493E-827E-926A80889C5A}"/>
              </a:ext>
            </a:extLst>
          </p:cNvPr>
          <p:cNvSpPr>
            <a:spLocks noGrp="1"/>
          </p:cNvSpPr>
          <p:nvPr/>
        </p:nvSpPr>
        <p:spPr>
          <a:xfrm>
            <a:off x="7439025" y="4238625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5" name="/tmp Unix socket + FD">
            <a:extLst>
              <a:ext uri="{FF2B5EF4-FFF2-40B4-BE49-F238E27FC236}">
                <a16:creationId xmlns:a16="http://schemas.microsoft.com/office/drawing/2014/main" id="{8865740A-3F66-4A12-91A5-EF675DC9285B}"/>
              </a:ext>
            </a:extLst>
          </p:cNvPr>
          <p:cNvSpPr>
            <a:spLocks noGrp="1"/>
          </p:cNvSpPr>
          <p:nvPr/>
        </p:nvSpPr>
        <p:spPr>
          <a:xfrm>
            <a:off x="3238500" y="3648075"/>
            <a:ext cx="4286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ctr">
              <a:defRPr sz="18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ctr">
              <a:lnSpc>
                <a:spcPct val="116000"/>
              </a:lnSpc>
              <a:buNone/>
              <a:defRPr sz="18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/tmp Unix socket + FD</a:t>
            </a:r>
          </a:p>
        </p:txBody>
      </p:sp>
      <p:sp>
        <p:nvSpPr>
          <p:cNvPr id="16" name="影像 buffer 的跨程序存取&#10;共享 IPC / PID / tmp 支援通道">
            <a:extLst>
              <a:ext uri="{FF2B5EF4-FFF2-40B4-BE49-F238E27FC236}">
                <a16:creationId xmlns:a16="http://schemas.microsoft.com/office/drawing/2014/main" id="{A006E1D6-E2D7-4908-B88C-8977EDFDCAE6}"/>
              </a:ext>
            </a:extLst>
          </p:cNvPr>
          <p:cNvSpPr>
            <a:spLocks noGrp="1"/>
          </p:cNvSpPr>
          <p:nvPr/>
        </p:nvSpPr>
        <p:spPr>
          <a:xfrm>
            <a:off x="8067675" y="3790950"/>
            <a:ext cx="3514725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影像 buffer 的跨程序存取</a:t>
            </a:r>
          </a:p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共享 IPC / PID / tmp 支援通道</a:t>
            </a:r>
          </a:p>
        </p:txBody>
      </p:sp>
      <p:sp>
        <p:nvSpPr>
          <p:cNvPr id="17" name="Fixed-position line">
            <a:extLst>
              <a:ext uri="{FF2B5EF4-FFF2-40B4-BE49-F238E27FC236}">
                <a16:creationId xmlns:a16="http://schemas.microsoft.com/office/drawing/2014/main" id="{67FF3459-D236-4517-994D-68199AA2B7B9}"/>
              </a:ext>
            </a:extLst>
          </p:cNvPr>
          <p:cNvSpPr>
            <a:spLocks noGrp="1"/>
          </p:cNvSpPr>
          <p:nvPr/>
        </p:nvSpPr>
        <p:spPr>
          <a:xfrm>
            <a:off x="609600" y="5153025"/>
            <a:ext cx="10972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8" name="獨立健康通道">
            <a:extLst>
              <a:ext uri="{FF2B5EF4-FFF2-40B4-BE49-F238E27FC236}">
                <a16:creationId xmlns:a16="http://schemas.microsoft.com/office/drawing/2014/main" id="{917CCDED-D0C8-4890-86D5-516375745AF6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28194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獨立健康通道</a:t>
            </a:r>
          </a:p>
        </p:txBody>
      </p:sp>
      <p:sp>
        <p:nvSpPr>
          <p:cNvPr id="19" name="/run/openpilot/replay.sock 回報服務狀態；不傳影片。">
            <a:extLst>
              <a:ext uri="{FF2B5EF4-FFF2-40B4-BE49-F238E27FC236}">
                <a16:creationId xmlns:a16="http://schemas.microsoft.com/office/drawing/2014/main" id="{3F486308-66BB-4E18-875C-3D544B5C383C}"/>
              </a:ext>
            </a:extLst>
          </p:cNvPr>
          <p:cNvSpPr>
            <a:spLocks noGrp="1"/>
          </p:cNvSpPr>
          <p:nvPr/>
        </p:nvSpPr>
        <p:spPr>
          <a:xfrm>
            <a:off x="2476500" y="5202619"/>
            <a:ext cx="78867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/run/openpilot/replay.sock 回報服務狀態；不傳影片。</a:t>
            </a:r>
          </a:p>
        </p:txBody>
      </p:sp>
      <p:sp>
        <p:nvSpPr>
          <p:cNvPr id="20" name="PYTHONPATH=/opt/openpilot 統一匯入位置；程式啟動成功不代表訊息或影像已">
            <a:extLst>
              <a:ext uri="{FF2B5EF4-FFF2-40B4-BE49-F238E27FC236}">
                <a16:creationId xmlns:a16="http://schemas.microsoft.com/office/drawing/2014/main" id="{1FC8ED3C-DDB5-4F51-9C2E-DD2517EF333F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PYTHONPATH=/opt/openpilot 統一匯入位置</a:t>
            </a:r>
            <a:endParaRPr sz="1500" noProof="1"/>
          </a:p>
          <a:p>
            <a:pPr algn="l">
              <a:lnSpc>
                <a:spcPct val="116000"/>
              </a:lnSpc>
              <a:buNone/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服務啟動成功 ≠ IPC 正常 ≠ UI 已收到可顯示資料；三個層級必須分別驗證。</a:t>
            </a:r>
            <a:endParaRPr sz="1500" noProof="1"/>
          </a:p>
        </p:txBody>
      </p:sp>
    </p:spTree>
    <p:extLst>
      <p:ext uri="{BB962C8B-B14F-4D97-AF65-F5344CB8AC3E}">
        <p14:creationId xmlns:p14="http://schemas.microsoft.com/office/powerpoint/2010/main" val="254178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持久化：容器可替換，來源與資料有邊界">
            <a:extLst>
              <a:ext uri="{FF2B5EF4-FFF2-40B4-BE49-F238E27FC236}">
                <a16:creationId xmlns:a16="http://schemas.microsoft.com/office/drawing/2014/main" id="{6DBFBC58-D7AC-48D1-9169-318C7DF81D3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持久</a:t>
            </a:r>
            <a:r>
              <a:rPr lang="zh-TW" altLang="en-US"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性</a:t>
            </a: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：</a:t>
            </a:r>
            <a:r>
              <a:rPr lang="en-US"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Container </a:t>
            </a: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可</a:t>
            </a:r>
            <a:r>
              <a:rPr lang="en-US"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重建</a:t>
            </a: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lang="en-US"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資料可另外隔離</a:t>
            </a:r>
            <a:endParaRPr sz="3075" b="1" noProof="1">
              <a:solidFill>
                <a:srgbClr val="0F172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09">
            <a:extLst>
              <a:ext uri="{FF2B5EF4-FFF2-40B4-BE49-F238E27FC236}">
                <a16:creationId xmlns:a16="http://schemas.microsoft.com/office/drawing/2014/main" id="{61092AE8-A0F1-4805-9014-C0AD8088DEB4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4" name="容器生命週期 ≠ 資料生命週期">
            <a:extLst>
              <a:ext uri="{FF2B5EF4-FFF2-40B4-BE49-F238E27FC236}">
                <a16:creationId xmlns:a16="http://schemas.microsoft.com/office/drawing/2014/main" id="{60457E53-8E2A-4ADE-8C7F-A36689084502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55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55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255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Container </a:t>
            </a:r>
            <a:r>
              <a:rPr sz="255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生命週期 ≠ 資料生命週期</a:t>
            </a:r>
          </a:p>
        </p:txBody>
      </p:sp>
      <p:sp>
        <p:nvSpPr>
          <p:cNvPr id="5" name="source → /opt/openpilot">
            <a:extLst>
              <a:ext uri="{FF2B5EF4-FFF2-40B4-BE49-F238E27FC236}">
                <a16:creationId xmlns:a16="http://schemas.microsoft.com/office/drawing/2014/main" id="{0356E936-8BAB-4340-A5C8-0772E9FBFE6A}"/>
              </a:ext>
            </a:extLst>
          </p:cNvPr>
          <p:cNvSpPr>
            <a:spLocks noGrp="1"/>
          </p:cNvSpPr>
          <p:nvPr/>
        </p:nvSpPr>
        <p:spPr>
          <a:xfrm>
            <a:off x="609600" y="2151998"/>
            <a:ext cx="283845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source → /opt/openpilot</a:t>
            </a:r>
          </a:p>
        </p:txBody>
      </p:sp>
      <p:sp>
        <p:nvSpPr>
          <p:cNvPr id="6" name="Compute 可寫：建置 / 安裝 .compat&#10;Display 唯讀：執行 UI，避免圖形">
            <a:extLst>
              <a:ext uri="{FF2B5EF4-FFF2-40B4-BE49-F238E27FC236}">
                <a16:creationId xmlns:a16="http://schemas.microsoft.com/office/drawing/2014/main" id="{0F37DCC1-C366-4D56-B1F9-552021BA03F3}"/>
              </a:ext>
            </a:extLst>
          </p:cNvPr>
          <p:cNvSpPr>
            <a:spLocks noGrp="1"/>
          </p:cNvSpPr>
          <p:nvPr/>
        </p:nvSpPr>
        <p:spPr>
          <a:xfrm>
            <a:off x="3695700" y="2151998"/>
            <a:ext cx="78867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Compute 可寫：建置 / 安裝 .compat</a:t>
            </a:r>
          </a:p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Display 唯讀：執行 UI，避免圖形服務改動來源</a:t>
            </a:r>
          </a:p>
        </p:txBody>
      </p:sp>
      <p:sp>
        <p:nvSpPr>
          <p:cNvPr id="7" name="Fixed-position line">
            <a:extLst>
              <a:ext uri="{FF2B5EF4-FFF2-40B4-BE49-F238E27FC236}">
                <a16:creationId xmlns:a16="http://schemas.microsoft.com/office/drawing/2014/main" id="{B8A117A3-7320-47C6-84A2-2CB187F6F1CF}"/>
              </a:ext>
            </a:extLst>
          </p:cNvPr>
          <p:cNvSpPr>
            <a:spLocks noGrp="1"/>
          </p:cNvSpPr>
          <p:nvPr/>
        </p:nvSpPr>
        <p:spPr>
          <a:xfrm>
            <a:off x="609600" y="3209273"/>
            <a:ext cx="10972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8" name="data → /data">
            <a:extLst>
              <a:ext uri="{FF2B5EF4-FFF2-40B4-BE49-F238E27FC236}">
                <a16:creationId xmlns:a16="http://schemas.microsoft.com/office/drawing/2014/main" id="{5E8A9944-36A1-4583-98F8-8E732854E622}"/>
              </a:ext>
            </a:extLst>
          </p:cNvPr>
          <p:cNvSpPr>
            <a:spLocks noGrp="1"/>
          </p:cNvSpPr>
          <p:nvPr/>
        </p:nvSpPr>
        <p:spPr>
          <a:xfrm>
            <a:off x="609600" y="3428348"/>
            <a:ext cx="28384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data → /data</a:t>
            </a:r>
          </a:p>
        </p:txBody>
      </p:sp>
      <p:sp>
        <p:nvSpPr>
          <p:cNvPr id="9" name="Replay 資料獨立保存，容器替換不要求重新下載；&#10;dataC 仍位於整合後 tools 的指">
            <a:extLst>
              <a:ext uri="{FF2B5EF4-FFF2-40B4-BE49-F238E27FC236}">
                <a16:creationId xmlns:a16="http://schemas.microsoft.com/office/drawing/2014/main" id="{EBB01B17-F5F2-4C68-BDCC-D2532A02263D}"/>
              </a:ext>
            </a:extLst>
          </p:cNvPr>
          <p:cNvSpPr>
            <a:spLocks noGrp="1"/>
          </p:cNvSpPr>
          <p:nvPr/>
        </p:nvSpPr>
        <p:spPr>
          <a:xfrm>
            <a:off x="3695700" y="3428348"/>
            <a:ext cx="78867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Replay 資料獨立保存，容器替換不要求重新下載；</a:t>
            </a:r>
          </a:p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dataC 仍位於整合後 tools 的指定路徑。</a:t>
            </a:r>
          </a:p>
        </p:txBody>
      </p:sp>
      <p:sp>
        <p:nvSpPr>
          <p:cNvPr id="10" name="Fixed-position line">
            <a:extLst>
              <a:ext uri="{FF2B5EF4-FFF2-40B4-BE49-F238E27FC236}">
                <a16:creationId xmlns:a16="http://schemas.microsoft.com/office/drawing/2014/main" id="{C93B3817-F11D-4272-8C88-08EB62EE1738}"/>
              </a:ext>
            </a:extLst>
          </p:cNvPr>
          <p:cNvSpPr>
            <a:spLocks noGrp="1"/>
          </p:cNvSpPr>
          <p:nvPr/>
        </p:nvSpPr>
        <p:spPr>
          <a:xfrm>
            <a:off x="609600" y="4457048"/>
            <a:ext cx="10972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1" name="/tmp + IPC / PID">
            <a:extLst>
              <a:ext uri="{FF2B5EF4-FFF2-40B4-BE49-F238E27FC236}">
                <a16:creationId xmlns:a16="http://schemas.microsoft.com/office/drawing/2014/main" id="{18F66DAD-8B6B-4617-B2AD-CB36E9A7254B}"/>
              </a:ext>
            </a:extLst>
          </p:cNvPr>
          <p:cNvSpPr>
            <a:spLocks noGrp="1"/>
          </p:cNvSpPr>
          <p:nvPr/>
        </p:nvSpPr>
        <p:spPr>
          <a:xfrm>
            <a:off x="609600" y="4676123"/>
            <a:ext cx="283845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/tmp + IPC / PID</a:t>
            </a:r>
          </a:p>
        </p:txBody>
      </p:sp>
      <p:sp>
        <p:nvSpPr>
          <p:cNvPr id="12" name="socket / FD 與程序觀察使用的共享 runtime 邊界；&#10;它們的存在不是資料備份完整">
            <a:extLst>
              <a:ext uri="{FF2B5EF4-FFF2-40B4-BE49-F238E27FC236}">
                <a16:creationId xmlns:a16="http://schemas.microsoft.com/office/drawing/2014/main" id="{0323EC82-ABA5-45E5-831C-A419D1D04203}"/>
              </a:ext>
            </a:extLst>
          </p:cNvPr>
          <p:cNvSpPr>
            <a:spLocks noGrp="1"/>
          </p:cNvSpPr>
          <p:nvPr/>
        </p:nvSpPr>
        <p:spPr>
          <a:xfrm>
            <a:off x="3695700" y="4676123"/>
            <a:ext cx="78867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socket / FD 與程序觀察使用的共享 runtime 邊界；</a:t>
            </a:r>
          </a:p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它們的存在不是資料備份完整性證明。</a:t>
            </a:r>
          </a:p>
        </p:txBody>
      </p:sp>
      <p:sp>
        <p:nvSpPr>
          <p:cNvPr id="13" name="NOT VERIFIED：本次未從空 volumes 還原。保留現有 volumes 的容器重建">
            <a:extLst>
              <a:ext uri="{FF2B5EF4-FFF2-40B4-BE49-F238E27FC236}">
                <a16:creationId xmlns:a16="http://schemas.microsoft.com/office/drawing/2014/main" id="{4AD9A3B4-BEEC-418B-BA6B-94C052BF9F58}"/>
              </a:ext>
            </a:extLst>
          </p:cNvPr>
          <p:cNvSpPr>
            <a:spLocks noGrp="1"/>
          </p:cNvSpPr>
          <p:nvPr/>
        </p:nvSpPr>
        <p:spPr>
          <a:xfrm>
            <a:off x="609600" y="5700386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NOT VERIFIED｜本次未從空 volumes 還原。</a:t>
            </a:r>
            <a:r>
              <a:rPr lang="zh-TW" altLang="en-US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只有試過</a:t>
            </a:r>
            <a:r>
              <a:rPr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保留現有 volumes 的容器重建。</a:t>
            </a:r>
          </a:p>
        </p:txBody>
      </p:sp>
    </p:spTree>
    <p:extLst>
      <p:ext uri="{BB962C8B-B14F-4D97-AF65-F5344CB8AC3E}">
        <p14:creationId xmlns:p14="http://schemas.microsoft.com/office/powerpoint/2010/main" val="118936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play 與保存：四種資料的不同責任">
            <a:extLst>
              <a:ext uri="{FF2B5EF4-FFF2-40B4-BE49-F238E27FC236}">
                <a16:creationId xmlns:a16="http://schemas.microsoft.com/office/drawing/2014/main" id="{57544985-9AEA-4B66-A99A-5E0FC4888D4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Replay 與資料保存：哪些被播放？哪些只保存？</a:t>
            </a:r>
            <a:endParaRPr sz="2850" noProof="1"/>
          </a:p>
        </p:txBody>
      </p:sp>
      <p:sp>
        <p:nvSpPr>
          <p:cNvPr id="3" name="10">
            <a:extLst>
              <a:ext uri="{FF2B5EF4-FFF2-40B4-BE49-F238E27FC236}">
                <a16:creationId xmlns:a16="http://schemas.microsoft.com/office/drawing/2014/main" id="{B0855DBE-0BF9-41A8-ADCB-A7F1F75BC4C7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4" name="被播放">
            <a:extLst>
              <a:ext uri="{FF2B5EF4-FFF2-40B4-BE49-F238E27FC236}">
                <a16:creationId xmlns:a16="http://schemas.microsoft.com/office/drawing/2014/main" id="{7A839DE4-39D9-4C6D-B422-932ED52E3833}"/>
              </a:ext>
            </a:extLst>
          </p:cNvPr>
          <p:cNvSpPr>
            <a:spLocks noGrp="1"/>
          </p:cNvSpPr>
          <p:nvPr/>
        </p:nvSpPr>
        <p:spPr>
          <a:xfrm>
            <a:off x="609600" y="1321677"/>
            <a:ext cx="2381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被播放</a:t>
            </a:r>
          </a:p>
        </p:txBody>
      </p:sp>
      <p:sp>
        <p:nvSpPr>
          <p:cNvPr id="5" name="USA demo">
            <a:extLst>
              <a:ext uri="{FF2B5EF4-FFF2-40B4-BE49-F238E27FC236}">
                <a16:creationId xmlns:a16="http://schemas.microsoft.com/office/drawing/2014/main" id="{E88A16BE-9F84-44D9-A0AF-A00D7235500D}"/>
              </a:ext>
            </a:extLst>
          </p:cNvPr>
          <p:cNvSpPr>
            <a:spLocks noGrp="1"/>
          </p:cNvSpPr>
          <p:nvPr/>
        </p:nvSpPr>
        <p:spPr>
          <a:xfrm>
            <a:off x="609600" y="1950327"/>
            <a:ext cx="28860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USA demo</a:t>
            </a:r>
          </a:p>
        </p:txBody>
      </p:sp>
      <p:sp>
        <p:nvSpPr>
          <p:cNvPr id="6" name="遠端 route / qcam">
            <a:extLst>
              <a:ext uri="{FF2B5EF4-FFF2-40B4-BE49-F238E27FC236}">
                <a16:creationId xmlns:a16="http://schemas.microsoft.com/office/drawing/2014/main" id="{9CF08334-B454-46CA-95D4-6BA66551AE46}"/>
              </a:ext>
            </a:extLst>
          </p:cNvPr>
          <p:cNvSpPr>
            <a:spLocks noGrp="1"/>
          </p:cNvSpPr>
          <p:nvPr/>
        </p:nvSpPr>
        <p:spPr>
          <a:xfrm>
            <a:off x="609600" y="2540877"/>
            <a:ext cx="28860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遠端 route / qcam</a:t>
            </a:r>
          </a:p>
        </p:txBody>
      </p:sp>
      <p:sp>
        <p:nvSpPr>
          <p:cNvPr id="7" name="Taiwan dataC">
            <a:extLst>
              <a:ext uri="{FF2B5EF4-FFF2-40B4-BE49-F238E27FC236}">
                <a16:creationId xmlns:a16="http://schemas.microsoft.com/office/drawing/2014/main" id="{C6941736-C70F-499A-A11D-663ED5345DB1}"/>
              </a:ext>
            </a:extLst>
          </p:cNvPr>
          <p:cNvSpPr>
            <a:spLocks noGrp="1"/>
          </p:cNvSpPr>
          <p:nvPr/>
        </p:nvSpPr>
        <p:spPr>
          <a:xfrm>
            <a:off x="609600" y="3274302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Taiwan dataC</a:t>
            </a:r>
          </a:p>
        </p:txBody>
      </p:sp>
      <p:sp>
        <p:nvSpPr>
          <p:cNvPr id="8" name="本地 rlog + fcamera&#10;指定 segment 61">
            <a:extLst>
              <a:ext uri="{FF2B5EF4-FFF2-40B4-BE49-F238E27FC236}">
                <a16:creationId xmlns:a16="http://schemas.microsoft.com/office/drawing/2014/main" id="{32B06171-1BC2-4B00-8342-25DC900E355A}"/>
              </a:ext>
            </a:extLst>
          </p:cNvPr>
          <p:cNvSpPr>
            <a:spLocks noGrp="1"/>
          </p:cNvSpPr>
          <p:nvPr/>
        </p:nvSpPr>
        <p:spPr>
          <a:xfrm>
            <a:off x="609600" y="3855327"/>
            <a:ext cx="30861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本地 rlog + fcamera</a:t>
            </a:r>
          </a:p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指定 segment 61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1E1566-A8F2-47E8-AEBA-63A7984FDC70}"/>
              </a:ext>
            </a:extLst>
          </p:cNvPr>
          <p:cNvSpPr>
            <a:spLocks noGrp="1"/>
          </p:cNvSpPr>
          <p:nvPr/>
        </p:nvSpPr>
        <p:spPr>
          <a:xfrm>
            <a:off x="4857750" y="2264652"/>
            <a:ext cx="3143250" cy="1809750"/>
          </a:xfrm>
          <a:prstGeom prst="rect">
            <a:avLst/>
          </a:prstGeom>
          <a:solidFill>
            <a:srgbClr val="E0F2FE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0" name="Replay">
            <a:extLst>
              <a:ext uri="{FF2B5EF4-FFF2-40B4-BE49-F238E27FC236}">
                <a16:creationId xmlns:a16="http://schemas.microsoft.com/office/drawing/2014/main" id="{F5CAF403-F2D3-4CBB-BAB6-B0A53EC006E4}"/>
              </a:ext>
            </a:extLst>
          </p:cNvPr>
          <p:cNvSpPr>
            <a:spLocks noGrp="1"/>
          </p:cNvSpPr>
          <p:nvPr/>
        </p:nvSpPr>
        <p:spPr>
          <a:xfrm>
            <a:off x="5086350" y="2398002"/>
            <a:ext cx="26860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Replay</a:t>
            </a:r>
          </a:p>
        </p:txBody>
      </p:sp>
      <p:sp>
        <p:nvSpPr>
          <p:cNvPr id="11" name="官方備份或 JLL .compat&#10;保留原版供對照">
            <a:extLst>
              <a:ext uri="{FF2B5EF4-FFF2-40B4-BE49-F238E27FC236}">
                <a16:creationId xmlns:a16="http://schemas.microsoft.com/office/drawing/2014/main" id="{119767A6-AA20-4310-ACE1-F9C69A35CB04}"/>
              </a:ext>
            </a:extLst>
          </p:cNvPr>
          <p:cNvSpPr>
            <a:spLocks noGrp="1"/>
          </p:cNvSpPr>
          <p:nvPr/>
        </p:nvSpPr>
        <p:spPr>
          <a:xfrm>
            <a:off x="5086350" y="2988552"/>
            <a:ext cx="26860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官方備份或 JLL .compat</a:t>
            </a:r>
          </a:p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保留原版供對照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088A43D-ADBF-4685-AC6A-2E2B5FCBE4D8}"/>
              </a:ext>
            </a:extLst>
          </p:cNvPr>
          <p:cNvSpPr>
            <a:spLocks noGrp="1"/>
          </p:cNvSpPr>
          <p:nvPr/>
        </p:nvSpPr>
        <p:spPr>
          <a:xfrm>
            <a:off x="9334500" y="2264652"/>
            <a:ext cx="2247900" cy="1809750"/>
          </a:xfrm>
          <a:prstGeom prst="rect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3" name="Qt UI">
            <a:extLst>
              <a:ext uri="{FF2B5EF4-FFF2-40B4-BE49-F238E27FC236}">
                <a16:creationId xmlns:a16="http://schemas.microsoft.com/office/drawing/2014/main" id="{2E37959B-6E8E-42A1-AFA4-7EA36FFD0E37}"/>
              </a:ext>
            </a:extLst>
          </p:cNvPr>
          <p:cNvSpPr>
            <a:spLocks noGrp="1"/>
          </p:cNvSpPr>
          <p:nvPr/>
        </p:nvSpPr>
        <p:spPr>
          <a:xfrm>
            <a:off x="9563100" y="2398002"/>
            <a:ext cx="1790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Qt UI</a:t>
            </a:r>
          </a:p>
        </p:txBody>
      </p:sp>
      <p:sp>
        <p:nvSpPr>
          <p:cNvPr id="14" name="道路 / 速度 /&#10;車道疊圖">
            <a:extLst>
              <a:ext uri="{FF2B5EF4-FFF2-40B4-BE49-F238E27FC236}">
                <a16:creationId xmlns:a16="http://schemas.microsoft.com/office/drawing/2014/main" id="{FFB07C69-511B-4AD6-9B89-2042EF015BC3}"/>
              </a:ext>
            </a:extLst>
          </p:cNvPr>
          <p:cNvSpPr>
            <a:spLocks noGrp="1"/>
          </p:cNvSpPr>
          <p:nvPr/>
        </p:nvSpPr>
        <p:spPr>
          <a:xfrm>
            <a:off x="9563100" y="2988552"/>
            <a:ext cx="17907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道路 / 速度 /</a:t>
            </a:r>
          </a:p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車道疊圖</a:t>
            </a:r>
          </a:p>
        </p:txBody>
      </p:sp>
      <p:sp>
        <p:nvSpPr>
          <p:cNvPr id="15" name="Fixed-position line">
            <a:extLst>
              <a:ext uri="{FF2B5EF4-FFF2-40B4-BE49-F238E27FC236}">
                <a16:creationId xmlns:a16="http://schemas.microsoft.com/office/drawing/2014/main" id="{BCEE87FF-7B82-4BB6-AAA6-9DCDCDA0E0E5}"/>
              </a:ext>
            </a:extLst>
          </p:cNvPr>
          <p:cNvSpPr>
            <a:spLocks noGrp="1"/>
          </p:cNvSpPr>
          <p:nvPr/>
        </p:nvSpPr>
        <p:spPr>
          <a:xfrm>
            <a:off x="3676650" y="2655177"/>
            <a:ext cx="1181100" cy="0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6" name="Fixed-position arrowhead">
            <a:extLst>
              <a:ext uri="{FF2B5EF4-FFF2-40B4-BE49-F238E27FC236}">
                <a16:creationId xmlns:a16="http://schemas.microsoft.com/office/drawing/2014/main" id="{54794958-66E6-4906-837B-1F5C08741AD2}"/>
              </a:ext>
            </a:extLst>
          </p:cNvPr>
          <p:cNvSpPr>
            <a:spLocks noGrp="1"/>
          </p:cNvSpPr>
          <p:nvPr/>
        </p:nvSpPr>
        <p:spPr>
          <a:xfrm>
            <a:off x="4724400" y="2588502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7" name="Fixed-position line">
            <a:extLst>
              <a:ext uri="{FF2B5EF4-FFF2-40B4-BE49-F238E27FC236}">
                <a16:creationId xmlns:a16="http://schemas.microsoft.com/office/drawing/2014/main" id="{39193A22-3154-42F8-94A3-95F7CC87992A}"/>
              </a:ext>
            </a:extLst>
          </p:cNvPr>
          <p:cNvSpPr>
            <a:spLocks noGrp="1"/>
          </p:cNvSpPr>
          <p:nvPr/>
        </p:nvSpPr>
        <p:spPr>
          <a:xfrm>
            <a:off x="3867150" y="3607677"/>
            <a:ext cx="990600" cy="0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8" name="Fixed-position arrowhead">
            <a:extLst>
              <a:ext uri="{FF2B5EF4-FFF2-40B4-BE49-F238E27FC236}">
                <a16:creationId xmlns:a16="http://schemas.microsoft.com/office/drawing/2014/main" id="{338C8FD0-B65A-42A3-8E39-BD83398AA7B8}"/>
              </a:ext>
            </a:extLst>
          </p:cNvPr>
          <p:cNvSpPr>
            <a:spLocks noGrp="1"/>
          </p:cNvSpPr>
          <p:nvPr/>
        </p:nvSpPr>
        <p:spPr>
          <a:xfrm>
            <a:off x="4724400" y="3541002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9" name="Fixed-position line">
            <a:extLst>
              <a:ext uri="{FF2B5EF4-FFF2-40B4-BE49-F238E27FC236}">
                <a16:creationId xmlns:a16="http://schemas.microsoft.com/office/drawing/2014/main" id="{F8485FE3-4133-4BB7-9474-E6353FCA0840}"/>
              </a:ext>
            </a:extLst>
          </p:cNvPr>
          <p:cNvSpPr>
            <a:spLocks noGrp="1"/>
          </p:cNvSpPr>
          <p:nvPr/>
        </p:nvSpPr>
        <p:spPr>
          <a:xfrm>
            <a:off x="8001000" y="3150477"/>
            <a:ext cx="1333500" cy="0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20" name="Fixed-position arrowhead">
            <a:extLst>
              <a:ext uri="{FF2B5EF4-FFF2-40B4-BE49-F238E27FC236}">
                <a16:creationId xmlns:a16="http://schemas.microsoft.com/office/drawing/2014/main" id="{50C5604D-E11F-453E-BFD1-8D85C4697BEE}"/>
              </a:ext>
            </a:extLst>
          </p:cNvPr>
          <p:cNvSpPr>
            <a:spLocks noGrp="1"/>
          </p:cNvSpPr>
          <p:nvPr/>
        </p:nvSpPr>
        <p:spPr>
          <a:xfrm>
            <a:off x="9201150" y="3083802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21" name="Fixed-position line">
            <a:extLst>
              <a:ext uri="{FF2B5EF4-FFF2-40B4-BE49-F238E27FC236}">
                <a16:creationId xmlns:a16="http://schemas.microsoft.com/office/drawing/2014/main" id="{82199AFE-E34A-46C7-AB3D-669E1FD3228F}"/>
              </a:ext>
            </a:extLst>
          </p:cNvPr>
          <p:cNvSpPr>
            <a:spLocks noGrp="1"/>
          </p:cNvSpPr>
          <p:nvPr/>
        </p:nvSpPr>
        <p:spPr>
          <a:xfrm>
            <a:off x="609600" y="4817352"/>
            <a:ext cx="10972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22" name="只保存">
            <a:extLst>
              <a:ext uri="{FF2B5EF4-FFF2-40B4-BE49-F238E27FC236}">
                <a16:creationId xmlns:a16="http://schemas.microsoft.com/office/drawing/2014/main" id="{98234491-0D53-4E89-AAA2-4FAA2DC5F203}"/>
              </a:ext>
            </a:extLst>
          </p:cNvPr>
          <p:cNvSpPr>
            <a:spLocks noGrp="1"/>
          </p:cNvSpPr>
          <p:nvPr/>
        </p:nvSpPr>
        <p:spPr>
          <a:xfrm>
            <a:off x="609600" y="5074527"/>
            <a:ext cx="2286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只保存</a:t>
            </a:r>
          </a:p>
        </p:txBody>
      </p:sp>
      <p:sp>
        <p:nvSpPr>
          <p:cNvPr id="23" name="dataB6：取得解壓保存    aJLL：P1 參考程式保存&#10;保存 ≠ Replay 驗收；此">
            <a:extLst>
              <a:ext uri="{FF2B5EF4-FFF2-40B4-BE49-F238E27FC236}">
                <a16:creationId xmlns:a16="http://schemas.microsoft.com/office/drawing/2014/main" id="{16594B75-4D4F-448C-BE05-3995B1B73D20}"/>
              </a:ext>
            </a:extLst>
          </p:cNvPr>
          <p:cNvSpPr>
            <a:spLocks noGrp="1"/>
          </p:cNvSpPr>
          <p:nvPr/>
        </p:nvSpPr>
        <p:spPr>
          <a:xfrm>
            <a:off x="3343275" y="4941177"/>
            <a:ext cx="8239125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dataB6：取得解壓保存    aJLL：P1 參考程式保存</a:t>
            </a: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保存 ≠ Replay 驗收；此處不包含 P2 訓練 / Agent 成果。</a:t>
            </a:r>
          </a:p>
        </p:txBody>
      </p:sp>
      <p:sp>
        <p:nvSpPr>
          <p:cNvPr id="24" name="Taiwan route：8bfda98c9c9e4291|2020-05-11--03-00-">
            <a:extLst>
              <a:ext uri="{FF2B5EF4-FFF2-40B4-BE49-F238E27FC236}">
                <a16:creationId xmlns:a16="http://schemas.microsoft.com/office/drawing/2014/main" id="{3ED2EA98-B126-4E5C-A33F-865C480F4905}"/>
              </a:ext>
            </a:extLst>
          </p:cNvPr>
          <p:cNvSpPr>
            <a:spLocks noGrp="1"/>
          </p:cNvSpPr>
          <p:nvPr/>
        </p:nvSpPr>
        <p:spPr>
          <a:xfrm>
            <a:off x="609600" y="5923237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Taiwan route：8bfda98c9c9e4291|2020-05-11--03-00-57--61</a:t>
            </a:r>
          </a:p>
        </p:txBody>
      </p:sp>
    </p:spTree>
    <p:extLst>
      <p:ext uri="{BB962C8B-B14F-4D97-AF65-F5344CB8AC3E}">
        <p14:creationId xmlns:p14="http://schemas.microsoft.com/office/powerpoint/2010/main" val="1123959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aB6：129 個檔案的保存與完整性證據">
            <a:extLst>
              <a:ext uri="{FF2B5EF4-FFF2-40B4-BE49-F238E27FC236}">
                <a16:creationId xmlns:a16="http://schemas.microsoft.com/office/drawing/2014/main" id="{7CDE3E66-EBF8-4E9A-90E8-EBB28AE28FD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dataB6：129 個檔案的保存與完整性證據</a:t>
            </a:r>
          </a:p>
        </p:txBody>
      </p:sp>
      <p:sp>
        <p:nvSpPr>
          <p:cNvPr id="3" name="11">
            <a:extLst>
              <a:ext uri="{FF2B5EF4-FFF2-40B4-BE49-F238E27FC236}">
                <a16:creationId xmlns:a16="http://schemas.microsoft.com/office/drawing/2014/main" id="{043C94BD-33E4-485B-A756-F995425D556E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4" name="129">
            <a:extLst>
              <a:ext uri="{FF2B5EF4-FFF2-40B4-BE49-F238E27FC236}">
                <a16:creationId xmlns:a16="http://schemas.microsoft.com/office/drawing/2014/main" id="{414B0965-1066-49FB-9FAF-50CF1496C3F3}"/>
              </a:ext>
            </a:extLst>
          </p:cNvPr>
          <p:cNvSpPr>
            <a:spLocks noGrp="1"/>
          </p:cNvSpPr>
          <p:nvPr/>
        </p:nvSpPr>
        <p:spPr>
          <a:xfrm>
            <a:off x="609600" y="1490829"/>
            <a:ext cx="4562475" cy="15144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01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01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01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129</a:t>
            </a:r>
          </a:p>
        </p:txBody>
      </p:sp>
      <p:sp>
        <p:nvSpPr>
          <p:cNvPr id="5" name="files">
            <a:extLst>
              <a:ext uri="{FF2B5EF4-FFF2-40B4-BE49-F238E27FC236}">
                <a16:creationId xmlns:a16="http://schemas.microsoft.com/office/drawing/2014/main" id="{0C8E3E3F-8877-4EDB-A248-4A9B939C52DF}"/>
              </a:ext>
            </a:extLst>
          </p:cNvPr>
          <p:cNvSpPr>
            <a:spLocks noGrp="1"/>
          </p:cNvSpPr>
          <p:nvPr/>
        </p:nvSpPr>
        <p:spPr>
          <a:xfrm>
            <a:off x="638175" y="3119604"/>
            <a:ext cx="41719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4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4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個檔案</a:t>
            </a:r>
            <a:endParaRPr sz="3450" noProof="1"/>
          </a:p>
        </p:txBody>
      </p:sp>
      <p:sp>
        <p:nvSpPr>
          <p:cNvPr id="6" name="2,977,906,784 bytes">
            <a:extLst>
              <a:ext uri="{FF2B5EF4-FFF2-40B4-BE49-F238E27FC236}">
                <a16:creationId xmlns:a16="http://schemas.microsoft.com/office/drawing/2014/main" id="{63257DB4-C2F8-4A55-A03A-5358FBCCC303}"/>
              </a:ext>
            </a:extLst>
          </p:cNvPr>
          <p:cNvSpPr>
            <a:spLocks noGrp="1"/>
          </p:cNvSpPr>
          <p:nvPr/>
        </p:nvSpPr>
        <p:spPr>
          <a:xfrm>
            <a:off x="609600" y="4043529"/>
            <a:ext cx="46577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2,977,906,784 bytes</a:t>
            </a:r>
          </a:p>
        </p:txBody>
      </p:sp>
      <p:sp>
        <p:nvSpPr>
          <p:cNvPr id="8" name="完整性分層">
            <a:extLst>
              <a:ext uri="{FF2B5EF4-FFF2-40B4-BE49-F238E27FC236}">
                <a16:creationId xmlns:a16="http://schemas.microsoft.com/office/drawing/2014/main" id="{C847F860-3F67-4749-AF79-9C8933C65DAB}"/>
              </a:ext>
            </a:extLst>
          </p:cNvPr>
          <p:cNvSpPr>
            <a:spLocks noGrp="1"/>
          </p:cNvSpPr>
          <p:nvPr/>
        </p:nvSpPr>
        <p:spPr>
          <a:xfrm>
            <a:off x="5962650" y="1433679"/>
            <a:ext cx="5619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4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4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完整性分層</a:t>
            </a:r>
          </a:p>
        </p:txBody>
      </p:sp>
      <p:sp>
        <p:nvSpPr>
          <p:cNvPr id="9" name="CONFIRMED｜歷史 ZIP 比對&#10;129 檔逐檔 size / CRC 符合。">
            <a:extLst>
              <a:ext uri="{FF2B5EF4-FFF2-40B4-BE49-F238E27FC236}">
                <a16:creationId xmlns:a16="http://schemas.microsoft.com/office/drawing/2014/main" id="{063DE955-2FD9-4B16-97A6-6501768917D1}"/>
              </a:ext>
            </a:extLst>
          </p:cNvPr>
          <p:cNvSpPr>
            <a:spLocks noGrp="1"/>
          </p:cNvSpPr>
          <p:nvPr/>
        </p:nvSpPr>
        <p:spPr>
          <a:xfrm>
            <a:off x="5962650" y="2062329"/>
            <a:ext cx="56197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CONFIRMED｜歷史 ZIP 比對</a:t>
            </a:r>
          </a:p>
          <a:p>
            <a:pPr algn="l">
              <a:lnSpc>
                <a:spcPct val="116000"/>
              </a:lnSpc>
              <a:buNone/>
              <a:defRPr sz="202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129 檔逐檔 size / CRC 符合。</a:t>
            </a:r>
          </a:p>
        </p:txBody>
      </p:sp>
      <p:sp>
        <p:nvSpPr>
          <p:cNvPr id="10" name="CONFIRMED｜本次可用性&#10;重新核對檔案數與總 bytes；未重跑 CRC。">
            <a:extLst>
              <a:ext uri="{FF2B5EF4-FFF2-40B4-BE49-F238E27FC236}">
                <a16:creationId xmlns:a16="http://schemas.microsoft.com/office/drawing/2014/main" id="{4FA94858-425E-4A3B-A8E7-131BB21ADDB8}"/>
              </a:ext>
            </a:extLst>
          </p:cNvPr>
          <p:cNvSpPr>
            <a:spLocks noGrp="1"/>
          </p:cNvSpPr>
          <p:nvPr/>
        </p:nvSpPr>
        <p:spPr>
          <a:xfrm>
            <a:off x="5962650" y="3214854"/>
            <a:ext cx="5619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CONFIRMED｜本次可用性</a:t>
            </a:r>
          </a:p>
          <a:p>
            <a:pPr algn="l">
              <a:lnSpc>
                <a:spcPct val="116000"/>
              </a:lnSpc>
              <a:buNone/>
              <a:defRPr sz="202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重新核對檔案數與總 bytes；未重跑 CRC。</a:t>
            </a:r>
          </a:p>
        </p:txBody>
      </p:sp>
      <p:sp>
        <p:nvSpPr>
          <p:cNvPr id="11" name="NOT VERIFIED｜來源復原&#10;原 archives 現為空；aJLL 180 檔，&#10;歷史 ">
            <a:extLst>
              <a:ext uri="{FF2B5EF4-FFF2-40B4-BE49-F238E27FC236}">
                <a16:creationId xmlns:a16="http://schemas.microsoft.com/office/drawing/2014/main" id="{6D7E9F77-4A75-4C13-ACB5-4262F352C82A}"/>
              </a:ext>
            </a:extLst>
          </p:cNvPr>
          <p:cNvSpPr>
            <a:spLocks noGrp="1"/>
          </p:cNvSpPr>
          <p:nvPr/>
        </p:nvSpPr>
        <p:spPr>
          <a:xfrm>
            <a:off x="5962650" y="4395954"/>
            <a:ext cx="5619750" cy="14192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NOT VERIFIED｜來源復原</a:t>
            </a:r>
          </a:p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原 archives 現為空；aJLL 180 檔，</a:t>
            </a:r>
          </a:p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歷史 181 檔，缺 manifest 不推定差異原因。</a:t>
            </a:r>
          </a:p>
        </p:txBody>
      </p:sp>
      <p:sp>
        <p:nvSpPr>
          <p:cNvPr id="12" name="dataB6 是 P1 保存要求；以上不建立模型訓練或 dataB6 Replay 結果。">
            <a:extLst>
              <a:ext uri="{FF2B5EF4-FFF2-40B4-BE49-F238E27FC236}">
                <a16:creationId xmlns:a16="http://schemas.microsoft.com/office/drawing/2014/main" id="{36DD219F-EDE1-40B2-ACEC-8729507F296B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dataB6 是 P</a:t>
            </a:r>
            <a:r>
              <a:rPr lang="en-US"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roject</a:t>
            </a:r>
            <a:r>
              <a:rPr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 保存要求；以上不建立模型訓練或 dataB6 Replay 結果。</a:t>
            </a:r>
          </a:p>
        </p:txBody>
      </p:sp>
    </p:spTree>
    <p:extLst>
      <p:ext uri="{BB962C8B-B14F-4D97-AF65-F5344CB8AC3E}">
        <p14:creationId xmlns:p14="http://schemas.microsoft.com/office/powerpoint/2010/main" val="397120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dited text 101"/>
          <p:cNvSpPr txBox="1"/>
          <p:nvPr/>
        </p:nvSpPr>
        <p:spPr>
          <a:xfrm>
            <a:off x="609600" y="361950"/>
            <a:ext cx="10972800" cy="904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5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道路畫面證據：官方與 JLL 的三組回放</a:t>
            </a:r>
          </a:p>
        </p:txBody>
      </p:sp>
      <p:sp>
        <p:nvSpPr>
          <p:cNvPr id="102" name="Edited text 102"/>
          <p:cNvSpPr txBox="1"/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2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103" name="Edited text 103"/>
          <p:cNvSpPr txBox="1"/>
          <p:nvPr/>
        </p:nvSpPr>
        <p:spPr>
          <a:xfrm>
            <a:off x="609600" y="1304925"/>
            <a:ext cx="109728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6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分別標示 binary、資料來源與截圖時點，讓道路顯示結果可追溯。</a:t>
            </a:r>
          </a:p>
        </p:txBody>
      </p:sp>
      <p:sp>
        <p:nvSpPr>
          <p:cNvPr id="104" name="Edited text 104"/>
          <p:cNvSpPr txBox="1"/>
          <p:nvPr/>
        </p:nvSpPr>
        <p:spPr>
          <a:xfrm>
            <a:off x="609600" y="1800225"/>
            <a:ext cx="35433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官方 USA</a:t>
            </a:r>
          </a:p>
        </p:txBody>
      </p:sp>
      <p:pic>
        <p:nvPicPr>
          <p:cNvPr id="105" name="official" descr="Actual replay screenshot; see slide notes for provenance.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" y="2257425"/>
            <a:ext cx="3543300" cy="1993106"/>
          </a:xfrm>
          <a:prstGeom prst="rect">
            <a:avLst/>
          </a:prstGeom>
        </p:spPr>
      </p:pic>
      <p:sp>
        <p:nvSpPr>
          <p:cNvPr id="106" name="Edited text 106"/>
          <p:cNvSpPr txBox="1"/>
          <p:nvPr/>
        </p:nvSpPr>
        <p:spPr>
          <a:xfrm>
            <a:off x="609600" y="4629150"/>
            <a:ext cx="35433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歷史截圖 · 59 mph</a:t>
            </a:r>
          </a:p>
        </p:txBody>
      </p:sp>
      <p:sp>
        <p:nvSpPr>
          <p:cNvPr id="107" name="Edited text 107"/>
          <p:cNvSpPr txBox="1"/>
          <p:nvPr/>
        </p:nvSpPr>
        <p:spPr>
          <a:xfrm>
            <a:off x="609600" y="5076825"/>
            <a:ext cx="35433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官方 Replay：道路、車道／路徑與速度。</a:t>
            </a:r>
          </a:p>
        </p:txBody>
      </p:sp>
      <p:sp>
        <p:nvSpPr>
          <p:cNvPr id="108" name="Edited text 108"/>
          <p:cNvSpPr txBox="1"/>
          <p:nvPr/>
        </p:nvSpPr>
        <p:spPr>
          <a:xfrm>
            <a:off x="4324350" y="1800225"/>
            <a:ext cx="35433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JLL USA .compat</a:t>
            </a:r>
          </a:p>
        </p:txBody>
      </p:sp>
      <p:pic>
        <p:nvPicPr>
          <p:cNvPr id="109" name="usa" descr="Actual replay screenshot; see slide notes for provenance."/>
          <p:cNvPicPr/>
          <p:nvPr/>
        </p:nvPicPr>
        <p:blipFill>
          <a:blip r:embed="rId4"/>
          <a:stretch>
            <a:fillRect/>
          </a:stretch>
        </p:blipFill>
        <p:spPr>
          <a:xfrm>
            <a:off x="4324350" y="2257425"/>
            <a:ext cx="3543300" cy="1993106"/>
          </a:xfrm>
          <a:prstGeom prst="rect">
            <a:avLst/>
          </a:prstGeom>
        </p:spPr>
      </p:pic>
      <p:sp>
        <p:nvSpPr>
          <p:cNvPr id="110" name="Edited text 110"/>
          <p:cNvSpPr txBox="1"/>
          <p:nvPr/>
        </p:nvSpPr>
        <p:spPr>
          <a:xfrm>
            <a:off x="4324350" y="4629150"/>
            <a:ext cx="35433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2026-10-13 擷取 · 62 mph</a:t>
            </a:r>
          </a:p>
        </p:txBody>
      </p:sp>
      <p:sp>
        <p:nvSpPr>
          <p:cNvPr id="111" name="Edited text 111"/>
          <p:cNvSpPr txBox="1"/>
          <p:nvPr/>
        </p:nvSpPr>
        <p:spPr>
          <a:xfrm>
            <a:off x="4324350" y="5076825"/>
            <a:ext cx="35433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本次畫面可見道路、車道／路徑與前車標記。</a:t>
            </a:r>
          </a:p>
        </p:txBody>
      </p:sp>
      <p:sp>
        <p:nvSpPr>
          <p:cNvPr id="112" name="Edited text 112"/>
          <p:cNvSpPr txBox="1"/>
          <p:nvPr/>
        </p:nvSpPr>
        <p:spPr>
          <a:xfrm>
            <a:off x="8039100" y="1800225"/>
            <a:ext cx="35433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JLL Taiwan .compat</a:t>
            </a:r>
          </a:p>
        </p:txBody>
      </p:sp>
      <p:pic>
        <p:nvPicPr>
          <p:cNvPr id="113" name="taiwan" descr="Actual replay screenshot; see slide notes for provenance."/>
          <p:cNvPicPr/>
          <p:nvPr/>
        </p:nvPicPr>
        <p:blipFill>
          <a:blip r:embed="rId5"/>
          <a:stretch>
            <a:fillRect/>
          </a:stretch>
        </p:blipFill>
        <p:spPr>
          <a:xfrm>
            <a:off x="8039100" y="2257425"/>
            <a:ext cx="3543300" cy="1993106"/>
          </a:xfrm>
          <a:prstGeom prst="rect">
            <a:avLst/>
          </a:prstGeom>
        </p:spPr>
      </p:pic>
      <p:sp>
        <p:nvSpPr>
          <p:cNvPr id="114" name="Edited text 114"/>
          <p:cNvSpPr txBox="1"/>
          <p:nvPr/>
        </p:nvSpPr>
        <p:spPr>
          <a:xfrm>
            <a:off x="8039100" y="4629150"/>
            <a:ext cx="35433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2026-10-13 擷取 · 19 mph</a:t>
            </a:r>
          </a:p>
        </p:txBody>
      </p:sp>
      <p:sp>
        <p:nvSpPr>
          <p:cNvPr id="115" name="Edited text 115"/>
          <p:cNvSpPr txBox="1"/>
          <p:nvPr/>
        </p:nvSpPr>
        <p:spPr>
          <a:xfrm>
            <a:off x="8039100" y="5076825"/>
            <a:ext cx="35433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dataC segment 61：夜間道路與速度。</a:t>
            </a:r>
          </a:p>
        </p:txBody>
      </p:sp>
      <p:sp>
        <p:nvSpPr>
          <p:cNvPr id="116" name="Rule 116"/>
          <p:cNvSpPr/>
          <p:nvPr/>
        </p:nvSpPr>
        <p:spPr>
          <a:xfrm>
            <a:off x="609600" y="5857875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4610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ERO｜playing 之後，UI 仍然退出">
            <a:extLst>
              <a:ext uri="{FF2B5EF4-FFF2-40B4-BE49-F238E27FC236}">
                <a16:creationId xmlns:a16="http://schemas.microsoft.com/office/drawing/2014/main" id="{4272AD21-FB01-4001-9EB8-079F987E9BAE}"/>
              </a:ext>
            </a:extLst>
          </p:cNvPr>
          <p:cNvSpPr>
            <a:spLocks noGrp="1"/>
          </p:cNvSpPr>
          <p:nvPr/>
        </p:nvSpPr>
        <p:spPr>
          <a:xfrm>
            <a:off x="609600" y="488074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問題｜Replay 顯示 playing，</a:t>
            </a:r>
            <a:endParaRPr sz="2700" noProof="1"/>
          </a:p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但 UI 仍因 msgq assertion 退出</a:t>
            </a:r>
            <a:endParaRPr sz="2700" noProof="1"/>
          </a:p>
        </p:txBody>
      </p:sp>
      <p:sp>
        <p:nvSpPr>
          <p:cNvPr id="3" name="13">
            <a:extLst>
              <a:ext uri="{FF2B5EF4-FFF2-40B4-BE49-F238E27FC236}">
                <a16:creationId xmlns:a16="http://schemas.microsoft.com/office/drawing/2014/main" id="{A70E5996-5232-4FF3-9BE7-AD503AAEA1EE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4" name="PROBLEM">
            <a:extLst>
              <a:ext uri="{FF2B5EF4-FFF2-40B4-BE49-F238E27FC236}">
                <a16:creationId xmlns:a16="http://schemas.microsoft.com/office/drawing/2014/main" id="{D38A66F5-4C4C-42FA-9381-7B2F199134B5}"/>
              </a:ext>
            </a:extLst>
          </p:cNvPr>
          <p:cNvSpPr>
            <a:spLocks noGrp="1"/>
          </p:cNvSpPr>
          <p:nvPr/>
        </p:nvSpPr>
        <p:spPr>
          <a:xfrm>
            <a:off x="609600" y="1688224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PROBLEM</a:t>
            </a:r>
          </a:p>
        </p:txBody>
      </p:sp>
      <p:sp>
        <p:nvSpPr>
          <p:cNvPr id="5" name="playing">
            <a:extLst>
              <a:ext uri="{FF2B5EF4-FFF2-40B4-BE49-F238E27FC236}">
                <a16:creationId xmlns:a16="http://schemas.microsoft.com/office/drawing/2014/main" id="{9C94C77F-1A74-40C6-8DC5-2D926A05037A}"/>
              </a:ext>
            </a:extLst>
          </p:cNvPr>
          <p:cNvSpPr>
            <a:spLocks noGrp="1"/>
          </p:cNvSpPr>
          <p:nvPr/>
        </p:nvSpPr>
        <p:spPr>
          <a:xfrm>
            <a:off x="609600" y="2252170"/>
            <a:ext cx="51435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53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53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53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playing</a:t>
            </a:r>
          </a:p>
        </p:txBody>
      </p:sp>
      <p:sp>
        <p:nvSpPr>
          <p:cNvPr id="6" name="資料開始回放，&#10;UI 卻因 msgq assertion 退出">
            <a:extLst>
              <a:ext uri="{FF2B5EF4-FFF2-40B4-BE49-F238E27FC236}">
                <a16:creationId xmlns:a16="http://schemas.microsoft.com/office/drawing/2014/main" id="{4606BDCB-066F-4172-957C-F52FD000B091}"/>
              </a:ext>
            </a:extLst>
          </p:cNvPr>
          <p:cNvSpPr>
            <a:spLocks noGrp="1"/>
          </p:cNvSpPr>
          <p:nvPr/>
        </p:nvSpPr>
        <p:spPr>
          <a:xfrm>
            <a:off x="609600" y="3309118"/>
            <a:ext cx="54483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4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4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資料開始回放，</a:t>
            </a:r>
          </a:p>
          <a:p>
            <a:pPr algn="l">
              <a:lnSpc>
                <a:spcPct val="116000"/>
              </a:lnSpc>
              <a:buNone/>
              <a:defRPr sz="24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UI 卻因 msgq assertion 退出</a:t>
            </a:r>
          </a:p>
        </p:txBody>
      </p:sp>
      <p:sp>
        <p:nvSpPr>
          <p:cNvPr id="8" name="可工作的對照">
            <a:extLst>
              <a:ext uri="{FF2B5EF4-FFF2-40B4-BE49-F238E27FC236}">
                <a16:creationId xmlns:a16="http://schemas.microsoft.com/office/drawing/2014/main" id="{C35CC48C-CBF7-4891-AAF7-1F380CD94098}"/>
              </a:ext>
            </a:extLst>
          </p:cNvPr>
          <p:cNvSpPr>
            <a:spLocks noGrp="1"/>
          </p:cNvSpPr>
          <p:nvPr/>
        </p:nvSpPr>
        <p:spPr>
          <a:xfrm>
            <a:off x="6591300" y="1688224"/>
            <a:ext cx="49911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可工作的對照</a:t>
            </a:r>
          </a:p>
        </p:txBody>
      </p:sp>
      <p:sp>
        <p:nvSpPr>
          <p:cNvPr id="9" name="官方備份 Replay → 同一 UI&#10;道路畫面可顯示">
            <a:extLst>
              <a:ext uri="{FF2B5EF4-FFF2-40B4-BE49-F238E27FC236}">
                <a16:creationId xmlns:a16="http://schemas.microsoft.com/office/drawing/2014/main" id="{A83C7B48-7E77-46A6-9058-AF5A7D0713B8}"/>
              </a:ext>
            </a:extLst>
          </p:cNvPr>
          <p:cNvSpPr>
            <a:spLocks noGrp="1"/>
          </p:cNvSpPr>
          <p:nvPr/>
        </p:nvSpPr>
        <p:spPr>
          <a:xfrm>
            <a:off x="6591300" y="2312605"/>
            <a:ext cx="49911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2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2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官方備份 Replay → 同一 UI</a:t>
            </a:r>
          </a:p>
          <a:p>
            <a:pPr algn="l">
              <a:lnSpc>
                <a:spcPct val="116000"/>
              </a:lnSpc>
              <a:buNone/>
              <a:defRPr sz="22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道路畫面可顯示</a:t>
            </a:r>
          </a:p>
        </p:txBody>
      </p:sp>
      <p:sp>
        <p:nvSpPr>
          <p:cNvPr id="10" name="Fixed-position line">
            <a:extLst>
              <a:ext uri="{FF2B5EF4-FFF2-40B4-BE49-F238E27FC236}">
                <a16:creationId xmlns:a16="http://schemas.microsoft.com/office/drawing/2014/main" id="{571C1963-A54A-4176-9748-C82EB1B898AB}"/>
              </a:ext>
            </a:extLst>
          </p:cNvPr>
          <p:cNvSpPr>
            <a:spLocks noGrp="1"/>
          </p:cNvSpPr>
          <p:nvPr/>
        </p:nvSpPr>
        <p:spPr>
          <a:xfrm>
            <a:off x="6591300" y="3631982"/>
            <a:ext cx="49911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1" name="教授原版 JLL → 同一 UI&#10;重啟後仍觸發 assertion">
            <a:extLst>
              <a:ext uri="{FF2B5EF4-FFF2-40B4-BE49-F238E27FC236}">
                <a16:creationId xmlns:a16="http://schemas.microsoft.com/office/drawing/2014/main" id="{A11BD013-87DA-4EA0-BC9A-00C15C54771F}"/>
              </a:ext>
            </a:extLst>
          </p:cNvPr>
          <p:cNvSpPr>
            <a:spLocks noGrp="1"/>
          </p:cNvSpPr>
          <p:nvPr/>
        </p:nvSpPr>
        <p:spPr>
          <a:xfrm>
            <a:off x="6591300" y="3957804"/>
            <a:ext cx="49911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2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2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教授原版 JLL → 同一 UI</a:t>
            </a:r>
          </a:p>
          <a:p>
            <a:pPr algn="l">
              <a:lnSpc>
                <a:spcPct val="116000"/>
              </a:lnSpc>
              <a:buNone/>
              <a:defRPr sz="22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重啟後仍觸發 assertion</a:t>
            </a:r>
          </a:p>
        </p:txBody>
      </p:sp>
      <p:sp>
        <p:nvSpPr>
          <p:cNvPr id="12" name="調查問題：producer / consumer 對共享訊息格式的理解是否一致？">
            <a:extLst>
              <a:ext uri="{FF2B5EF4-FFF2-40B4-BE49-F238E27FC236}">
                <a16:creationId xmlns:a16="http://schemas.microsoft.com/office/drawing/2014/main" id="{94F6DC78-1E26-411B-B850-573552940DD8}"/>
              </a:ext>
            </a:extLst>
          </p:cNvPr>
          <p:cNvSpPr>
            <a:spLocks noGrp="1"/>
          </p:cNvSpPr>
          <p:nvPr/>
        </p:nvSpPr>
        <p:spPr>
          <a:xfrm>
            <a:off x="609600" y="5345167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調查問題：producer / consumer 對共享訊息格式的理解是否一致？</a:t>
            </a:r>
          </a:p>
        </p:txBody>
      </p:sp>
    </p:spTree>
    <p:extLst>
      <p:ext uri="{BB962C8B-B14F-4D97-AF65-F5344CB8AC3E}">
        <p14:creationId xmlns:p14="http://schemas.microsoft.com/office/powerpoint/2010/main" val="787732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調查：用對照與記憶體配置縮小問題">
            <a:extLst>
              <a:ext uri="{FF2B5EF4-FFF2-40B4-BE49-F238E27FC236}">
                <a16:creationId xmlns:a16="http://schemas.microsoft.com/office/drawing/2014/main" id="{FD7B2FE8-13FB-433D-B91E-A21098AB2A6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調查：用對照與記憶體配置縮小問題</a:t>
            </a:r>
          </a:p>
        </p:txBody>
      </p:sp>
      <p:sp>
        <p:nvSpPr>
          <p:cNvPr id="3" name="14">
            <a:extLst>
              <a:ext uri="{FF2B5EF4-FFF2-40B4-BE49-F238E27FC236}">
                <a16:creationId xmlns:a16="http://schemas.microsoft.com/office/drawing/2014/main" id="{2A4A7516-6B86-402A-A697-F783F7B12ABC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4" name="調查方法：對照 → source → binary → runtime 配置">
            <a:extLst>
              <a:ext uri="{FF2B5EF4-FFF2-40B4-BE49-F238E27FC236}">
                <a16:creationId xmlns:a16="http://schemas.microsoft.com/office/drawing/2014/main" id="{249B6CEE-EBED-4A5B-9FD8-F9DD601E3A68}"/>
              </a:ext>
            </a:extLst>
          </p:cNvPr>
          <p:cNvSpPr>
            <a:spLocks noGrp="1"/>
          </p:cNvSpPr>
          <p:nvPr/>
        </p:nvSpPr>
        <p:spPr>
          <a:xfrm>
            <a:off x="609600" y="1456012"/>
            <a:ext cx="109728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3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3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調查方法：對照 → source → binary → runtime 配置</a:t>
            </a:r>
          </a:p>
        </p:txBody>
      </p:sp>
      <p:sp>
        <p:nvSpPr>
          <p:cNvPr id="5" name="Source 的定位規則">
            <a:extLst>
              <a:ext uri="{FF2B5EF4-FFF2-40B4-BE49-F238E27FC236}">
                <a16:creationId xmlns:a16="http://schemas.microsoft.com/office/drawing/2014/main" id="{C93C84C1-D757-48EA-96A1-8D6DCD76D524}"/>
              </a:ext>
            </a:extLst>
          </p:cNvPr>
          <p:cNvSpPr>
            <a:spLocks noGrp="1"/>
          </p:cNvSpPr>
          <p:nvPr/>
        </p:nvSpPr>
        <p:spPr>
          <a:xfrm>
            <a:off x="609600" y="2279105"/>
            <a:ext cx="52101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0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0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Source 的定位規則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C28897-00B7-48E6-89D2-48552A5AFC23}"/>
              </a:ext>
            </a:extLst>
          </p:cNvPr>
          <p:cNvSpPr>
            <a:spLocks noGrp="1"/>
          </p:cNvSpPr>
          <p:nvPr/>
        </p:nvSpPr>
        <p:spPr>
          <a:xfrm>
            <a:off x="609600" y="2888705"/>
            <a:ext cx="5238750" cy="1038225"/>
          </a:xfrm>
          <a:prstGeom prst="rect">
            <a:avLst/>
          </a:prstGeom>
          <a:solidFill>
            <a:srgbClr val="E0F2FE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7" name="q-&gt;data = mem + sizeof(msgq_header_t);">
            <a:extLst>
              <a:ext uri="{FF2B5EF4-FFF2-40B4-BE49-F238E27FC236}">
                <a16:creationId xmlns:a16="http://schemas.microsoft.com/office/drawing/2014/main" id="{7A350682-C4AA-48A4-B0E7-BDCCED58697C}"/>
              </a:ext>
            </a:extLst>
          </p:cNvPr>
          <p:cNvSpPr>
            <a:spLocks noGrp="1"/>
          </p:cNvSpPr>
          <p:nvPr/>
        </p:nvSpPr>
        <p:spPr>
          <a:xfrm>
            <a:off x="781050" y="3003005"/>
            <a:ext cx="48958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q-&gt;data = mem + sizeof(msgq_header_t);</a:t>
            </a:r>
          </a:p>
        </p:txBody>
      </p:sp>
      <p:sp>
        <p:nvSpPr>
          <p:cNvPr id="8" name="header 決定 data 起點；若兩端大小不同，&#10;就會在不同位置讀寫同一共享訊息。">
            <a:extLst>
              <a:ext uri="{FF2B5EF4-FFF2-40B4-BE49-F238E27FC236}">
                <a16:creationId xmlns:a16="http://schemas.microsoft.com/office/drawing/2014/main" id="{49C151AA-BD6E-4271-A41F-5ECE391788AD}"/>
              </a:ext>
            </a:extLst>
          </p:cNvPr>
          <p:cNvSpPr>
            <a:spLocks noGrp="1"/>
          </p:cNvSpPr>
          <p:nvPr/>
        </p:nvSpPr>
        <p:spPr>
          <a:xfrm>
            <a:off x="609600" y="4203155"/>
            <a:ext cx="523875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header 決定 data 起點；若兩端大小不同，</a:t>
            </a: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就會在不同位置讀寫同一共享訊息。</a:t>
            </a:r>
          </a:p>
        </p:txBody>
      </p:sp>
      <p:sp>
        <p:nvSpPr>
          <p:cNvPr id="9" name="兩個獨立配置證據">
            <a:extLst>
              <a:ext uri="{FF2B5EF4-FFF2-40B4-BE49-F238E27FC236}">
                <a16:creationId xmlns:a16="http://schemas.microsoft.com/office/drawing/2014/main" id="{95A300C4-5E65-4592-BAD2-8C55CCF3D4BB}"/>
              </a:ext>
            </a:extLst>
          </p:cNvPr>
          <p:cNvSpPr>
            <a:spLocks noGrp="1"/>
          </p:cNvSpPr>
          <p:nvPr/>
        </p:nvSpPr>
        <p:spPr>
          <a:xfrm>
            <a:off x="6524625" y="2279105"/>
            <a:ext cx="50577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0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0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兩個獨立配置證據</a:t>
            </a:r>
          </a:p>
        </p:txBody>
      </p:sp>
      <p:sp>
        <p:nvSpPr>
          <p:cNvPr id="10" name="本次 objdump&#10;UI：0x138    JLL：0x1c8">
            <a:extLst>
              <a:ext uri="{FF2B5EF4-FFF2-40B4-BE49-F238E27FC236}">
                <a16:creationId xmlns:a16="http://schemas.microsoft.com/office/drawing/2014/main" id="{CDA49A48-7460-4856-9ECD-749ED02EFCA2}"/>
              </a:ext>
            </a:extLst>
          </p:cNvPr>
          <p:cNvSpPr>
            <a:spLocks noGrp="1"/>
          </p:cNvSpPr>
          <p:nvPr/>
        </p:nvSpPr>
        <p:spPr>
          <a:xfrm>
            <a:off x="6524625" y="2936330"/>
            <a:ext cx="5057775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本次 objdump</a:t>
            </a:r>
          </a:p>
          <a:p>
            <a:pPr algn="l">
              <a:lnSpc>
                <a:spcPct val="116000"/>
              </a:lnSpc>
              <a:buNone/>
              <a:defRPr sz="21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UI：0x138    JLL：0x1c8</a:t>
            </a:r>
          </a:p>
        </p:txBody>
      </p:sp>
      <p:sp>
        <p:nvSpPr>
          <p:cNvPr id="11" name="歷史 modelV2 共享記憶體總 size&#10;10,486,072 vs 10,486,216 ">
            <a:extLst>
              <a:ext uri="{FF2B5EF4-FFF2-40B4-BE49-F238E27FC236}">
                <a16:creationId xmlns:a16="http://schemas.microsoft.com/office/drawing/2014/main" id="{B06699A9-6F00-4D7F-BF84-E31EEE245AA2}"/>
              </a:ext>
            </a:extLst>
          </p:cNvPr>
          <p:cNvSpPr>
            <a:spLocks noGrp="1"/>
          </p:cNvSpPr>
          <p:nvPr/>
        </p:nvSpPr>
        <p:spPr>
          <a:xfrm>
            <a:off x="6524625" y="4193630"/>
            <a:ext cx="5057775" cy="12096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歷史 modelV2 共享記憶體總 size</a:t>
            </a: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10,486,072 vs 10,486,216 bytes</a:t>
            </a: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差異同樣是 144 bytes。</a:t>
            </a:r>
          </a:p>
        </p:txBody>
      </p:sp>
    </p:spTree>
    <p:extLst>
      <p:ext uri="{BB962C8B-B14F-4D97-AF65-F5344CB8AC3E}">
        <p14:creationId xmlns:p14="http://schemas.microsoft.com/office/powerpoint/2010/main" val="1029139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SCOVERY｜144 bytes 的介面落差">
            <a:extLst>
              <a:ext uri="{FF2B5EF4-FFF2-40B4-BE49-F238E27FC236}">
                <a16:creationId xmlns:a16="http://schemas.microsoft.com/office/drawing/2014/main" id="{D5C4AC3B-B547-463B-8AC0-7823BBBAEF6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DISCOVERY｜144 bytes 的介面落差</a:t>
            </a:r>
          </a:p>
        </p:txBody>
      </p:sp>
      <p:sp>
        <p:nvSpPr>
          <p:cNvPr id="3" name="15">
            <a:extLst>
              <a:ext uri="{FF2B5EF4-FFF2-40B4-BE49-F238E27FC236}">
                <a16:creationId xmlns:a16="http://schemas.microsoft.com/office/drawing/2014/main" id="{B455FB64-5258-4738-A964-5723C2C16335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7DD3FC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4" name="ABI｜binary 介面配置">
            <a:extLst>
              <a:ext uri="{FF2B5EF4-FFF2-40B4-BE49-F238E27FC236}">
                <a16:creationId xmlns:a16="http://schemas.microsoft.com/office/drawing/2014/main" id="{97722574-01C0-4423-995A-2412CFED650D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5038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1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1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 noProof="1">
                <a:solidFill>
                  <a:srgbClr val="7DD3FC"/>
                </a:solidFill>
                <a:latin typeface="PingFang TC"/>
                <a:ea typeface="PingFang TC"/>
                <a:cs typeface="PingFang TC"/>
              </a:rPr>
              <a:t>ABI｜binary 介面配置</a:t>
            </a:r>
          </a:p>
        </p:txBody>
      </p:sp>
      <p:sp>
        <p:nvSpPr>
          <p:cNvPr id="5" name="144">
            <a:extLst>
              <a:ext uri="{FF2B5EF4-FFF2-40B4-BE49-F238E27FC236}">
                <a16:creationId xmlns:a16="http://schemas.microsoft.com/office/drawing/2014/main" id="{8BF03EC4-F9E3-415C-8B67-E38C9F64E334}"/>
              </a:ext>
            </a:extLst>
          </p:cNvPr>
          <p:cNvSpPr>
            <a:spLocks noGrp="1"/>
          </p:cNvSpPr>
          <p:nvPr/>
        </p:nvSpPr>
        <p:spPr>
          <a:xfrm>
            <a:off x="609600" y="2143125"/>
            <a:ext cx="5038725" cy="15525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1100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1100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100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144</a:t>
            </a:r>
          </a:p>
        </p:txBody>
      </p:sp>
      <p:sp>
        <p:nvSpPr>
          <p:cNvPr id="6" name="bytes">
            <a:extLst>
              <a:ext uri="{FF2B5EF4-FFF2-40B4-BE49-F238E27FC236}">
                <a16:creationId xmlns:a16="http://schemas.microsoft.com/office/drawing/2014/main" id="{EF2D0792-9C28-4B07-8CD1-D49FB4C96E26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503872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600" b="0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600" b="0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pPr>
            <a:r>
              <a:rPr sz="3600" b="0" noProof="1">
                <a:solidFill>
                  <a:srgbClr val="7DD3FC"/>
                </a:solidFill>
                <a:latin typeface="PingFang TC"/>
                <a:ea typeface="PingFang TC"/>
                <a:cs typeface="PingFang TC"/>
              </a:rPr>
              <a:t>bytes</a:t>
            </a:r>
          </a:p>
        </p:txBody>
      </p:sp>
      <p:sp>
        <p:nvSpPr>
          <p:cNvPr id="7" name="同一份共享記憶體，&#10;兩端 data 起點不同">
            <a:extLst>
              <a:ext uri="{FF2B5EF4-FFF2-40B4-BE49-F238E27FC236}">
                <a16:creationId xmlns:a16="http://schemas.microsoft.com/office/drawing/2014/main" id="{AD2BCE1D-17AB-45D0-AB9C-3C5A1C06EE86}"/>
              </a:ext>
            </a:extLst>
          </p:cNvPr>
          <p:cNvSpPr>
            <a:spLocks noGrp="1"/>
          </p:cNvSpPr>
          <p:nvPr/>
        </p:nvSpPr>
        <p:spPr>
          <a:xfrm>
            <a:off x="609600" y="4657725"/>
            <a:ext cx="52387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550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550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同一份共享記憶體，</a:t>
            </a:r>
          </a:p>
          <a:p>
            <a:pPr algn="l">
              <a:lnSpc>
                <a:spcPct val="116000"/>
              </a:lnSpc>
              <a:buNone/>
              <a:defRPr sz="2550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兩端 data 起點不同</a:t>
            </a:r>
          </a:p>
        </p:txBody>
      </p:sp>
      <p:sp>
        <p:nvSpPr>
          <p:cNvPr id="8" name="UI consumer｜312 B">
            <a:extLst>
              <a:ext uri="{FF2B5EF4-FFF2-40B4-BE49-F238E27FC236}">
                <a16:creationId xmlns:a16="http://schemas.microsoft.com/office/drawing/2014/main" id="{C199A8EA-B951-4032-A1C3-BC1C6791E1C6}"/>
              </a:ext>
            </a:extLst>
          </p:cNvPr>
          <p:cNvSpPr>
            <a:spLocks noGrp="1"/>
          </p:cNvSpPr>
          <p:nvPr/>
        </p:nvSpPr>
        <p:spPr>
          <a:xfrm>
            <a:off x="6524625" y="18097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UI consumer｜312 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439EB8-EC83-48B1-831F-1E298BED9922}"/>
              </a:ext>
            </a:extLst>
          </p:cNvPr>
          <p:cNvSpPr>
            <a:spLocks noGrp="1"/>
          </p:cNvSpPr>
          <p:nvPr/>
        </p:nvSpPr>
        <p:spPr>
          <a:xfrm>
            <a:off x="6524625" y="2428875"/>
            <a:ext cx="2080260" cy="542925"/>
          </a:xfrm>
          <a:prstGeom prst="rect">
            <a:avLst/>
          </a:prstGeom>
          <a:solidFill>
            <a:srgbClr val="0369A1"/>
          </a:solidFill>
          <a:ln w="14288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45415-74E5-4F37-A276-D81984696592}"/>
              </a:ext>
            </a:extLst>
          </p:cNvPr>
          <p:cNvSpPr>
            <a:spLocks noGrp="1"/>
          </p:cNvSpPr>
          <p:nvPr/>
        </p:nvSpPr>
        <p:spPr>
          <a:xfrm>
            <a:off x="8604885" y="2428875"/>
            <a:ext cx="1238250" cy="542925"/>
          </a:xfrm>
          <a:prstGeom prst="rect">
            <a:avLst/>
          </a:prstGeom>
          <a:noFill/>
          <a:ln w="14288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1" name="header">
            <a:extLst>
              <a:ext uri="{FF2B5EF4-FFF2-40B4-BE49-F238E27FC236}">
                <a16:creationId xmlns:a16="http://schemas.microsoft.com/office/drawing/2014/main" id="{C0D4A240-FFA6-4276-9E02-643B942982B2}"/>
              </a:ext>
            </a:extLst>
          </p:cNvPr>
          <p:cNvSpPr>
            <a:spLocks noGrp="1"/>
          </p:cNvSpPr>
          <p:nvPr/>
        </p:nvSpPr>
        <p:spPr>
          <a:xfrm>
            <a:off x="6667500" y="2505075"/>
            <a:ext cx="18383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header</a:t>
            </a:r>
          </a:p>
        </p:txBody>
      </p:sp>
      <p:sp>
        <p:nvSpPr>
          <p:cNvPr id="12" name="data">
            <a:extLst>
              <a:ext uri="{FF2B5EF4-FFF2-40B4-BE49-F238E27FC236}">
                <a16:creationId xmlns:a16="http://schemas.microsoft.com/office/drawing/2014/main" id="{E7AB6A57-B4FC-45BA-BD73-1DBC1013623D}"/>
              </a:ext>
            </a:extLst>
          </p:cNvPr>
          <p:cNvSpPr>
            <a:spLocks noGrp="1"/>
          </p:cNvSpPr>
          <p:nvPr/>
        </p:nvSpPr>
        <p:spPr>
          <a:xfrm>
            <a:off x="8766810" y="2505075"/>
            <a:ext cx="990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data</a:t>
            </a:r>
          </a:p>
        </p:txBody>
      </p:sp>
      <p:sp>
        <p:nvSpPr>
          <p:cNvPr id="13" name="JLL producer｜456 B">
            <a:extLst>
              <a:ext uri="{FF2B5EF4-FFF2-40B4-BE49-F238E27FC236}">
                <a16:creationId xmlns:a16="http://schemas.microsoft.com/office/drawing/2014/main" id="{E751B391-B358-444D-8A5D-927A048AD915}"/>
              </a:ext>
            </a:extLst>
          </p:cNvPr>
          <p:cNvSpPr>
            <a:spLocks noGrp="1"/>
          </p:cNvSpPr>
          <p:nvPr/>
        </p:nvSpPr>
        <p:spPr>
          <a:xfrm>
            <a:off x="6524625" y="355282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JLL producer｜456 B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640E64-3AD6-4294-A874-CEFC19DC4665}"/>
              </a:ext>
            </a:extLst>
          </p:cNvPr>
          <p:cNvSpPr>
            <a:spLocks noGrp="1"/>
          </p:cNvSpPr>
          <p:nvPr/>
        </p:nvSpPr>
        <p:spPr>
          <a:xfrm>
            <a:off x="6524625" y="4171950"/>
            <a:ext cx="3040380" cy="542925"/>
          </a:xfrm>
          <a:prstGeom prst="rect">
            <a:avLst/>
          </a:prstGeom>
          <a:solidFill>
            <a:srgbClr val="0369A1"/>
          </a:solidFill>
          <a:ln w="14288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15F4D3-BC28-4BF0-B39A-5A0D5B577D57}"/>
              </a:ext>
            </a:extLst>
          </p:cNvPr>
          <p:cNvSpPr>
            <a:spLocks noGrp="1"/>
          </p:cNvSpPr>
          <p:nvPr/>
        </p:nvSpPr>
        <p:spPr>
          <a:xfrm>
            <a:off x="9565005" y="4171950"/>
            <a:ext cx="1238250" cy="542925"/>
          </a:xfrm>
          <a:prstGeom prst="rect">
            <a:avLst/>
          </a:prstGeom>
          <a:noFill/>
          <a:ln w="14288">
            <a:solidFill>
              <a:srgbClr val="B8CDD9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6" name="header">
            <a:extLst>
              <a:ext uri="{FF2B5EF4-FFF2-40B4-BE49-F238E27FC236}">
                <a16:creationId xmlns:a16="http://schemas.microsoft.com/office/drawing/2014/main" id="{12D52ED5-9584-4997-8E66-E7D57E1FBC7C}"/>
              </a:ext>
            </a:extLst>
          </p:cNvPr>
          <p:cNvSpPr>
            <a:spLocks noGrp="1"/>
          </p:cNvSpPr>
          <p:nvPr/>
        </p:nvSpPr>
        <p:spPr>
          <a:xfrm>
            <a:off x="6667500" y="4248150"/>
            <a:ext cx="26479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header</a:t>
            </a:r>
          </a:p>
        </p:txBody>
      </p:sp>
      <p:sp>
        <p:nvSpPr>
          <p:cNvPr id="17" name="data">
            <a:extLst>
              <a:ext uri="{FF2B5EF4-FFF2-40B4-BE49-F238E27FC236}">
                <a16:creationId xmlns:a16="http://schemas.microsoft.com/office/drawing/2014/main" id="{C3F3BA84-7BB9-44D1-8D02-6064F29FF2BB}"/>
              </a:ext>
            </a:extLst>
          </p:cNvPr>
          <p:cNvSpPr>
            <a:spLocks noGrp="1"/>
          </p:cNvSpPr>
          <p:nvPr/>
        </p:nvSpPr>
        <p:spPr>
          <a:xfrm>
            <a:off x="9726930" y="4248150"/>
            <a:ext cx="990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data</a:t>
            </a:r>
          </a:p>
        </p:txBody>
      </p:sp>
      <p:sp>
        <p:nvSpPr>
          <p:cNvPr id="18" name="錯位會讓 UI 把錯誤位置當成訊息，&#10;與歷史 size assertion 失敗一致。">
            <a:extLst>
              <a:ext uri="{FF2B5EF4-FFF2-40B4-BE49-F238E27FC236}">
                <a16:creationId xmlns:a16="http://schemas.microsoft.com/office/drawing/2014/main" id="{2D5FE3AF-B732-4DE9-9AC6-889CCC56F0C7}"/>
              </a:ext>
            </a:extLst>
          </p:cNvPr>
          <p:cNvSpPr>
            <a:spLocks noGrp="1"/>
          </p:cNvSpPr>
          <p:nvPr/>
        </p:nvSpPr>
        <p:spPr>
          <a:xfrm>
            <a:off x="6524625" y="5095875"/>
            <a:ext cx="4829175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錯位會讓 UI 把錯誤位置當成訊息，</a:t>
            </a: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與歷史 size assertion 失敗一致。</a:t>
            </a:r>
          </a:p>
        </p:txBody>
      </p:sp>
    </p:spTree>
    <p:extLst>
      <p:ext uri="{BB962C8B-B14F-4D97-AF65-F5344CB8AC3E}">
        <p14:creationId xmlns:p14="http://schemas.microsoft.com/office/powerpoint/2010/main" val="1588729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解法：對齊編譯來源，隔離重建相容版">
            <a:extLst>
              <a:ext uri="{FF2B5EF4-FFF2-40B4-BE49-F238E27FC236}">
                <a16:creationId xmlns:a16="http://schemas.microsoft.com/office/drawing/2014/main" id="{FBB9F79D-63E6-4ED5-B6F3-7121BAD096E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解法：對齊編譯來源，隔離重建相容版</a:t>
            </a:r>
          </a:p>
        </p:txBody>
      </p:sp>
      <p:sp>
        <p:nvSpPr>
          <p:cNvPr id="3" name="16">
            <a:extLst>
              <a:ext uri="{FF2B5EF4-FFF2-40B4-BE49-F238E27FC236}">
                <a16:creationId xmlns:a16="http://schemas.microsoft.com/office/drawing/2014/main" id="{538AD89F-DE14-44A0-9327-B187E720BD91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  <p:sp>
        <p:nvSpPr>
          <p:cNvPr id="4" name="SOLUTION｜用相同 msgq source 重建指定 target">
            <a:extLst>
              <a:ext uri="{FF2B5EF4-FFF2-40B4-BE49-F238E27FC236}">
                <a16:creationId xmlns:a16="http://schemas.microsoft.com/office/drawing/2014/main" id="{1FED24AB-DBC0-4F75-BF44-0E3786A8C166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3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3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SOLUTION｜用相同 msgq source 重建指定 target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7B1A1A-8F99-4CBD-BC93-1431CDFBEB9B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2952750" cy="1752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6" name="Working source">
            <a:extLst>
              <a:ext uri="{FF2B5EF4-FFF2-40B4-BE49-F238E27FC236}">
                <a16:creationId xmlns:a16="http://schemas.microsoft.com/office/drawing/2014/main" id="{D4773100-0486-47AD-8110-B1F1EAC0AB25}"/>
              </a:ext>
            </a:extLst>
          </p:cNvPr>
          <p:cNvSpPr>
            <a:spLocks noGrp="1"/>
          </p:cNvSpPr>
          <p:nvPr/>
        </p:nvSpPr>
        <p:spPr>
          <a:xfrm>
            <a:off x="838200" y="2571750"/>
            <a:ext cx="24955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Working source</a:t>
            </a:r>
          </a:p>
        </p:txBody>
      </p:sp>
      <p:sp>
        <p:nvSpPr>
          <p:cNvPr id="7" name="原版 binary / 資料保留">
            <a:extLst>
              <a:ext uri="{FF2B5EF4-FFF2-40B4-BE49-F238E27FC236}">
                <a16:creationId xmlns:a16="http://schemas.microsoft.com/office/drawing/2014/main" id="{BDBEAAB6-1BE3-470D-AFC4-FCBE0FE30FD4}"/>
              </a:ext>
            </a:extLst>
          </p:cNvPr>
          <p:cNvSpPr>
            <a:spLocks noGrp="1"/>
          </p:cNvSpPr>
          <p:nvPr/>
        </p:nvSpPr>
        <p:spPr>
          <a:xfrm>
            <a:off x="838200" y="3162300"/>
            <a:ext cx="24955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原版 binary / 資料保留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604231-F5A3-428A-9B8A-F5710AA68435}"/>
              </a:ext>
            </a:extLst>
          </p:cNvPr>
          <p:cNvSpPr>
            <a:spLocks noGrp="1"/>
          </p:cNvSpPr>
          <p:nvPr/>
        </p:nvSpPr>
        <p:spPr>
          <a:xfrm>
            <a:off x="4762500" y="2438400"/>
            <a:ext cx="3286125" cy="1752600"/>
          </a:xfrm>
          <a:prstGeom prst="rect">
            <a:avLst/>
          </a:prstGeom>
          <a:solidFill>
            <a:srgbClr val="E0F2FE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9" name="隔離 build volume">
            <a:extLst>
              <a:ext uri="{FF2B5EF4-FFF2-40B4-BE49-F238E27FC236}">
                <a16:creationId xmlns:a16="http://schemas.microsoft.com/office/drawing/2014/main" id="{46EC1501-99B5-47CD-8E15-EE45CCF2C082}"/>
              </a:ext>
            </a:extLst>
          </p:cNvPr>
          <p:cNvSpPr>
            <a:spLocks noGrp="1"/>
          </p:cNvSpPr>
          <p:nvPr/>
        </p:nvSpPr>
        <p:spPr>
          <a:xfrm>
            <a:off x="4991100" y="2571750"/>
            <a:ext cx="28289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隔離 build volume</a:t>
            </a:r>
          </a:p>
        </p:txBody>
      </p:sp>
      <p:sp>
        <p:nvSpPr>
          <p:cNvPr id="10" name="唯讀來源複製 → 可寫副本&#10;SCons：replayJLL target">
            <a:extLst>
              <a:ext uri="{FF2B5EF4-FFF2-40B4-BE49-F238E27FC236}">
                <a16:creationId xmlns:a16="http://schemas.microsoft.com/office/drawing/2014/main" id="{48E1F148-3795-434A-9C1E-7720CB7C1643}"/>
              </a:ext>
            </a:extLst>
          </p:cNvPr>
          <p:cNvSpPr>
            <a:spLocks noGrp="1"/>
          </p:cNvSpPr>
          <p:nvPr/>
        </p:nvSpPr>
        <p:spPr>
          <a:xfrm>
            <a:off x="4991100" y="3162300"/>
            <a:ext cx="2828925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唯讀來源複製 → 可寫副本</a:t>
            </a:r>
          </a:p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SCons：replayJLL target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45554A-661D-48BF-A801-6F45CDBC4B54}"/>
              </a:ext>
            </a:extLst>
          </p:cNvPr>
          <p:cNvSpPr>
            <a:spLocks noGrp="1"/>
          </p:cNvSpPr>
          <p:nvPr/>
        </p:nvSpPr>
        <p:spPr>
          <a:xfrm>
            <a:off x="9239250" y="2438400"/>
            <a:ext cx="2343150" cy="1752600"/>
          </a:xfrm>
          <a:prstGeom prst="rect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2" name="獨立 .compat">
            <a:extLst>
              <a:ext uri="{FF2B5EF4-FFF2-40B4-BE49-F238E27FC236}">
                <a16:creationId xmlns:a16="http://schemas.microsoft.com/office/drawing/2014/main" id="{0F791693-E4E7-4F7D-8A48-D1FE52C64B26}"/>
              </a:ext>
            </a:extLst>
          </p:cNvPr>
          <p:cNvSpPr>
            <a:spLocks noGrp="1"/>
          </p:cNvSpPr>
          <p:nvPr/>
        </p:nvSpPr>
        <p:spPr>
          <a:xfrm>
            <a:off x="9467850" y="2571750"/>
            <a:ext cx="18859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獨立 .compat</a:t>
            </a:r>
          </a:p>
        </p:txBody>
      </p:sp>
      <p:sp>
        <p:nvSpPr>
          <p:cNvPr id="13" name="另行安裝至&#10;working volume">
            <a:extLst>
              <a:ext uri="{FF2B5EF4-FFF2-40B4-BE49-F238E27FC236}">
                <a16:creationId xmlns:a16="http://schemas.microsoft.com/office/drawing/2014/main" id="{CE99C7FD-DF63-4F21-9515-840FA662E9EA}"/>
              </a:ext>
            </a:extLst>
          </p:cNvPr>
          <p:cNvSpPr>
            <a:spLocks noGrp="1"/>
          </p:cNvSpPr>
          <p:nvPr/>
        </p:nvSpPr>
        <p:spPr>
          <a:xfrm>
            <a:off x="9467850" y="3162300"/>
            <a:ext cx="18859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另行安裝至</a:t>
            </a:r>
          </a:p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working volume</a:t>
            </a:r>
          </a:p>
        </p:txBody>
      </p:sp>
      <p:sp>
        <p:nvSpPr>
          <p:cNvPr id="14" name="Fixed-position line">
            <a:extLst>
              <a:ext uri="{FF2B5EF4-FFF2-40B4-BE49-F238E27FC236}">
                <a16:creationId xmlns:a16="http://schemas.microsoft.com/office/drawing/2014/main" id="{3F7C1155-C2E6-42C8-A2E3-421AA5270521}"/>
              </a:ext>
            </a:extLst>
          </p:cNvPr>
          <p:cNvSpPr>
            <a:spLocks noGrp="1"/>
          </p:cNvSpPr>
          <p:nvPr/>
        </p:nvSpPr>
        <p:spPr>
          <a:xfrm>
            <a:off x="3562350" y="3324225"/>
            <a:ext cx="1200150" cy="0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5" name="Fixed-position arrowhead">
            <a:extLst>
              <a:ext uri="{FF2B5EF4-FFF2-40B4-BE49-F238E27FC236}">
                <a16:creationId xmlns:a16="http://schemas.microsoft.com/office/drawing/2014/main" id="{66C64AAE-8955-4C70-9353-8693CA99AED4}"/>
              </a:ext>
            </a:extLst>
          </p:cNvPr>
          <p:cNvSpPr>
            <a:spLocks noGrp="1"/>
          </p:cNvSpPr>
          <p:nvPr/>
        </p:nvSpPr>
        <p:spPr>
          <a:xfrm>
            <a:off x="4629150" y="3257550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6" name="Fixed-position line">
            <a:extLst>
              <a:ext uri="{FF2B5EF4-FFF2-40B4-BE49-F238E27FC236}">
                <a16:creationId xmlns:a16="http://schemas.microsoft.com/office/drawing/2014/main" id="{999D6CAB-90DC-4A2F-974B-B8F6262DC8F2}"/>
              </a:ext>
            </a:extLst>
          </p:cNvPr>
          <p:cNvSpPr>
            <a:spLocks noGrp="1"/>
          </p:cNvSpPr>
          <p:nvPr/>
        </p:nvSpPr>
        <p:spPr>
          <a:xfrm>
            <a:off x="8048625" y="3324225"/>
            <a:ext cx="1190625" cy="0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7" name="Fixed-position arrowhead">
            <a:extLst>
              <a:ext uri="{FF2B5EF4-FFF2-40B4-BE49-F238E27FC236}">
                <a16:creationId xmlns:a16="http://schemas.microsoft.com/office/drawing/2014/main" id="{2E911DEF-7E8F-4D82-8966-F864E16BB67B}"/>
              </a:ext>
            </a:extLst>
          </p:cNvPr>
          <p:cNvSpPr>
            <a:spLocks noGrp="1"/>
          </p:cNvSpPr>
          <p:nvPr/>
        </p:nvSpPr>
        <p:spPr>
          <a:xfrm>
            <a:off x="9105900" y="3257550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8" name="隔離的理由">
            <a:extLst>
              <a:ext uri="{FF2B5EF4-FFF2-40B4-BE49-F238E27FC236}">
                <a16:creationId xmlns:a16="http://schemas.microsoft.com/office/drawing/2014/main" id="{0797A6B6-AC12-4CCB-838D-7A45EB328BCC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41719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隔離的理由</a:t>
            </a:r>
          </a:p>
        </p:txBody>
      </p:sp>
      <p:sp>
        <p:nvSpPr>
          <p:cNvPr id="19" name="編譯可能改動產物與中間檔；&#10;讓 build 在副本上完成，保留既有&#10;source 與原版 bin">
            <a:extLst>
              <a:ext uri="{FF2B5EF4-FFF2-40B4-BE49-F238E27FC236}">
                <a16:creationId xmlns:a16="http://schemas.microsoft.com/office/drawing/2014/main" id="{60559E3E-2DF6-41E2-9F0C-53414D609720}"/>
              </a:ext>
            </a:extLst>
          </p:cNvPr>
          <p:cNvSpPr>
            <a:spLocks noGrp="1"/>
          </p:cNvSpPr>
          <p:nvPr/>
        </p:nvSpPr>
        <p:spPr>
          <a:xfrm>
            <a:off x="609600" y="5010150"/>
            <a:ext cx="5314950" cy="12096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編譯可能改動產物與中間檔；</a:t>
            </a: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讓 build 在副本上完成，保留既有</a:t>
            </a: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source 與原版 binary 的可對照性。</a:t>
            </a:r>
          </a:p>
        </p:txBody>
      </p:sp>
      <p:sp>
        <p:nvSpPr>
          <p:cNvPr id="20" name="相容的理由">
            <a:extLst>
              <a:ext uri="{FF2B5EF4-FFF2-40B4-BE49-F238E27FC236}">
                <a16:creationId xmlns:a16="http://schemas.microsoft.com/office/drawing/2014/main" id="{5FECBFC0-B2F3-49BB-9A18-8826E1F0884C}"/>
              </a:ext>
            </a:extLst>
          </p:cNvPr>
          <p:cNvSpPr>
            <a:spLocks noGrp="1"/>
          </p:cNvSpPr>
          <p:nvPr/>
        </p:nvSpPr>
        <p:spPr>
          <a:xfrm>
            <a:off x="6591300" y="4467225"/>
            <a:ext cx="49911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相容的理由</a:t>
            </a:r>
          </a:p>
        </p:txBody>
      </p:sp>
      <p:sp>
        <p:nvSpPr>
          <p:cNvPr id="21" name="以相同 source 重建 producer，&#10;讓 header 配置與 UI consumer">
            <a:extLst>
              <a:ext uri="{FF2B5EF4-FFF2-40B4-BE49-F238E27FC236}">
                <a16:creationId xmlns:a16="http://schemas.microsoft.com/office/drawing/2014/main" id="{E0F0F820-075F-400E-8C99-9F08DB9DFA6B}"/>
              </a:ext>
            </a:extLst>
          </p:cNvPr>
          <p:cNvSpPr>
            <a:spLocks noGrp="1"/>
          </p:cNvSpPr>
          <p:nvPr/>
        </p:nvSpPr>
        <p:spPr>
          <a:xfrm>
            <a:off x="6591300" y="5010150"/>
            <a:ext cx="4991100" cy="12096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以相同 source 重建 producer，</a:t>
            </a: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讓 header 配置與 UI consumer 一致。</a:t>
            </a: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歷史指定 target build exit 0。</a:t>
            </a:r>
          </a:p>
        </p:txBody>
      </p:sp>
    </p:spTree>
    <p:extLst>
      <p:ext uri="{BB962C8B-B14F-4D97-AF65-F5344CB8AC3E}">
        <p14:creationId xmlns:p14="http://schemas.microsoft.com/office/powerpoint/2010/main" val="1754423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保護原版：身份查核與安裝邊界">
            <a:extLst>
              <a:ext uri="{FF2B5EF4-FFF2-40B4-BE49-F238E27FC236}">
                <a16:creationId xmlns:a16="http://schemas.microsoft.com/office/drawing/2014/main" id="{8A77BD98-CE09-408F-8628-B0A2B157823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保護原版：身份查核與安裝邊界</a:t>
            </a:r>
          </a:p>
        </p:txBody>
      </p:sp>
      <p:sp>
        <p:nvSpPr>
          <p:cNvPr id="3" name="17">
            <a:extLst>
              <a:ext uri="{FF2B5EF4-FFF2-40B4-BE49-F238E27FC236}">
                <a16:creationId xmlns:a16="http://schemas.microsoft.com/office/drawing/2014/main" id="{31198E2A-A564-43D2-BB7A-F77485F543CC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  <p:sp>
        <p:nvSpPr>
          <p:cNvPr id="4" name="原版身份保護是方案的一部分">
            <a:extLst>
              <a:ext uri="{FF2B5EF4-FFF2-40B4-BE49-F238E27FC236}">
                <a16:creationId xmlns:a16="http://schemas.microsoft.com/office/drawing/2014/main" id="{D2E5C947-E4EC-4665-9B80-28A568BF1C44}"/>
              </a:ext>
            </a:extLst>
          </p:cNvPr>
          <p:cNvSpPr>
            <a:spLocks noGrp="1"/>
          </p:cNvSpPr>
          <p:nvPr/>
        </p:nvSpPr>
        <p:spPr>
          <a:xfrm>
            <a:off x="609600" y="1552575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55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55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相容性修正不能破壞原版對照基準</a:t>
            </a:r>
            <a:endParaRPr sz="2550" noProof="1"/>
          </a:p>
        </p:txBody>
      </p:sp>
      <p:sp>
        <p:nvSpPr>
          <p:cNvPr id="5" name="01  build 前">
            <a:extLst>
              <a:ext uri="{FF2B5EF4-FFF2-40B4-BE49-F238E27FC236}">
                <a16:creationId xmlns:a16="http://schemas.microsoft.com/office/drawing/2014/main" id="{D001EFCA-ABD8-40EB-B1F0-E64BA512CA0C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28479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01  build 前</a:t>
            </a:r>
          </a:p>
        </p:txBody>
      </p:sp>
      <p:sp>
        <p:nvSpPr>
          <p:cNvPr id="6" name="原版 SHA-256 必須符合預期，否則停止。">
            <a:extLst>
              <a:ext uri="{FF2B5EF4-FFF2-40B4-BE49-F238E27FC236}">
                <a16:creationId xmlns:a16="http://schemas.microsoft.com/office/drawing/2014/main" id="{EBDF7270-C4E5-4FAC-93D7-83A2ADF74DA9}"/>
              </a:ext>
            </a:extLst>
          </p:cNvPr>
          <p:cNvSpPr>
            <a:spLocks noGrp="1"/>
          </p:cNvSpPr>
          <p:nvPr/>
        </p:nvSpPr>
        <p:spPr>
          <a:xfrm>
            <a:off x="3695700" y="2390775"/>
            <a:ext cx="78867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原版 SHA-256 必須符合預期，否則停止。</a:t>
            </a:r>
          </a:p>
        </p:txBody>
      </p:sp>
      <p:sp>
        <p:nvSpPr>
          <p:cNvPr id="7" name="Fixed-position line">
            <a:extLst>
              <a:ext uri="{FF2B5EF4-FFF2-40B4-BE49-F238E27FC236}">
                <a16:creationId xmlns:a16="http://schemas.microsoft.com/office/drawing/2014/main" id="{0334EA7B-79E5-4CDC-BD42-C36031CCA176}"/>
              </a:ext>
            </a:extLst>
          </p:cNvPr>
          <p:cNvSpPr>
            <a:spLocks noGrp="1"/>
          </p:cNvSpPr>
          <p:nvPr/>
        </p:nvSpPr>
        <p:spPr>
          <a:xfrm>
            <a:off x="3695700" y="3305175"/>
            <a:ext cx="78867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8" name="02  安裝後">
            <a:extLst>
              <a:ext uri="{FF2B5EF4-FFF2-40B4-BE49-F238E27FC236}">
                <a16:creationId xmlns:a16="http://schemas.microsoft.com/office/drawing/2014/main" id="{BF73D8D3-F4AE-4E56-AE13-7773B1DBE1F3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28479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02  安裝後</a:t>
            </a:r>
          </a:p>
        </p:txBody>
      </p:sp>
      <p:sp>
        <p:nvSpPr>
          <p:cNvPr id="9" name="只新增 replayJLL.compat；比較建置輸出與安裝檔，&#10;並再次核對原版 hash 未變">
            <a:extLst>
              <a:ext uri="{FF2B5EF4-FFF2-40B4-BE49-F238E27FC236}">
                <a16:creationId xmlns:a16="http://schemas.microsoft.com/office/drawing/2014/main" id="{8EC8BA9B-9A84-4FD3-AAEF-12CB129C9972}"/>
              </a:ext>
            </a:extLst>
          </p:cNvPr>
          <p:cNvSpPr>
            <a:spLocks noGrp="1"/>
          </p:cNvSpPr>
          <p:nvPr/>
        </p:nvSpPr>
        <p:spPr>
          <a:xfrm>
            <a:off x="3695700" y="3429000"/>
            <a:ext cx="78867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只新增 replayJLL.compat；比較建置輸出與安裝檔，</a:t>
            </a: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並再次核對原版 hash 未變。</a:t>
            </a:r>
          </a:p>
        </p:txBody>
      </p:sp>
      <p:sp>
        <p:nvSpPr>
          <p:cNvPr id="10" name="Fixed-position line">
            <a:extLst>
              <a:ext uri="{FF2B5EF4-FFF2-40B4-BE49-F238E27FC236}">
                <a16:creationId xmlns:a16="http://schemas.microsoft.com/office/drawing/2014/main" id="{2C930A15-CE4B-4446-8908-CE89217ADDC6}"/>
              </a:ext>
            </a:extLst>
          </p:cNvPr>
          <p:cNvSpPr>
            <a:spLocks noGrp="1"/>
          </p:cNvSpPr>
          <p:nvPr/>
        </p:nvSpPr>
        <p:spPr>
          <a:xfrm>
            <a:off x="3695700" y="4343400"/>
            <a:ext cx="78867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1" name="03  副本生命週期">
            <a:extLst>
              <a:ext uri="{FF2B5EF4-FFF2-40B4-BE49-F238E27FC236}">
                <a16:creationId xmlns:a16="http://schemas.microsoft.com/office/drawing/2014/main" id="{93AB26FA-71A9-436B-A578-D3A0C8A973AA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284797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03  副本生命週期</a:t>
            </a:r>
          </a:p>
        </p:txBody>
      </p:sp>
      <p:sp>
        <p:nvSpPr>
          <p:cNvPr id="12" name="成功才清理隔離 volume；失敗保留供調查。">
            <a:extLst>
              <a:ext uri="{FF2B5EF4-FFF2-40B4-BE49-F238E27FC236}">
                <a16:creationId xmlns:a16="http://schemas.microsoft.com/office/drawing/2014/main" id="{F4B50DF4-C631-44E9-B17C-5C987160FCCC}"/>
              </a:ext>
            </a:extLst>
          </p:cNvPr>
          <p:cNvSpPr>
            <a:spLocks noGrp="1"/>
          </p:cNvSpPr>
          <p:nvPr/>
        </p:nvSpPr>
        <p:spPr>
          <a:xfrm>
            <a:off x="3695700" y="4467225"/>
            <a:ext cx="78867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成功才清理隔離 volume；失敗保留供調查。</a:t>
            </a:r>
          </a:p>
        </p:txBody>
      </p:sp>
      <p:sp>
        <p:nvSpPr>
          <p:cNvPr id="13" name="本次原版身份核對：a1ef5396…cda5f1 與歷史完整 SHA-256 相同。">
            <a:extLst>
              <a:ext uri="{FF2B5EF4-FFF2-40B4-BE49-F238E27FC236}">
                <a16:creationId xmlns:a16="http://schemas.microsoft.com/office/drawing/2014/main" id="{528961AF-4C23-4B01-AF72-199A41C47A04}"/>
              </a:ext>
            </a:extLst>
          </p:cNvPr>
          <p:cNvSpPr>
            <a:spLocks noGrp="1"/>
          </p:cNvSpPr>
          <p:nvPr/>
        </p:nvSpPr>
        <p:spPr>
          <a:xfrm>
            <a:off x="609600" y="5498554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本次原版身份核對：a1ef5396…cda5f1 與歷史完整 SHA-256 相同。</a:t>
            </a:r>
          </a:p>
        </p:txBody>
      </p:sp>
      <p:sp>
        <p:nvSpPr>
          <p:cNvPr id="14" name="腳本會寫入新 .compat，不是完全無寫入；hash 驗證 binary 身份，不能自行證明道">
            <a:extLst>
              <a:ext uri="{FF2B5EF4-FFF2-40B4-BE49-F238E27FC236}">
                <a16:creationId xmlns:a16="http://schemas.microsoft.com/office/drawing/2014/main" id="{50BB4C3F-CDD1-4CAD-B2E4-96E12A67D87A}"/>
              </a:ext>
            </a:extLst>
          </p:cNvPr>
          <p:cNvSpPr>
            <a:spLocks noGrp="1"/>
          </p:cNvSpPr>
          <p:nvPr/>
        </p:nvSpPr>
        <p:spPr>
          <a:xfrm>
            <a:off x="609600" y="5812879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腳本會寫入新 .compat，不是完全無寫入；hash 驗證 binary 身份，不能自行證明道路畫面。</a:t>
            </a:r>
          </a:p>
        </p:txBody>
      </p:sp>
    </p:spTree>
    <p:extLst>
      <p:ext uri="{BB962C8B-B14F-4D97-AF65-F5344CB8AC3E}">
        <p14:creationId xmlns:p14="http://schemas.microsoft.com/office/powerpoint/2010/main" val="2047092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Edited text 118"/>
          <p:cNvSpPr txBox="1"/>
          <p:nvPr/>
        </p:nvSpPr>
        <p:spPr>
          <a:xfrm>
            <a:off x="609600" y="361950"/>
            <a:ext cx="10972800" cy="904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25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驗證：歷史紀錄與新增 JLL 畫面相互對照</a:t>
            </a:r>
          </a:p>
        </p:txBody>
      </p:sp>
      <p:sp>
        <p:nvSpPr>
          <p:cNvPr id="119" name="Edited text 119"/>
          <p:cNvSpPr txBox="1"/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2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5B59914-D0E8-4629-B857-D43700903E78}"/>
              </a:ext>
            </a:extLst>
          </p:cNvPr>
          <p:cNvGraphicFramePr/>
          <p:nvPr/>
        </p:nvGraphicFramePr>
        <p:xfrm>
          <a:off x="609600" y="1476375"/>
          <a:ext cx="10972800" cy="2228848"/>
        </p:xfrm>
        <a:graphic>
          <a:graphicData uri="http://schemas.openxmlformats.org/drawingml/2006/table">
            <a:tbl>
              <a:tblPr/>
              <a:tblGrid>
                <a:gridCol w="316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1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72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 noProof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Replay 路徑</a:t>
                      </a:r>
                    </a:p>
                  </a:txBody>
                  <a:tcPr marL="152400" marR="152400" marT="114300" marB="11430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 noProof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歷史驗收記錄</a:t>
                      </a:r>
                    </a:p>
                  </a:txBody>
                  <a:tcPr marL="152400" marR="152400" marT="114300" marB="11430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1" noProof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本次新增證據 · 2026-10-13</a:t>
                      </a:r>
                    </a:p>
                  </a:txBody>
                  <a:tcPr marL="152400" marR="152400" marT="114300" marB="114300"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官方 USA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道路／車道／速度 · 59 mph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沿用原截圖；本次未重跑官方 Replay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JLL USA .compat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11 valid segments 載入；52 mph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短段回放：道路／疊圖／62 mph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1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JLL Taiwan .compat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dataC segment 61；26 mph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500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短段回放：夜間道路／19 mph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0" name="usa" descr="Actual replay screenshot; see slide notes for provenance."/>
          <p:cNvPicPr/>
          <p:nvPr/>
        </p:nvPicPr>
        <p:blipFill>
          <a:blip r:embed="rId3"/>
          <a:stretch>
            <a:fillRect/>
          </a:stretch>
        </p:blipFill>
        <p:spPr>
          <a:xfrm>
            <a:off x="639233" y="4010025"/>
            <a:ext cx="3217333" cy="1809750"/>
          </a:xfrm>
          <a:prstGeom prst="rect">
            <a:avLst/>
          </a:prstGeom>
        </p:spPr>
      </p:pic>
      <p:pic>
        <p:nvPicPr>
          <p:cNvPr id="121" name="taiwan" descr="Actual replay screenshot; see slide notes for provenance."/>
          <p:cNvPicPr/>
          <p:nvPr/>
        </p:nvPicPr>
        <p:blipFill>
          <a:blip r:embed="rId4"/>
          <a:stretch>
            <a:fillRect/>
          </a:stretch>
        </p:blipFill>
        <p:spPr>
          <a:xfrm>
            <a:off x="4201583" y="4010025"/>
            <a:ext cx="3217333" cy="1809750"/>
          </a:xfrm>
          <a:prstGeom prst="rect">
            <a:avLst/>
          </a:prstGeom>
        </p:spPr>
      </p:pic>
      <p:sp>
        <p:nvSpPr>
          <p:cNvPr id="122" name="Edited text 122"/>
          <p:cNvSpPr txBox="1"/>
          <p:nvPr/>
        </p:nvSpPr>
        <p:spPr>
          <a:xfrm>
            <a:off x="609600" y="5895975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35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JLL USA · 本次畫面</a:t>
            </a:r>
          </a:p>
        </p:txBody>
      </p:sp>
      <p:sp>
        <p:nvSpPr>
          <p:cNvPr id="123" name="Edited text 123"/>
          <p:cNvSpPr txBox="1"/>
          <p:nvPr/>
        </p:nvSpPr>
        <p:spPr>
          <a:xfrm>
            <a:off x="4171950" y="5895975"/>
            <a:ext cx="3276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35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Taiwan segment 61 · 本次畫面</a:t>
            </a:r>
          </a:p>
        </p:txBody>
      </p:sp>
      <p:sp>
        <p:nvSpPr>
          <p:cNvPr id="124" name="Edited text 124"/>
          <p:cNvSpPr txBox="1"/>
          <p:nvPr/>
        </p:nvSpPr>
        <p:spPr>
          <a:xfrm>
            <a:off x="7848600" y="4048125"/>
            <a:ext cx="37338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證據如何對應？</a:t>
            </a:r>
          </a:p>
        </p:txBody>
      </p:sp>
      <p:sp>
        <p:nvSpPr>
          <p:cNvPr id="125" name="Edited text 125"/>
          <p:cNvSpPr txBox="1"/>
          <p:nvPr/>
        </p:nvSpPr>
        <p:spPr>
          <a:xfrm>
            <a:off x="7848600" y="4524375"/>
            <a:ext cx="37338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CLI 紀錄：route、segments、playing。</a:t>
            </a:r>
          </a:p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UI 截圖：實際道路與速度顯示。</a:t>
            </a:r>
          </a:p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兩者一起確認本次回放來源。</a:t>
            </a:r>
          </a:p>
        </p:txBody>
      </p:sp>
      <p:sp>
        <p:nvSpPr>
          <p:cNvPr id="126" name="Edited text 126"/>
          <p:cNvSpPr txBox="1"/>
          <p:nvPr/>
        </p:nvSpPr>
        <p:spPr>
          <a:xfrm>
            <a:off x="7848600" y="5648325"/>
            <a:ext cx="37338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短段截圖 ≠ 全 segments 完整播放；</a:t>
            </a:r>
          </a:p>
          <a:p>
            <a:pPr>
              <a:lnSpc>
                <a:spcPct val="112000"/>
              </a:lnSpc>
              <a:buNone/>
            </a:pPr>
            <a:r>
              <a:rPr lang="zh-TW" sz="13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仍未建立駕駛品質或 fresh restore。</a:t>
            </a:r>
          </a:p>
        </p:txBody>
      </p:sp>
    </p:spTree>
    <p:extLst>
      <p:ext uri="{BB962C8B-B14F-4D97-AF65-F5344CB8AC3E}">
        <p14:creationId xmlns:p14="http://schemas.microsoft.com/office/powerpoint/2010/main" val="384458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Xvfb：把啟動成功改成就緒條件">
            <a:extLst>
              <a:ext uri="{FF2B5EF4-FFF2-40B4-BE49-F238E27FC236}">
                <a16:creationId xmlns:a16="http://schemas.microsoft.com/office/drawing/2014/main" id="{565AF618-BC32-4F58-8314-BC5184CC625C}"/>
              </a:ext>
            </a:extLst>
          </p:cNvPr>
          <p:cNvSpPr>
            <a:spLocks noGrp="1"/>
          </p:cNvSpPr>
          <p:nvPr/>
        </p:nvSpPr>
        <p:spPr>
          <a:xfrm>
            <a:off x="609600" y="593175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Xvfb：把啟動成功改成就緒條件</a:t>
            </a:r>
          </a:p>
        </p:txBody>
      </p:sp>
      <p:sp>
        <p:nvSpPr>
          <p:cNvPr id="3" name="19">
            <a:extLst>
              <a:ext uri="{FF2B5EF4-FFF2-40B4-BE49-F238E27FC236}">
                <a16:creationId xmlns:a16="http://schemas.microsoft.com/office/drawing/2014/main" id="{85691322-D56A-46C1-A44C-CE426A251968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FF46037C-C64C-43D9-A1BA-0140E5DABE01}"/>
              </a:ext>
            </a:extLst>
          </p:cNvPr>
          <p:cNvSpPr>
            <a:spLocks noGrp="1"/>
          </p:cNvSpPr>
          <p:nvPr/>
        </p:nvSpPr>
        <p:spPr>
          <a:xfrm>
            <a:off x="609600" y="2014039"/>
            <a:ext cx="7048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5" name="Problem">
            <a:extLst>
              <a:ext uri="{FF2B5EF4-FFF2-40B4-BE49-F238E27FC236}">
                <a16:creationId xmlns:a16="http://schemas.microsoft.com/office/drawing/2014/main" id="{9A35D7F2-2A30-4DE5-8A2E-217661C20B1A}"/>
              </a:ext>
            </a:extLst>
          </p:cNvPr>
          <p:cNvSpPr>
            <a:spLocks noGrp="1"/>
          </p:cNvSpPr>
          <p:nvPr/>
        </p:nvSpPr>
        <p:spPr>
          <a:xfrm>
            <a:off x="1524000" y="2014039"/>
            <a:ext cx="25431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Problem</a:t>
            </a:r>
          </a:p>
        </p:txBody>
      </p:sp>
      <p:sp>
        <p:nvSpPr>
          <p:cNvPr id="6" name="Xvfb 某次啟動提前退出；後續 kill 已找不到 PID，Display 尚未形成可靠桌面。">
            <a:extLst>
              <a:ext uri="{FF2B5EF4-FFF2-40B4-BE49-F238E27FC236}">
                <a16:creationId xmlns:a16="http://schemas.microsoft.com/office/drawing/2014/main" id="{46918EDD-5DEC-4CE4-87F2-37DD9CD8574C}"/>
              </a:ext>
            </a:extLst>
          </p:cNvPr>
          <p:cNvSpPr>
            <a:spLocks noGrp="1"/>
          </p:cNvSpPr>
          <p:nvPr/>
        </p:nvSpPr>
        <p:spPr>
          <a:xfrm>
            <a:off x="4219575" y="2014039"/>
            <a:ext cx="73628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Xvfb 某次啟動提前退出；後續 kill 已找不到 PID，Display 尚未形成可靠桌面。</a:t>
            </a:r>
          </a:p>
        </p:txBody>
      </p:sp>
      <p:sp>
        <p:nvSpPr>
          <p:cNvPr id="7" name="Fixed-position line">
            <a:extLst>
              <a:ext uri="{FF2B5EF4-FFF2-40B4-BE49-F238E27FC236}">
                <a16:creationId xmlns:a16="http://schemas.microsoft.com/office/drawing/2014/main" id="{8629C77B-4A3A-4226-BAA0-6EA68FB23484}"/>
              </a:ext>
            </a:extLst>
          </p:cNvPr>
          <p:cNvSpPr>
            <a:spLocks noGrp="1"/>
          </p:cNvSpPr>
          <p:nvPr/>
        </p:nvSpPr>
        <p:spPr>
          <a:xfrm>
            <a:off x="1524000" y="2852239"/>
            <a:ext cx="100584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030F2475-C99C-4294-858D-C148EC12AC54}"/>
              </a:ext>
            </a:extLst>
          </p:cNvPr>
          <p:cNvSpPr>
            <a:spLocks noGrp="1"/>
          </p:cNvSpPr>
          <p:nvPr/>
        </p:nvSpPr>
        <p:spPr>
          <a:xfrm>
            <a:off x="609600" y="2957014"/>
            <a:ext cx="7048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9" name="Investigation">
            <a:extLst>
              <a:ext uri="{FF2B5EF4-FFF2-40B4-BE49-F238E27FC236}">
                <a16:creationId xmlns:a16="http://schemas.microsoft.com/office/drawing/2014/main" id="{A1FF5670-7BA3-428F-AB2C-FB827F6C2934}"/>
              </a:ext>
            </a:extLst>
          </p:cNvPr>
          <p:cNvSpPr>
            <a:spLocks noGrp="1"/>
          </p:cNvSpPr>
          <p:nvPr/>
        </p:nvSpPr>
        <p:spPr>
          <a:xfrm>
            <a:off x="1524000" y="2957014"/>
            <a:ext cx="25431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Investigation</a:t>
            </a:r>
          </a:p>
        </p:txBody>
      </p:sp>
      <p:sp>
        <p:nvSpPr>
          <p:cNvPr id="10" name="檢查 X11 socket 與程序存活；原始完整 stderr 未保留，不能建立唯一根因。">
            <a:extLst>
              <a:ext uri="{FF2B5EF4-FFF2-40B4-BE49-F238E27FC236}">
                <a16:creationId xmlns:a16="http://schemas.microsoft.com/office/drawing/2014/main" id="{E32A34D9-B090-489D-9AA4-C4CBE46769C2}"/>
              </a:ext>
            </a:extLst>
          </p:cNvPr>
          <p:cNvSpPr>
            <a:spLocks noGrp="1"/>
          </p:cNvSpPr>
          <p:nvPr/>
        </p:nvSpPr>
        <p:spPr>
          <a:xfrm>
            <a:off x="4219575" y="2957014"/>
            <a:ext cx="73628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檢查 X11 socket 與程序存活；原始完整 stderr 未保留，不能建立唯一根因。</a:t>
            </a:r>
          </a:p>
        </p:txBody>
      </p:sp>
      <p:sp>
        <p:nvSpPr>
          <p:cNvPr id="11" name="Fixed-position line">
            <a:extLst>
              <a:ext uri="{FF2B5EF4-FFF2-40B4-BE49-F238E27FC236}">
                <a16:creationId xmlns:a16="http://schemas.microsoft.com/office/drawing/2014/main" id="{48502109-2BE5-44CF-83F8-CA1F937FFF16}"/>
              </a:ext>
            </a:extLst>
          </p:cNvPr>
          <p:cNvSpPr>
            <a:spLocks noGrp="1"/>
          </p:cNvSpPr>
          <p:nvPr/>
        </p:nvSpPr>
        <p:spPr>
          <a:xfrm>
            <a:off x="1524000" y="3795214"/>
            <a:ext cx="100584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2" name="03">
            <a:extLst>
              <a:ext uri="{FF2B5EF4-FFF2-40B4-BE49-F238E27FC236}">
                <a16:creationId xmlns:a16="http://schemas.microsoft.com/office/drawing/2014/main" id="{3E35B44F-2423-44C9-9BC5-3A82861CA962}"/>
              </a:ext>
            </a:extLst>
          </p:cNvPr>
          <p:cNvSpPr>
            <a:spLocks noGrp="1"/>
          </p:cNvSpPr>
          <p:nvPr/>
        </p:nvSpPr>
        <p:spPr>
          <a:xfrm>
            <a:off x="609600" y="3899989"/>
            <a:ext cx="7048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3" name="Solution">
            <a:extLst>
              <a:ext uri="{FF2B5EF4-FFF2-40B4-BE49-F238E27FC236}">
                <a16:creationId xmlns:a16="http://schemas.microsoft.com/office/drawing/2014/main" id="{56943F19-FF57-4BEF-AF55-BE422F754715}"/>
              </a:ext>
            </a:extLst>
          </p:cNvPr>
          <p:cNvSpPr>
            <a:spLocks noGrp="1"/>
          </p:cNvSpPr>
          <p:nvPr/>
        </p:nvSpPr>
        <p:spPr>
          <a:xfrm>
            <a:off x="1524000" y="3899989"/>
            <a:ext cx="25431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Solution</a:t>
            </a:r>
          </a:p>
        </p:txBody>
      </p:sp>
      <p:sp>
        <p:nvSpPr>
          <p:cNvPr id="14" name="每次等待 socket + PID 就緒，最多 3 次嘗試；Display 等 Compute ">
            <a:extLst>
              <a:ext uri="{FF2B5EF4-FFF2-40B4-BE49-F238E27FC236}">
                <a16:creationId xmlns:a16="http://schemas.microsoft.com/office/drawing/2014/main" id="{75C55008-D6E1-469D-B307-F62DABDC857B}"/>
              </a:ext>
            </a:extLst>
          </p:cNvPr>
          <p:cNvSpPr>
            <a:spLocks noGrp="1"/>
          </p:cNvSpPr>
          <p:nvPr/>
        </p:nvSpPr>
        <p:spPr>
          <a:xfrm>
            <a:off x="4219575" y="3899989"/>
            <a:ext cx="73628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每次等待 socket + PID 就緒，最多 3 次嘗試；Display 等 Compute healthy 再啟動。</a:t>
            </a:r>
          </a:p>
        </p:txBody>
      </p:sp>
      <p:sp>
        <p:nvSpPr>
          <p:cNvPr id="15" name="Fixed-position line">
            <a:extLst>
              <a:ext uri="{FF2B5EF4-FFF2-40B4-BE49-F238E27FC236}">
                <a16:creationId xmlns:a16="http://schemas.microsoft.com/office/drawing/2014/main" id="{23551D1E-EEA0-4C63-A194-E98E31645A7C}"/>
              </a:ext>
            </a:extLst>
          </p:cNvPr>
          <p:cNvSpPr>
            <a:spLocks noGrp="1"/>
          </p:cNvSpPr>
          <p:nvPr/>
        </p:nvSpPr>
        <p:spPr>
          <a:xfrm>
            <a:off x="1524000" y="4738189"/>
            <a:ext cx="100584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2AD12CA9-8E3E-4A68-B5A3-47EB0F4D5503}"/>
              </a:ext>
            </a:extLst>
          </p:cNvPr>
          <p:cNvSpPr>
            <a:spLocks noGrp="1"/>
          </p:cNvSpPr>
          <p:nvPr/>
        </p:nvSpPr>
        <p:spPr>
          <a:xfrm>
            <a:off x="609600" y="4842964"/>
            <a:ext cx="7048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17" name="Verification / Lesson">
            <a:extLst>
              <a:ext uri="{FF2B5EF4-FFF2-40B4-BE49-F238E27FC236}">
                <a16:creationId xmlns:a16="http://schemas.microsoft.com/office/drawing/2014/main" id="{5BCEA98C-2402-413A-8422-8E508FB6870E}"/>
              </a:ext>
            </a:extLst>
          </p:cNvPr>
          <p:cNvSpPr>
            <a:spLocks noGrp="1"/>
          </p:cNvSpPr>
          <p:nvPr/>
        </p:nvSpPr>
        <p:spPr>
          <a:xfrm>
            <a:off x="1524000" y="4842964"/>
            <a:ext cx="25431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Verification / Lesson</a:t>
            </a:r>
          </a:p>
        </p:txBody>
      </p:sp>
      <p:sp>
        <p:nvSpPr>
          <p:cNvPr id="18" name="歷史多次 cold start 兩服務 healthy；將「已啟動程序」改為可檢查的就緒條件。">
            <a:extLst>
              <a:ext uri="{FF2B5EF4-FFF2-40B4-BE49-F238E27FC236}">
                <a16:creationId xmlns:a16="http://schemas.microsoft.com/office/drawing/2014/main" id="{FE1116E2-2F03-43BE-9512-CBD79758C3D1}"/>
              </a:ext>
            </a:extLst>
          </p:cNvPr>
          <p:cNvSpPr>
            <a:spLocks noGrp="1"/>
          </p:cNvSpPr>
          <p:nvPr/>
        </p:nvSpPr>
        <p:spPr>
          <a:xfrm>
            <a:off x="4219575" y="4842964"/>
            <a:ext cx="73628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歷史 cold start 可達兩服務 healthy；</a:t>
            </a:r>
            <a:endParaRPr sz="1875" noProof="1"/>
          </a:p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將「程序已啟動」改為「socket + PID 可驗證就緒」。</a:t>
            </a:r>
            <a:endParaRPr sz="1875" noProof="1"/>
          </a:p>
        </p:txBody>
      </p:sp>
    </p:spTree>
    <p:extLst>
      <p:ext uri="{BB962C8B-B14F-4D97-AF65-F5344CB8AC3E}">
        <p14:creationId xmlns:p14="http://schemas.microsoft.com/office/powerpoint/2010/main" val="47498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NO PANDA：程序在跑，訊息可能沒有到">
            <a:extLst>
              <a:ext uri="{FF2B5EF4-FFF2-40B4-BE49-F238E27FC236}">
                <a16:creationId xmlns:a16="http://schemas.microsoft.com/office/drawing/2014/main" id="{C37CE7E8-C02D-484B-85D6-887618ECBEC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NO PANDA：程序在跑，訊息可能沒有到</a:t>
            </a:r>
          </a:p>
        </p:txBody>
      </p:sp>
      <p:sp>
        <p:nvSpPr>
          <p:cNvPr id="3" name="20">
            <a:extLst>
              <a:ext uri="{FF2B5EF4-FFF2-40B4-BE49-F238E27FC236}">
                <a16:creationId xmlns:a16="http://schemas.microsoft.com/office/drawing/2014/main" id="{D3C124EB-1185-4A61-B091-2ABA33303668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20</a:t>
            </a:r>
          </a:p>
        </p:txBody>
      </p:sp>
      <p:sp>
        <p:nvSpPr>
          <p:cNvPr id="4" name="PROBLEM｜UI 停在 NO PANDA">
            <a:extLst>
              <a:ext uri="{FF2B5EF4-FFF2-40B4-BE49-F238E27FC236}">
                <a16:creationId xmlns:a16="http://schemas.microsoft.com/office/drawing/2014/main" id="{D4F7398D-050E-4B9E-94AE-D626F756C54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3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3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PROBLEM｜UI 停在 NO PANDA</a:t>
            </a:r>
          </a:p>
        </p:txBody>
      </p:sp>
      <p:sp>
        <p:nvSpPr>
          <p:cNvPr id="5" name="Replay 有資料">
            <a:extLst>
              <a:ext uri="{FF2B5EF4-FFF2-40B4-BE49-F238E27FC236}">
                <a16:creationId xmlns:a16="http://schemas.microsoft.com/office/drawing/2014/main" id="{B32764C2-0D96-403C-BE31-AAE6C00B912B}"/>
              </a:ext>
            </a:extLst>
          </p:cNvPr>
          <p:cNvSpPr>
            <a:spLocks noGrp="1"/>
          </p:cNvSpPr>
          <p:nvPr/>
        </p:nvSpPr>
        <p:spPr>
          <a:xfrm>
            <a:off x="609600" y="2125719"/>
            <a:ext cx="5153025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7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7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Replay 有資料</a:t>
            </a:r>
          </a:p>
        </p:txBody>
      </p:sp>
      <p:sp>
        <p:nvSpPr>
          <p:cNvPr id="6" name="deviceState.started = True&#10;pandaStates 訂閱 12 秒卻無">
            <a:extLst>
              <a:ext uri="{FF2B5EF4-FFF2-40B4-BE49-F238E27FC236}">
                <a16:creationId xmlns:a16="http://schemas.microsoft.com/office/drawing/2014/main" id="{DC8A602B-BD07-4711-B440-206BE7FDCBED}"/>
              </a:ext>
            </a:extLst>
          </p:cNvPr>
          <p:cNvSpPr>
            <a:spLocks noGrp="1"/>
          </p:cNvSpPr>
          <p:nvPr/>
        </p:nvSpPr>
        <p:spPr>
          <a:xfrm>
            <a:off x="609600" y="2906769"/>
            <a:ext cx="52959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deviceState.started = True</a:t>
            </a:r>
            <a:endParaRPr sz="2025" noProof="1"/>
          </a:p>
          <a:p>
            <a:pPr algn="l">
              <a:lnSpc>
                <a:spcPct val="116000"/>
              </a:lnSpc>
              <a:buNone/>
              <a:defRPr sz="2025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pandaStates 訂閱 12 秒無訊息</a:t>
            </a:r>
            <a:endParaRPr sz="2025" noProof="1"/>
          </a:p>
        </p:txBody>
      </p:sp>
      <p:sp>
        <p:nvSpPr>
          <p:cNvPr id="7" name="Fixed-position line">
            <a:extLst>
              <a:ext uri="{FF2B5EF4-FFF2-40B4-BE49-F238E27FC236}">
                <a16:creationId xmlns:a16="http://schemas.microsoft.com/office/drawing/2014/main" id="{5CCF1325-73CD-4BB5-8F95-B2CDBC3905C6}"/>
              </a:ext>
            </a:extLst>
          </p:cNvPr>
          <p:cNvSpPr>
            <a:spLocks noGrp="1"/>
          </p:cNvSpPr>
          <p:nvPr/>
        </p:nvSpPr>
        <p:spPr>
          <a:xfrm>
            <a:off x="5359621" y="3022054"/>
            <a:ext cx="762000" cy="0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8" name="Fixed-position arrowhead">
            <a:extLst>
              <a:ext uri="{FF2B5EF4-FFF2-40B4-BE49-F238E27FC236}">
                <a16:creationId xmlns:a16="http://schemas.microsoft.com/office/drawing/2014/main" id="{77973F5E-5236-46A6-B0E4-8DAA30DC8872}"/>
              </a:ext>
            </a:extLst>
          </p:cNvPr>
          <p:cNvSpPr>
            <a:spLocks noGrp="1"/>
          </p:cNvSpPr>
          <p:nvPr/>
        </p:nvSpPr>
        <p:spPr>
          <a:xfrm>
            <a:off x="5988271" y="2955379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9" name="UI 缺少 ignition 狀態">
            <a:extLst>
              <a:ext uri="{FF2B5EF4-FFF2-40B4-BE49-F238E27FC236}">
                <a16:creationId xmlns:a16="http://schemas.microsoft.com/office/drawing/2014/main" id="{5782E84A-4964-42FF-8723-84BE19E553B2}"/>
              </a:ext>
            </a:extLst>
          </p:cNvPr>
          <p:cNvSpPr>
            <a:spLocks noGrp="1"/>
          </p:cNvSpPr>
          <p:nvPr/>
        </p:nvSpPr>
        <p:spPr>
          <a:xfrm>
            <a:off x="7239000" y="2125719"/>
            <a:ext cx="43434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5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5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UI 缺少 ignition 所需訊息</a:t>
            </a:r>
            <a:endParaRPr sz="2325" noProof="1"/>
          </a:p>
        </p:txBody>
      </p:sp>
      <p:sp>
        <p:nvSpPr>
          <p:cNvPr id="10" name="歷史調查定位：uiDebug 白名單&#10;過濾舊 pandaStateDEPRECATED，&#10;程序啟">
            <a:extLst>
              <a:ext uri="{FF2B5EF4-FFF2-40B4-BE49-F238E27FC236}">
                <a16:creationId xmlns:a16="http://schemas.microsoft.com/office/drawing/2014/main" id="{F7AAD0C8-3FCB-462B-BB2B-92E623B362BF}"/>
              </a:ext>
            </a:extLst>
          </p:cNvPr>
          <p:cNvSpPr>
            <a:spLocks noGrp="1"/>
          </p:cNvSpPr>
          <p:nvPr/>
        </p:nvSpPr>
        <p:spPr>
          <a:xfrm>
            <a:off x="7239000" y="2906769"/>
            <a:ext cx="4343400" cy="12477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歷史調查定位至 uiDebug 白名單</a:t>
            </a:r>
            <a:endParaRPr sz="1950" noProof="1"/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舊 pandaStateDEPRECATED 被過濾</a:t>
            </a:r>
            <a:endParaRPr sz="1950" noProof="1"/>
          </a:p>
        </p:txBody>
      </p:sp>
      <p:sp>
        <p:nvSpPr>
          <p:cNvPr id="11" name="Fixed-position line">
            <a:extLst>
              <a:ext uri="{FF2B5EF4-FFF2-40B4-BE49-F238E27FC236}">
                <a16:creationId xmlns:a16="http://schemas.microsoft.com/office/drawing/2014/main" id="{79A4332A-F429-406B-8DAD-8CC7069BDA4B}"/>
              </a:ext>
            </a:extLst>
          </p:cNvPr>
          <p:cNvSpPr>
            <a:spLocks noGrp="1"/>
          </p:cNvSpPr>
          <p:nvPr/>
        </p:nvSpPr>
        <p:spPr>
          <a:xfrm>
            <a:off x="609600" y="4175566"/>
            <a:ext cx="10972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2" name="SOLUTION">
            <a:extLst>
              <a:ext uri="{FF2B5EF4-FFF2-40B4-BE49-F238E27FC236}">
                <a16:creationId xmlns:a16="http://schemas.microsoft.com/office/drawing/2014/main" id="{D0A124B3-0D3A-4C5F-8965-DAAB95450F85}"/>
              </a:ext>
            </a:extLst>
          </p:cNvPr>
          <p:cNvSpPr>
            <a:spLocks noGrp="1"/>
          </p:cNvSpPr>
          <p:nvPr/>
        </p:nvSpPr>
        <p:spPr>
          <a:xfrm>
            <a:off x="609600" y="4461316"/>
            <a:ext cx="26003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SOLUTION</a:t>
            </a:r>
          </a:p>
        </p:txBody>
      </p:sp>
      <p:sp>
        <p:nvSpPr>
          <p:cNvPr id="13" name="移除 -b uiDebug 過濾；保留正常訊息轉換路徑。">
            <a:extLst>
              <a:ext uri="{FF2B5EF4-FFF2-40B4-BE49-F238E27FC236}">
                <a16:creationId xmlns:a16="http://schemas.microsoft.com/office/drawing/2014/main" id="{8D43F39B-EA5E-4F0E-9DCA-0D691B664261}"/>
              </a:ext>
            </a:extLst>
          </p:cNvPr>
          <p:cNvSpPr>
            <a:spLocks noGrp="1"/>
          </p:cNvSpPr>
          <p:nvPr/>
        </p:nvSpPr>
        <p:spPr>
          <a:xfrm>
            <a:off x="3505200" y="4394641"/>
            <a:ext cx="80772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0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0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移除 -b uiDebug 過濾，恢復正常訊息轉換路徑。</a:t>
            </a:r>
            <a:endParaRPr sz="2100" noProof="1"/>
          </a:p>
        </p:txBody>
      </p:sp>
      <p:sp>
        <p:nvSpPr>
          <p:cNvPr id="14" name="VERIFICATION">
            <a:extLst>
              <a:ext uri="{FF2B5EF4-FFF2-40B4-BE49-F238E27FC236}">
                <a16:creationId xmlns:a16="http://schemas.microsoft.com/office/drawing/2014/main" id="{64359AA3-B7D6-402C-99AA-4A46447902FC}"/>
              </a:ext>
            </a:extLst>
          </p:cNvPr>
          <p:cNvSpPr>
            <a:spLocks noGrp="1"/>
          </p:cNvSpPr>
          <p:nvPr/>
        </p:nvSpPr>
        <p:spPr>
          <a:xfrm>
            <a:off x="609600" y="5156641"/>
            <a:ext cx="26003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7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7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VERIFICATION</a:t>
            </a:r>
          </a:p>
        </p:txBody>
      </p:sp>
      <p:sp>
        <p:nvSpPr>
          <p:cNvPr id="15" name="歷史 ignitionLine=True，UI 恢復道路；快捷腳本保留修正。">
            <a:extLst>
              <a:ext uri="{FF2B5EF4-FFF2-40B4-BE49-F238E27FC236}">
                <a16:creationId xmlns:a16="http://schemas.microsoft.com/office/drawing/2014/main" id="{028B4A58-A0A8-43E9-A28A-23EE83350831}"/>
              </a:ext>
            </a:extLst>
          </p:cNvPr>
          <p:cNvSpPr>
            <a:spLocks noGrp="1"/>
          </p:cNvSpPr>
          <p:nvPr/>
        </p:nvSpPr>
        <p:spPr>
          <a:xfrm>
            <a:off x="3505200" y="5070916"/>
            <a:ext cx="80772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歷史 ignitionLine=True，UI 恢復道路；快捷腳本保留修正。</a:t>
            </a:r>
          </a:p>
        </p:txBody>
      </p:sp>
    </p:spTree>
    <p:extLst>
      <p:ext uri="{BB962C8B-B14F-4D97-AF65-F5344CB8AC3E}">
        <p14:creationId xmlns:p14="http://schemas.microsoft.com/office/powerpoint/2010/main" val="411312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NC：先確認畫面來自現在的容器">
            <a:extLst>
              <a:ext uri="{FF2B5EF4-FFF2-40B4-BE49-F238E27FC236}">
                <a16:creationId xmlns:a16="http://schemas.microsoft.com/office/drawing/2014/main" id="{E06EA382-BE72-4847-9746-CA531D734C9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VNC：看到畫面，不代表看到的是目前的 Replay</a:t>
            </a:r>
            <a:endParaRPr sz="2850" noProof="1"/>
          </a:p>
        </p:txBody>
      </p:sp>
      <p:sp>
        <p:nvSpPr>
          <p:cNvPr id="3" name="21">
            <a:extLst>
              <a:ext uri="{FF2B5EF4-FFF2-40B4-BE49-F238E27FC236}">
                <a16:creationId xmlns:a16="http://schemas.microsoft.com/office/drawing/2014/main" id="{E29B046B-C163-4DB8-B8D1-B062CE2F70B0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21</a:t>
            </a:r>
          </a:p>
        </p:txBody>
      </p:sp>
      <p:sp>
        <p:nvSpPr>
          <p:cNvPr id="4" name="Replay：USA playing    /    VNC：仍像 Taiwan 夜間畫面">
            <a:extLst>
              <a:ext uri="{FF2B5EF4-FFF2-40B4-BE49-F238E27FC236}">
                <a16:creationId xmlns:a16="http://schemas.microsoft.com/office/drawing/2014/main" id="{A0A73903-3761-4D38-A316-0D0B66249690}"/>
              </a:ext>
            </a:extLst>
          </p:cNvPr>
          <p:cNvSpPr>
            <a:spLocks noGrp="1"/>
          </p:cNvSpPr>
          <p:nvPr/>
        </p:nvSpPr>
        <p:spPr>
          <a:xfrm>
            <a:off x="609600" y="1447472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4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Replay：USA playing    /    VNC：仍像 Taiwan 夜間畫面</a:t>
            </a:r>
          </a:p>
        </p:txBody>
      </p:sp>
      <p:sp>
        <p:nvSpPr>
          <p:cNvPr id="5" name="衝突">
            <a:extLst>
              <a:ext uri="{FF2B5EF4-FFF2-40B4-BE49-F238E27FC236}">
                <a16:creationId xmlns:a16="http://schemas.microsoft.com/office/drawing/2014/main" id="{CF547E34-5DC6-4CA4-9427-CAC57C19A6C5}"/>
              </a:ext>
            </a:extLst>
          </p:cNvPr>
          <p:cNvSpPr>
            <a:spLocks noGrp="1"/>
          </p:cNvSpPr>
          <p:nvPr/>
        </p:nvSpPr>
        <p:spPr>
          <a:xfrm>
            <a:off x="609600" y="2398330"/>
            <a:ext cx="1943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衝突</a:t>
            </a:r>
          </a:p>
        </p:txBody>
      </p:sp>
      <p:sp>
        <p:nvSpPr>
          <p:cNvPr id="6" name="程序紀錄與可見 route 不一致，不能立即把畫面當成 USA 驗收。">
            <a:extLst>
              <a:ext uri="{FF2B5EF4-FFF2-40B4-BE49-F238E27FC236}">
                <a16:creationId xmlns:a16="http://schemas.microsoft.com/office/drawing/2014/main" id="{4DDC0721-C17B-4DCE-B0CC-081C35D8D007}"/>
              </a:ext>
            </a:extLst>
          </p:cNvPr>
          <p:cNvSpPr>
            <a:spLocks noGrp="1"/>
          </p:cNvSpPr>
          <p:nvPr/>
        </p:nvSpPr>
        <p:spPr>
          <a:xfrm>
            <a:off x="2857500" y="2398330"/>
            <a:ext cx="87249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程序紀錄與可見 route 不一致，不能立即把畫面當成 USA 驗收。</a:t>
            </a:r>
          </a:p>
        </p:txBody>
      </p:sp>
      <p:sp>
        <p:nvSpPr>
          <p:cNvPr id="7" name="Fixed-position line">
            <a:extLst>
              <a:ext uri="{FF2B5EF4-FFF2-40B4-BE49-F238E27FC236}">
                <a16:creationId xmlns:a16="http://schemas.microsoft.com/office/drawing/2014/main" id="{79821F34-934E-4C58-BD51-01102B9C518C}"/>
              </a:ext>
            </a:extLst>
          </p:cNvPr>
          <p:cNvSpPr>
            <a:spLocks noGrp="1"/>
          </p:cNvSpPr>
          <p:nvPr/>
        </p:nvSpPr>
        <p:spPr>
          <a:xfrm>
            <a:off x="1038225" y="2950780"/>
            <a:ext cx="0" cy="238125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8" name="Fixed-position arrowhead">
            <a:extLst>
              <a:ext uri="{FF2B5EF4-FFF2-40B4-BE49-F238E27FC236}">
                <a16:creationId xmlns:a16="http://schemas.microsoft.com/office/drawing/2014/main" id="{9044E8BC-127E-4313-806A-3F5B28724D98}"/>
              </a:ext>
            </a:extLst>
          </p:cNvPr>
          <p:cNvSpPr>
            <a:spLocks noGrp="1"/>
          </p:cNvSpPr>
          <p:nvPr/>
        </p:nvSpPr>
        <p:spPr>
          <a:xfrm>
            <a:off x="971550" y="3055555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0"/>
                </a:lnTo>
                <a:lnTo>
                  <a:pt x="66675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9" name="查證">
            <a:extLst>
              <a:ext uri="{FF2B5EF4-FFF2-40B4-BE49-F238E27FC236}">
                <a16:creationId xmlns:a16="http://schemas.microsoft.com/office/drawing/2014/main" id="{DEDC39FA-49D1-4013-963E-4701455D463D}"/>
              </a:ext>
            </a:extLst>
          </p:cNvPr>
          <p:cNvSpPr>
            <a:spLocks noGrp="1"/>
          </p:cNvSpPr>
          <p:nvPr/>
        </p:nvSpPr>
        <p:spPr>
          <a:xfrm>
            <a:off x="609600" y="3227005"/>
            <a:ext cx="1943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查證</a:t>
            </a:r>
          </a:p>
        </p:txBody>
      </p:sp>
      <p:sp>
        <p:nvSpPr>
          <p:cNvPr id="10" name="重新連線；核對 VNC 視窗與當時 Display hostname。">
            <a:extLst>
              <a:ext uri="{FF2B5EF4-FFF2-40B4-BE49-F238E27FC236}">
                <a16:creationId xmlns:a16="http://schemas.microsoft.com/office/drawing/2014/main" id="{074B0D3A-D255-4AFD-815F-131D47E08752}"/>
              </a:ext>
            </a:extLst>
          </p:cNvPr>
          <p:cNvSpPr>
            <a:spLocks noGrp="1"/>
          </p:cNvSpPr>
          <p:nvPr/>
        </p:nvSpPr>
        <p:spPr>
          <a:xfrm>
            <a:off x="2857500" y="3227005"/>
            <a:ext cx="87249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重新連線；核對 VNC 視窗與當時 Display hostname。</a:t>
            </a:r>
          </a:p>
        </p:txBody>
      </p:sp>
      <p:sp>
        <p:nvSpPr>
          <p:cNvPr id="11" name="Fixed-position line">
            <a:extLst>
              <a:ext uri="{FF2B5EF4-FFF2-40B4-BE49-F238E27FC236}">
                <a16:creationId xmlns:a16="http://schemas.microsoft.com/office/drawing/2014/main" id="{74288002-99F9-429A-B3EE-6C7721A76BF9}"/>
              </a:ext>
            </a:extLst>
          </p:cNvPr>
          <p:cNvSpPr>
            <a:spLocks noGrp="1"/>
          </p:cNvSpPr>
          <p:nvPr/>
        </p:nvSpPr>
        <p:spPr>
          <a:xfrm>
            <a:off x="1038225" y="3779455"/>
            <a:ext cx="0" cy="238125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2" name="Fixed-position arrowhead">
            <a:extLst>
              <a:ext uri="{FF2B5EF4-FFF2-40B4-BE49-F238E27FC236}">
                <a16:creationId xmlns:a16="http://schemas.microsoft.com/office/drawing/2014/main" id="{A7535DD1-57C0-4FB9-B875-30FFD7F44A17}"/>
              </a:ext>
            </a:extLst>
          </p:cNvPr>
          <p:cNvSpPr>
            <a:spLocks noGrp="1"/>
          </p:cNvSpPr>
          <p:nvPr/>
        </p:nvSpPr>
        <p:spPr>
          <a:xfrm>
            <a:off x="971550" y="3884230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0"/>
                </a:lnTo>
                <a:lnTo>
                  <a:pt x="66675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3" name="發現">
            <a:extLst>
              <a:ext uri="{FF2B5EF4-FFF2-40B4-BE49-F238E27FC236}">
                <a16:creationId xmlns:a16="http://schemas.microsoft.com/office/drawing/2014/main" id="{17C4C96F-2B9E-4248-90EB-22823B68CADF}"/>
              </a:ext>
            </a:extLst>
          </p:cNvPr>
          <p:cNvSpPr>
            <a:spLocks noGrp="1"/>
          </p:cNvSpPr>
          <p:nvPr/>
        </p:nvSpPr>
        <p:spPr>
          <a:xfrm>
            <a:off x="609600" y="4055680"/>
            <a:ext cx="1943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發現</a:t>
            </a:r>
          </a:p>
        </p:txBody>
      </p:sp>
      <p:sp>
        <p:nvSpPr>
          <p:cNvPr id="14" name="歷史視窗 357c93456a28:99 與容器 357c93456a28 一致。">
            <a:extLst>
              <a:ext uri="{FF2B5EF4-FFF2-40B4-BE49-F238E27FC236}">
                <a16:creationId xmlns:a16="http://schemas.microsoft.com/office/drawing/2014/main" id="{5A3C7801-E337-408B-9555-4EBD105B4BA5}"/>
              </a:ext>
            </a:extLst>
          </p:cNvPr>
          <p:cNvSpPr>
            <a:spLocks noGrp="1"/>
          </p:cNvSpPr>
          <p:nvPr/>
        </p:nvSpPr>
        <p:spPr>
          <a:xfrm>
            <a:off x="2857500" y="4055680"/>
            <a:ext cx="87249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歷史視窗 357c93456a28:99 與容器 357c93456a28 一致。</a:t>
            </a:r>
          </a:p>
        </p:txBody>
      </p:sp>
      <p:sp>
        <p:nvSpPr>
          <p:cNvPr id="15" name="Fixed-position line">
            <a:extLst>
              <a:ext uri="{FF2B5EF4-FFF2-40B4-BE49-F238E27FC236}">
                <a16:creationId xmlns:a16="http://schemas.microsoft.com/office/drawing/2014/main" id="{A826C7B6-7085-4287-9AA2-E0156AFC2073}"/>
              </a:ext>
            </a:extLst>
          </p:cNvPr>
          <p:cNvSpPr>
            <a:spLocks noGrp="1"/>
          </p:cNvSpPr>
          <p:nvPr/>
        </p:nvSpPr>
        <p:spPr>
          <a:xfrm>
            <a:off x="1038225" y="4608130"/>
            <a:ext cx="0" cy="238125"/>
          </a:xfrm>
          <a:prstGeom prst="line">
            <a:avLst/>
          </a:prstGeom>
          <a:noFill/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6" name="Fixed-position arrowhead">
            <a:extLst>
              <a:ext uri="{FF2B5EF4-FFF2-40B4-BE49-F238E27FC236}">
                <a16:creationId xmlns:a16="http://schemas.microsoft.com/office/drawing/2014/main" id="{D8CA7C1F-845C-4750-A5C4-B66FCBD0C0DA}"/>
              </a:ext>
            </a:extLst>
          </p:cNvPr>
          <p:cNvSpPr>
            <a:spLocks noGrp="1"/>
          </p:cNvSpPr>
          <p:nvPr/>
        </p:nvSpPr>
        <p:spPr>
          <a:xfrm>
            <a:off x="971550" y="4712905"/>
            <a:ext cx="133350" cy="133350"/>
          </a:xfrm>
          <a:custGeom>
            <a:avLst/>
            <a:gdLst/>
            <a:ahLst/>
            <a:cxnLst/>
            <a:rect l="0" t="0" r="0" b="0"/>
            <a:pathLst>
              <a:path w="133350" h="133350">
                <a:moveTo>
                  <a:pt x="0" y="0"/>
                </a:moveTo>
                <a:lnTo>
                  <a:pt x="133350" y="0"/>
                </a:lnTo>
                <a:lnTo>
                  <a:pt x="66675" y="133350"/>
                </a:lnTo>
                <a:close/>
              </a:path>
            </a:pathLst>
          </a:custGeom>
          <a:solidFill>
            <a:srgbClr val="0369A1"/>
          </a:solidFill>
          <a:ln w="0">
            <a:noFill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7" name="驗收">
            <a:extLst>
              <a:ext uri="{FF2B5EF4-FFF2-40B4-BE49-F238E27FC236}">
                <a16:creationId xmlns:a16="http://schemas.microsoft.com/office/drawing/2014/main" id="{A03C534C-608D-4E8C-AEC8-D9697A62242D}"/>
              </a:ext>
            </a:extLst>
          </p:cNvPr>
          <p:cNvSpPr>
            <a:spLocks noGrp="1"/>
          </p:cNvSpPr>
          <p:nvPr/>
        </p:nvSpPr>
        <p:spPr>
          <a:xfrm>
            <a:off x="609600" y="4884355"/>
            <a:ext cx="1943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250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驗收</a:t>
            </a:r>
          </a:p>
        </p:txBody>
      </p:sp>
      <p:sp>
        <p:nvSpPr>
          <p:cNvPr id="18" name="才記錄 USA 日間道路 / 車道與 52 mph；排除舊視窗觀察。">
            <a:extLst>
              <a:ext uri="{FF2B5EF4-FFF2-40B4-BE49-F238E27FC236}">
                <a16:creationId xmlns:a16="http://schemas.microsoft.com/office/drawing/2014/main" id="{DD9611F5-93F6-42C2-B13C-85B22FED760A}"/>
              </a:ext>
            </a:extLst>
          </p:cNvPr>
          <p:cNvSpPr>
            <a:spLocks noGrp="1"/>
          </p:cNvSpPr>
          <p:nvPr/>
        </p:nvSpPr>
        <p:spPr>
          <a:xfrm>
            <a:off x="2857500" y="4884355"/>
            <a:ext cx="87249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才記錄 USA 日間道路 / 車道與 52 mph；排除舊視窗觀察。</a:t>
            </a:r>
          </a:p>
        </p:txBody>
      </p:sp>
    </p:spTree>
    <p:extLst>
      <p:ext uri="{BB962C8B-B14F-4D97-AF65-F5344CB8AC3E}">
        <p14:creationId xmlns:p14="http://schemas.microsoft.com/office/powerpoint/2010/main" val="2020541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Edited text 127"/>
          <p:cNvSpPr txBox="1"/>
          <p:nvPr/>
        </p:nvSpPr>
        <p:spPr>
          <a:xfrm>
            <a:off x="609600" y="552450"/>
            <a:ext cx="10972800" cy="904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3080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以 Taiwan 回放示範日常流程</a:t>
            </a:r>
          </a:p>
        </p:txBody>
      </p:sp>
      <p:sp>
        <p:nvSpPr>
          <p:cNvPr id="128" name="Edited text 128"/>
          <p:cNvSpPr txBox="1"/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2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22</a:t>
            </a:r>
          </a:p>
        </p:txBody>
      </p:sp>
      <p:sp>
        <p:nvSpPr>
          <p:cNvPr id="129" name="Edited text 129"/>
          <p:cNvSpPr txBox="1"/>
          <p:nvPr/>
        </p:nvSpPr>
        <p:spPr>
          <a:xfrm>
            <a:off x="609600" y="1438275"/>
            <a:ext cx="67151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01  啟動服務</a:t>
            </a:r>
          </a:p>
        </p:txBody>
      </p:sp>
      <p:sp>
        <p:nvSpPr>
          <p:cNvPr id="130" name="Edited text 130"/>
          <p:cNvSpPr txBox="1"/>
          <p:nvPr/>
        </p:nvSpPr>
        <p:spPr>
          <a:xfrm>
            <a:off x="609600" y="1819275"/>
            <a:ext cx="671512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0F172A"/>
                </a:solidFill>
                <a:latin typeface="Menlo"/>
                <a:ea typeface="Menlo"/>
                <a:cs typeface="Menlo"/>
              </a:rPr>
              <a:t>./scripts/openpilot.sh up</a:t>
            </a:r>
          </a:p>
        </p:txBody>
      </p:sp>
      <p:sp>
        <p:nvSpPr>
          <p:cNvPr id="131" name="Edited text 131"/>
          <p:cNvSpPr txBox="1"/>
          <p:nvPr/>
        </p:nvSpPr>
        <p:spPr>
          <a:xfrm>
            <a:off x="609600" y="2162175"/>
            <a:ext cx="67151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啟動 Compute／Display，保留既有資料 volumes。</a:t>
            </a:r>
          </a:p>
        </p:txBody>
      </p:sp>
      <p:sp>
        <p:nvSpPr>
          <p:cNvPr id="132" name="Edited text 132"/>
          <p:cNvSpPr txBox="1"/>
          <p:nvPr/>
        </p:nvSpPr>
        <p:spPr>
          <a:xfrm>
            <a:off x="609600" y="2524125"/>
            <a:ext cx="67151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02  開啟顯示桌面</a:t>
            </a:r>
          </a:p>
        </p:txBody>
      </p:sp>
      <p:sp>
        <p:nvSpPr>
          <p:cNvPr id="133" name="Edited text 133"/>
          <p:cNvSpPr txBox="1"/>
          <p:nvPr/>
        </p:nvSpPr>
        <p:spPr>
          <a:xfrm>
            <a:off x="609600" y="2905125"/>
            <a:ext cx="671512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0F172A"/>
                </a:solidFill>
                <a:latin typeface="Menlo"/>
                <a:ea typeface="Menlo"/>
                <a:cs typeface="Menlo"/>
              </a:rPr>
              <a:t>http://localhost:6080/vnc.html</a:t>
            </a:r>
          </a:p>
        </p:txBody>
      </p:sp>
      <p:sp>
        <p:nvSpPr>
          <p:cNvPr id="134" name="Edited text 134"/>
          <p:cNvSpPr txBox="1"/>
          <p:nvPr/>
        </p:nvSpPr>
        <p:spPr>
          <a:xfrm>
            <a:off x="609600" y="3248025"/>
            <a:ext cx="67151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在 Launcher 按 OpenPilot；也可用 VNC 5910。</a:t>
            </a:r>
          </a:p>
        </p:txBody>
      </p:sp>
      <p:sp>
        <p:nvSpPr>
          <p:cNvPr id="135" name="Edited text 135"/>
          <p:cNvSpPr txBox="1"/>
          <p:nvPr/>
        </p:nvSpPr>
        <p:spPr>
          <a:xfrm>
            <a:off x="609600" y="3609975"/>
            <a:ext cx="67151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03  回放 Taiwan 資料</a:t>
            </a:r>
          </a:p>
        </p:txBody>
      </p:sp>
      <p:sp>
        <p:nvSpPr>
          <p:cNvPr id="136" name="Edited text 136"/>
          <p:cNvSpPr txBox="1"/>
          <p:nvPr/>
        </p:nvSpPr>
        <p:spPr>
          <a:xfrm>
            <a:off x="609600" y="3990975"/>
            <a:ext cx="671512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0F172A"/>
                </a:solidFill>
                <a:latin typeface="Menlo"/>
                <a:ea typeface="Menlo"/>
                <a:cs typeface="Menlo"/>
              </a:rPr>
              <a:t>./scripts/openpilot.sh replay-jll-datac</a:t>
            </a:r>
          </a:p>
        </p:txBody>
      </p:sp>
      <p:sp>
        <p:nvSpPr>
          <p:cNvPr id="137" name="Edited text 137"/>
          <p:cNvSpPr txBox="1"/>
          <p:nvPr/>
        </p:nvSpPr>
        <p:spPr>
          <a:xfrm>
            <a:off x="609600" y="4333875"/>
            <a:ext cx="67151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快捷指令固定 .compat、dataC 路徑與 segment 61。</a:t>
            </a:r>
          </a:p>
        </p:txBody>
      </p:sp>
      <p:sp>
        <p:nvSpPr>
          <p:cNvPr id="138" name="Edited text 138"/>
          <p:cNvSpPr txBox="1"/>
          <p:nvPr/>
        </p:nvSpPr>
        <p:spPr>
          <a:xfrm>
            <a:off x="609600" y="4695825"/>
            <a:ext cx="67151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8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04  另開終端查核</a:t>
            </a:r>
          </a:p>
        </p:txBody>
      </p:sp>
      <p:sp>
        <p:nvSpPr>
          <p:cNvPr id="139" name="Edited text 139"/>
          <p:cNvSpPr txBox="1"/>
          <p:nvPr/>
        </p:nvSpPr>
        <p:spPr>
          <a:xfrm>
            <a:off x="609600" y="5076825"/>
            <a:ext cx="671512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75" b="0" noProof="1">
                <a:solidFill>
                  <a:srgbClr val="0F172A"/>
                </a:solidFill>
                <a:latin typeface="Menlo"/>
                <a:ea typeface="Menlo"/>
                <a:cs typeface="Menlo"/>
              </a:rPr>
              <a:t>./scripts/openpilot.sh validate</a:t>
            </a:r>
          </a:p>
        </p:txBody>
      </p:sp>
      <p:sp>
        <p:nvSpPr>
          <p:cNvPr id="140" name="Edited text 140"/>
          <p:cNvSpPr txBox="1"/>
          <p:nvPr/>
        </p:nvSpPr>
        <p:spPr>
          <a:xfrm>
            <a:off x="609600" y="5419725"/>
            <a:ext cx="67151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00" b="0" noProof="1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查服務／socket／library；再看 UI 道路與速度。</a:t>
            </a:r>
          </a:p>
        </p:txBody>
      </p:sp>
      <p:pic>
        <p:nvPicPr>
          <p:cNvPr id="141" name="launcher" descr="Actual replay screenshot; see slide notes for provenance."/>
          <p:cNvPicPr/>
          <p:nvPr/>
        </p:nvPicPr>
        <p:blipFill>
          <a:blip r:embed="rId3"/>
          <a:stretch>
            <a:fillRect/>
          </a:stretch>
        </p:blipFill>
        <p:spPr>
          <a:xfrm>
            <a:off x="7953375" y="1524000"/>
            <a:ext cx="1809750" cy="1120321"/>
          </a:xfrm>
          <a:prstGeom prst="rect">
            <a:avLst/>
          </a:prstGeom>
        </p:spPr>
      </p:pic>
      <p:sp>
        <p:nvSpPr>
          <p:cNvPr id="142" name="Edited text 142"/>
          <p:cNvSpPr txBox="1"/>
          <p:nvPr/>
        </p:nvSpPr>
        <p:spPr>
          <a:xfrm>
            <a:off x="9953625" y="1676400"/>
            <a:ext cx="1628775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實際 Launcher</a:t>
            </a:r>
          </a:p>
          <a:p>
            <a:pPr>
              <a:lnSpc>
                <a:spcPct val="112000"/>
              </a:lnSpc>
              <a:buNone/>
            </a:pPr>
            <a:r>
              <a:rPr lang="zh-TW" sz="15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OpenPilot 啟動入口</a:t>
            </a:r>
          </a:p>
        </p:txBody>
      </p:sp>
      <p:pic>
        <p:nvPicPr>
          <p:cNvPr id="143" name="taiwan" descr="Actual replay screenshot; see slide notes for provenance."/>
          <p:cNvPicPr/>
          <p:nvPr/>
        </p:nvPicPr>
        <p:blipFill>
          <a:blip r:embed="rId4"/>
          <a:stretch>
            <a:fillRect/>
          </a:stretch>
        </p:blipFill>
        <p:spPr>
          <a:xfrm>
            <a:off x="7964488" y="3114675"/>
            <a:ext cx="3606800" cy="2028825"/>
          </a:xfrm>
          <a:prstGeom prst="rect">
            <a:avLst/>
          </a:prstGeom>
        </p:spPr>
      </p:pic>
      <p:sp>
        <p:nvSpPr>
          <p:cNvPr id="144" name="Edited text 144"/>
          <p:cNvSpPr txBox="1"/>
          <p:nvPr/>
        </p:nvSpPr>
        <p:spPr>
          <a:xfrm>
            <a:off x="7953375" y="5324475"/>
            <a:ext cx="36290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buNone/>
            </a:pPr>
            <a:r>
              <a:rPr lang="zh-TW" sz="15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Taiwan 夜間道路 · 19 mph</a:t>
            </a:r>
          </a:p>
          <a:p>
            <a:pPr>
              <a:lnSpc>
                <a:spcPct val="112000"/>
              </a:lnSpc>
              <a:buNone/>
            </a:pPr>
            <a:r>
              <a:rPr lang="zh-TW" sz="15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2026-10-13 實際回放擷取</a:t>
            </a:r>
          </a:p>
        </p:txBody>
      </p:sp>
      <p:sp>
        <p:nvSpPr>
          <p:cNvPr id="145" name="Rule 145"/>
          <p:cNvSpPr/>
          <p:nvPr/>
        </p:nvSpPr>
        <p:spPr>
          <a:xfrm>
            <a:off x="609600" y="5981700"/>
            <a:ext cx="109728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1115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技術理解：每個概念都有實作對應">
            <a:extLst>
              <a:ext uri="{FF2B5EF4-FFF2-40B4-BE49-F238E27FC236}">
                <a16:creationId xmlns:a16="http://schemas.microsoft.com/office/drawing/2014/main" id="{D2908DFC-991F-4DB6-9FA8-9FCBE43BC07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技術理解：每個概念都有實作對應</a:t>
            </a:r>
          </a:p>
        </p:txBody>
      </p:sp>
      <p:sp>
        <p:nvSpPr>
          <p:cNvPr id="3" name="23">
            <a:extLst>
              <a:ext uri="{FF2B5EF4-FFF2-40B4-BE49-F238E27FC236}">
                <a16:creationId xmlns:a16="http://schemas.microsoft.com/office/drawing/2014/main" id="{79273E4A-5B3D-4D69-83F9-D4AC24B4DFB2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23</a:t>
            </a:r>
          </a:p>
        </p:txBody>
      </p:sp>
      <p:sp>
        <p:nvSpPr>
          <p:cNvPr id="4" name="環境 / 服務邊界">
            <a:extLst>
              <a:ext uri="{FF2B5EF4-FFF2-40B4-BE49-F238E27FC236}">
                <a16:creationId xmlns:a16="http://schemas.microsoft.com/office/drawing/2014/main" id="{4A4CB6B1-BBFB-48C2-A3E5-ED0EFB1F319D}"/>
              </a:ext>
            </a:extLst>
          </p:cNvPr>
          <p:cNvSpPr>
            <a:spLocks noGrp="1"/>
          </p:cNvSpPr>
          <p:nvPr/>
        </p:nvSpPr>
        <p:spPr>
          <a:xfrm>
            <a:off x="609600" y="1497068"/>
            <a:ext cx="286702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環境 / 服務邊界</a:t>
            </a:r>
          </a:p>
        </p:txBody>
      </p:sp>
      <p:sp>
        <p:nvSpPr>
          <p:cNvPr id="5" name="一致 Ubuntu 基底 + Compute / Display 分工&#10;隔離部署責任，仍明確共享">
            <a:extLst>
              <a:ext uri="{FF2B5EF4-FFF2-40B4-BE49-F238E27FC236}">
                <a16:creationId xmlns:a16="http://schemas.microsoft.com/office/drawing/2014/main" id="{CC2CA55A-6284-4FED-87FD-266D134A4E4E}"/>
              </a:ext>
            </a:extLst>
          </p:cNvPr>
          <p:cNvSpPr>
            <a:spLocks noGrp="1"/>
          </p:cNvSpPr>
          <p:nvPr/>
        </p:nvSpPr>
        <p:spPr>
          <a:xfrm>
            <a:off x="3695700" y="1497068"/>
            <a:ext cx="78867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一致 Ubuntu 基底 + Compute / Display 分工</a:t>
            </a: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隔離部署責任，仍明確共享必要 IPC。</a:t>
            </a:r>
          </a:p>
        </p:txBody>
      </p:sp>
      <p:sp>
        <p:nvSpPr>
          <p:cNvPr id="6" name="Fixed-position line">
            <a:extLst>
              <a:ext uri="{FF2B5EF4-FFF2-40B4-BE49-F238E27FC236}">
                <a16:creationId xmlns:a16="http://schemas.microsoft.com/office/drawing/2014/main" id="{D565F4C1-1986-4571-B8D9-B083003E53F9}"/>
              </a:ext>
            </a:extLst>
          </p:cNvPr>
          <p:cNvSpPr>
            <a:spLocks noGrp="1"/>
          </p:cNvSpPr>
          <p:nvPr/>
        </p:nvSpPr>
        <p:spPr>
          <a:xfrm>
            <a:off x="3695700" y="2497193"/>
            <a:ext cx="78867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7" name="ABI / Build / Link">
            <a:extLst>
              <a:ext uri="{FF2B5EF4-FFF2-40B4-BE49-F238E27FC236}">
                <a16:creationId xmlns:a16="http://schemas.microsoft.com/office/drawing/2014/main" id="{8B888981-D9A7-4DE4-9DCA-B27687B84328}"/>
              </a:ext>
            </a:extLst>
          </p:cNvPr>
          <p:cNvSpPr>
            <a:spLocks noGrp="1"/>
          </p:cNvSpPr>
          <p:nvPr/>
        </p:nvSpPr>
        <p:spPr>
          <a:xfrm>
            <a:off x="609600" y="2601968"/>
            <a:ext cx="286702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ABI / Build / Link</a:t>
            </a:r>
          </a:p>
        </p:txBody>
      </p:sp>
      <p:sp>
        <p:nvSpPr>
          <p:cNvPr id="8" name="以 offset 與 sizeof(header) 判讀介面落差；&#10;重建相同 source 的 ">
            <a:extLst>
              <a:ext uri="{FF2B5EF4-FFF2-40B4-BE49-F238E27FC236}">
                <a16:creationId xmlns:a16="http://schemas.microsoft.com/office/drawing/2014/main" id="{ED80175B-3527-4975-AF8D-E2F19186A950}"/>
              </a:ext>
            </a:extLst>
          </p:cNvPr>
          <p:cNvSpPr>
            <a:spLocks noGrp="1"/>
          </p:cNvSpPr>
          <p:nvPr/>
        </p:nvSpPr>
        <p:spPr>
          <a:xfrm>
            <a:off x="3695700" y="2601968"/>
            <a:ext cx="78867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以 offset 與 sizeof(header) 判讀介面落差；</a:t>
            </a: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重建相同 source 的 target，保護原版與對照。</a:t>
            </a:r>
          </a:p>
        </p:txBody>
      </p:sp>
      <p:sp>
        <p:nvSpPr>
          <p:cNvPr id="9" name="Fixed-position line">
            <a:extLst>
              <a:ext uri="{FF2B5EF4-FFF2-40B4-BE49-F238E27FC236}">
                <a16:creationId xmlns:a16="http://schemas.microsoft.com/office/drawing/2014/main" id="{68600E13-0552-4ACB-AE6A-0799BA902745}"/>
              </a:ext>
            </a:extLst>
          </p:cNvPr>
          <p:cNvSpPr>
            <a:spLocks noGrp="1"/>
          </p:cNvSpPr>
          <p:nvPr/>
        </p:nvSpPr>
        <p:spPr>
          <a:xfrm>
            <a:off x="3695700" y="3602093"/>
            <a:ext cx="78867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0" name="就緒 / 訊息 / 觀察">
            <a:extLst>
              <a:ext uri="{FF2B5EF4-FFF2-40B4-BE49-F238E27FC236}">
                <a16:creationId xmlns:a16="http://schemas.microsoft.com/office/drawing/2014/main" id="{A12381AB-CED1-4B2A-AA0F-2F61DDD10D7E}"/>
              </a:ext>
            </a:extLst>
          </p:cNvPr>
          <p:cNvSpPr>
            <a:spLocks noGrp="1"/>
          </p:cNvSpPr>
          <p:nvPr/>
        </p:nvSpPr>
        <p:spPr>
          <a:xfrm>
            <a:off x="609600" y="3706868"/>
            <a:ext cx="286702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就緒 / 訊息 / 觀察</a:t>
            </a:r>
          </a:p>
        </p:txBody>
      </p:sp>
      <p:sp>
        <p:nvSpPr>
          <p:cNvPr id="11" name="X11 socket + PID、ignition 訂閱、VNC hostname&#10;各自回答不同">
            <a:extLst>
              <a:ext uri="{FF2B5EF4-FFF2-40B4-BE49-F238E27FC236}">
                <a16:creationId xmlns:a16="http://schemas.microsoft.com/office/drawing/2014/main" id="{F390CE65-6A30-4A65-9D81-0510DBFF0254}"/>
              </a:ext>
            </a:extLst>
          </p:cNvPr>
          <p:cNvSpPr>
            <a:spLocks noGrp="1"/>
          </p:cNvSpPr>
          <p:nvPr/>
        </p:nvSpPr>
        <p:spPr>
          <a:xfrm>
            <a:off x="3695700" y="3706868"/>
            <a:ext cx="78867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X11 socket + PID、ignition 訂閱、VNC hostname</a:t>
            </a: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各自回答不同層級的可用性問題。</a:t>
            </a:r>
          </a:p>
        </p:txBody>
      </p:sp>
      <p:sp>
        <p:nvSpPr>
          <p:cNvPr id="12" name="Fixed-position line">
            <a:extLst>
              <a:ext uri="{FF2B5EF4-FFF2-40B4-BE49-F238E27FC236}">
                <a16:creationId xmlns:a16="http://schemas.microsoft.com/office/drawing/2014/main" id="{5E5B0406-FD0F-4990-92D5-9BFD6E6271F4}"/>
              </a:ext>
            </a:extLst>
          </p:cNvPr>
          <p:cNvSpPr>
            <a:spLocks noGrp="1"/>
          </p:cNvSpPr>
          <p:nvPr/>
        </p:nvSpPr>
        <p:spPr>
          <a:xfrm>
            <a:off x="3695700" y="4706993"/>
            <a:ext cx="78867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3" name="驗證推理">
            <a:extLst>
              <a:ext uri="{FF2B5EF4-FFF2-40B4-BE49-F238E27FC236}">
                <a16:creationId xmlns:a16="http://schemas.microsoft.com/office/drawing/2014/main" id="{E571B4AF-20CF-4629-BDD3-65DD1C4AC2F5}"/>
              </a:ext>
            </a:extLst>
          </p:cNvPr>
          <p:cNvSpPr>
            <a:spLocks noGrp="1"/>
          </p:cNvSpPr>
          <p:nvPr/>
        </p:nvSpPr>
        <p:spPr>
          <a:xfrm>
            <a:off x="609600" y="4811768"/>
            <a:ext cx="286702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1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100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驗證推理</a:t>
            </a:r>
          </a:p>
        </p:txBody>
      </p:sp>
      <p:sp>
        <p:nvSpPr>
          <p:cNvPr id="14" name="hash 是身份、CRC 是資料完整性、截圖是片段可見結果；&#10;任何一種證據都不能單獨代替其他驗收">
            <a:extLst>
              <a:ext uri="{FF2B5EF4-FFF2-40B4-BE49-F238E27FC236}">
                <a16:creationId xmlns:a16="http://schemas.microsoft.com/office/drawing/2014/main" id="{2A3D3906-CDBE-4BB5-A4F4-BC01C4B4690B}"/>
              </a:ext>
            </a:extLst>
          </p:cNvPr>
          <p:cNvSpPr>
            <a:spLocks noGrp="1"/>
          </p:cNvSpPr>
          <p:nvPr/>
        </p:nvSpPr>
        <p:spPr>
          <a:xfrm>
            <a:off x="3695700" y="4811768"/>
            <a:ext cx="78867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hash 是身份、CRC 是資料完整性、截圖是片段可見結果；</a:t>
            </a:r>
          </a:p>
          <a:p>
            <a:pPr algn="l">
              <a:lnSpc>
                <a:spcPct val="116000"/>
              </a:lnSpc>
              <a:buNone/>
              <a:defRPr sz="1950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任何一種證據都不能單獨代替其他驗收。</a:t>
            </a:r>
          </a:p>
        </p:txBody>
      </p:sp>
    </p:spTree>
    <p:extLst>
      <p:ext uri="{BB962C8B-B14F-4D97-AF65-F5344CB8AC3E}">
        <p14:creationId xmlns:p14="http://schemas.microsoft.com/office/powerpoint/2010/main" val="334576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驗證分層：什麼證據回答什麼問題">
            <a:extLst>
              <a:ext uri="{FF2B5EF4-FFF2-40B4-BE49-F238E27FC236}">
                <a16:creationId xmlns:a16="http://schemas.microsoft.com/office/drawing/2014/main" id="{AA9AE56C-D941-49FE-A85B-3C944D8298F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驗證分層：什麼證據回答什麼問題</a:t>
            </a:r>
          </a:p>
        </p:txBody>
      </p:sp>
      <p:sp>
        <p:nvSpPr>
          <p:cNvPr id="3" name="24">
            <a:extLst>
              <a:ext uri="{FF2B5EF4-FFF2-40B4-BE49-F238E27FC236}">
                <a16:creationId xmlns:a16="http://schemas.microsoft.com/office/drawing/2014/main" id="{BEA4EBCA-76A4-47B8-8739-6373604D8532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24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F9EDC0D-AB16-4BB2-8CC3-0236376FD1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9628729"/>
              </p:ext>
            </p:extLst>
          </p:nvPr>
        </p:nvGraphicFramePr>
        <p:xfrm>
          <a:off x="609600" y="1641259"/>
          <a:ext cx="10972800" cy="4029075"/>
        </p:xfrm>
        <a:graphic>
          <a:graphicData uri="http://schemas.openxmlformats.org/drawingml/2006/table">
            <a:tbl>
              <a:tblPr/>
              <a:tblGrid>
                <a:gridCol w="3343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581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1" noProof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證據種類 / 時點</a:t>
                      </a:r>
                    </a:p>
                  </a:txBody>
                  <a:tcPr marL="152400" marR="152400" marT="114300" marB="11430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1" noProof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能回答</a:t>
                      </a:r>
                    </a:p>
                  </a:txBody>
                  <a:tcPr marL="152400" marR="152400" marT="114300" marB="114300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1" noProof="1">
                          <a:solidFill>
                            <a:srgbClr val="FFFFFF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不能替代</a:t>
                      </a:r>
                    </a:p>
                  </a:txBody>
                  <a:tcPr marL="152400" marR="152400" marT="114300" marB="114300">
                    <a:solidFill>
                      <a:srgbClr val="0369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581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歷史 Build / 10-04 驗收紀錄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當時基底 build 與道路片段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曾被記錄為成功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本次 fresh build / 全 route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81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保存的官方截圖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道路、車道 / 路徑、速度可見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各 JLL route 的獨立影像證明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581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本次唯讀版本 / hash / 檔案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現有 binary 身份、服務健康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dataC 存在、dataB6 inventory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新道路驗收 / 原 ZIP CRC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5815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程式 / Git meaningful diffs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修正如何實現、屬於哪個階段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725" b="0" noProof="1">
                          <a:solidFill>
                            <a:srgbClr val="0F172A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僅憑 commit title 推定成功</a:t>
                      </a:r>
                    </a:p>
                  </a:txBody>
                  <a:tcPr marL="152400" marR="152400" marT="114300" marB="1143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866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尚需驗證：保留誠實且具體的邊界">
            <a:extLst>
              <a:ext uri="{FF2B5EF4-FFF2-40B4-BE49-F238E27FC236}">
                <a16:creationId xmlns:a16="http://schemas.microsoft.com/office/drawing/2014/main" id="{35F96996-79BE-4734-AF75-0E29C4B9BE0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3075" b="1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驗證邊界：目前尚未建立充分證據的項目</a:t>
            </a:r>
            <a:endParaRPr sz="3075" noProof="1"/>
          </a:p>
        </p:txBody>
      </p:sp>
      <p:sp>
        <p:nvSpPr>
          <p:cNvPr id="3" name="25">
            <a:extLst>
              <a:ext uri="{FF2B5EF4-FFF2-40B4-BE49-F238E27FC236}">
                <a16:creationId xmlns:a16="http://schemas.microsoft.com/office/drawing/2014/main" id="{CF51C744-A46D-45B8-BD1F-3A19A4CE8B90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25</a:t>
            </a:r>
          </a:p>
        </p:txBody>
      </p:sp>
      <p:sp>
        <p:nvSpPr>
          <p:cNvPr id="4" name="NOT VERIFIED｜缺乏充分驗收證據的項目">
            <a:extLst>
              <a:ext uri="{FF2B5EF4-FFF2-40B4-BE49-F238E27FC236}">
                <a16:creationId xmlns:a16="http://schemas.microsoft.com/office/drawing/2014/main" id="{A16FF2B8-26D9-49D2-A825-C1C5169E7AAF}"/>
              </a:ext>
            </a:extLst>
          </p:cNvPr>
          <p:cNvSpPr>
            <a:spLocks noGrp="1"/>
          </p:cNvSpPr>
          <p:nvPr/>
        </p:nvSpPr>
        <p:spPr>
          <a:xfrm>
            <a:off x="609600" y="1514475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3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3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NOT VERIFIED｜缺乏充分驗收證據的項目</a:t>
            </a:r>
          </a:p>
        </p:txBody>
      </p:sp>
      <p:sp>
        <p:nvSpPr>
          <p:cNvPr id="5" name="完整流程 / 重現">
            <a:extLst>
              <a:ext uri="{FF2B5EF4-FFF2-40B4-BE49-F238E27FC236}">
                <a16:creationId xmlns:a16="http://schemas.microsoft.com/office/drawing/2014/main" id="{0E5D5692-61C9-4660-BAB0-84A04376909B}"/>
              </a:ext>
            </a:extLst>
          </p:cNvPr>
          <p:cNvSpPr>
            <a:spLocks noGrp="1"/>
          </p:cNvSpPr>
          <p:nvPr/>
        </p:nvSpPr>
        <p:spPr>
          <a:xfrm>
            <a:off x="609600" y="2207830"/>
            <a:ext cx="283845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完整流程 / 重現</a:t>
            </a:r>
          </a:p>
        </p:txBody>
      </p:sp>
      <p:sp>
        <p:nvSpPr>
          <p:cNvPr id="6" name="新空 volumes 還原；tools092 overlay 全量 clean build；&#10;教">
            <a:extLst>
              <a:ext uri="{FF2B5EF4-FFF2-40B4-BE49-F238E27FC236}">
                <a16:creationId xmlns:a16="http://schemas.microsoft.com/office/drawing/2014/main" id="{FE041610-310F-4556-A922-0792961BB014}"/>
              </a:ext>
            </a:extLst>
          </p:cNvPr>
          <p:cNvSpPr>
            <a:spLocks noGrp="1"/>
          </p:cNvSpPr>
          <p:nvPr/>
        </p:nvSpPr>
        <p:spPr>
          <a:xfrm>
            <a:off x="3695700" y="2207830"/>
            <a:ext cx="788670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新空 volumes 還原；tools092 overlay 全量 clean build；</a:t>
            </a:r>
          </a:p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教授 sconsvenv / lock 原樣流程；原版 plain demo / 全 segments。</a:t>
            </a:r>
          </a:p>
        </p:txBody>
      </p:sp>
      <p:sp>
        <p:nvSpPr>
          <p:cNvPr id="7" name="Fixed-position line">
            <a:extLst>
              <a:ext uri="{FF2B5EF4-FFF2-40B4-BE49-F238E27FC236}">
                <a16:creationId xmlns:a16="http://schemas.microsoft.com/office/drawing/2014/main" id="{93370E0B-9C61-4A84-A1BF-4ED152D286F3}"/>
              </a:ext>
            </a:extLst>
          </p:cNvPr>
          <p:cNvSpPr>
            <a:spLocks noGrp="1"/>
          </p:cNvSpPr>
          <p:nvPr/>
        </p:nvSpPr>
        <p:spPr>
          <a:xfrm>
            <a:off x="609600" y="3312730"/>
            <a:ext cx="10972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8" name="保存 / 課程參考">
            <a:extLst>
              <a:ext uri="{FF2B5EF4-FFF2-40B4-BE49-F238E27FC236}">
                <a16:creationId xmlns:a16="http://schemas.microsoft.com/office/drawing/2014/main" id="{99FC4538-EE41-4EB8-8C00-E8147EF83AD6}"/>
              </a:ext>
            </a:extLst>
          </p:cNvPr>
          <p:cNvSpPr>
            <a:spLocks noGrp="1"/>
          </p:cNvSpPr>
          <p:nvPr/>
        </p:nvSpPr>
        <p:spPr>
          <a:xfrm>
            <a:off x="609600" y="3465130"/>
            <a:ext cx="283845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保存 / 課程參考</a:t>
            </a:r>
          </a:p>
        </p:txBody>
      </p:sp>
      <p:sp>
        <p:nvSpPr>
          <p:cNvPr id="9" name="archives 來源復原、aJLL 遠端 manifest；&#10;VSC / Copilot / ">
            <a:extLst>
              <a:ext uri="{FF2B5EF4-FFF2-40B4-BE49-F238E27FC236}">
                <a16:creationId xmlns:a16="http://schemas.microsoft.com/office/drawing/2014/main" id="{B236A670-184D-4F26-ABA7-B236B0890FDA}"/>
              </a:ext>
            </a:extLst>
          </p:cNvPr>
          <p:cNvSpPr>
            <a:spLocks noGrp="1"/>
          </p:cNvSpPr>
          <p:nvPr/>
        </p:nvSpPr>
        <p:spPr>
          <a:xfrm>
            <a:off x="3695700" y="3465130"/>
            <a:ext cx="78867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archives 來源復原、aJLL 遠端 manifest；</a:t>
            </a:r>
          </a:p>
        </p:txBody>
      </p:sp>
      <p:sp>
        <p:nvSpPr>
          <p:cNvPr id="10" name="Fixed-position line">
            <a:extLst>
              <a:ext uri="{FF2B5EF4-FFF2-40B4-BE49-F238E27FC236}">
                <a16:creationId xmlns:a16="http://schemas.microsoft.com/office/drawing/2014/main" id="{9D63B503-696D-48E8-BACB-FD6A64BD8583}"/>
              </a:ext>
            </a:extLst>
          </p:cNvPr>
          <p:cNvSpPr>
            <a:spLocks noGrp="1"/>
          </p:cNvSpPr>
          <p:nvPr/>
        </p:nvSpPr>
        <p:spPr>
          <a:xfrm>
            <a:off x="609600" y="4484305"/>
            <a:ext cx="1097280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TW" altLang="en-US" noProof="1"/>
          </a:p>
        </p:txBody>
      </p:sp>
      <p:sp>
        <p:nvSpPr>
          <p:cNvPr id="11" name="原因 / 成效">
            <a:extLst>
              <a:ext uri="{FF2B5EF4-FFF2-40B4-BE49-F238E27FC236}">
                <a16:creationId xmlns:a16="http://schemas.microsoft.com/office/drawing/2014/main" id="{796923E4-21AA-45FD-BC40-0624F05F593B}"/>
              </a:ext>
            </a:extLst>
          </p:cNvPr>
          <p:cNvSpPr>
            <a:spLocks noGrp="1"/>
          </p:cNvSpPr>
          <p:nvPr/>
        </p:nvSpPr>
        <p:spPr>
          <a:xfrm>
            <a:off x="609600" y="4674805"/>
            <a:ext cx="28384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025" b="1" noProof="1" dirty="0">
                <a:solidFill>
                  <a:srgbClr val="0369A1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 noProof="1">
                <a:solidFill>
                  <a:srgbClr val="0369A1"/>
                </a:solidFill>
                <a:latin typeface="PingFang TC"/>
                <a:ea typeface="PingFang TC"/>
                <a:cs typeface="PingFang TC"/>
              </a:rPr>
              <a:t>原因 / 成效</a:t>
            </a:r>
          </a:p>
        </p:txBody>
      </p:sp>
      <p:sp>
        <p:nvSpPr>
          <p:cNvPr id="12" name="Xvfb 最初退出根因仍未知；未驗證駕駛品質、&#10;實車性能或安全。本次平台批准狀態亦無證據。">
            <a:extLst>
              <a:ext uri="{FF2B5EF4-FFF2-40B4-BE49-F238E27FC236}">
                <a16:creationId xmlns:a16="http://schemas.microsoft.com/office/drawing/2014/main" id="{7513C355-EE23-4FD3-937D-7199A7F3A900}"/>
              </a:ext>
            </a:extLst>
          </p:cNvPr>
          <p:cNvSpPr>
            <a:spLocks noGrp="1"/>
          </p:cNvSpPr>
          <p:nvPr/>
        </p:nvSpPr>
        <p:spPr>
          <a:xfrm>
            <a:off x="3695700" y="4674805"/>
            <a:ext cx="78867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Xvfb 最初退出根因仍未知；未驗證駕駛品質、</a:t>
            </a:r>
          </a:p>
          <a:p>
            <a:pPr algn="l">
              <a:lnSpc>
                <a:spcPct val="116000"/>
              </a:lnSpc>
              <a:buNone/>
              <a:defRPr sz="1875" b="0" noProof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 noProof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實車性能或安全。本次平台批准狀態亦無證據。</a:t>
            </a:r>
          </a:p>
        </p:txBody>
      </p:sp>
    </p:spTree>
    <p:extLst>
      <p:ext uri="{BB962C8B-B14F-4D97-AF65-F5344CB8AC3E}">
        <p14:creationId xmlns:p14="http://schemas.microsoft.com/office/powerpoint/2010/main" val="1911550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2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oject 1 建立了可延伸的工程基礎">
            <a:extLst>
              <a:ext uri="{FF2B5EF4-FFF2-40B4-BE49-F238E27FC236}">
                <a16:creationId xmlns:a16="http://schemas.microsoft.com/office/drawing/2014/main" id="{89E95034-4C2A-4E94-A8BD-499F5A4A63F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30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3075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3075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Project 1 | </a:t>
            </a:r>
            <a:r>
              <a:rPr lang="zh-TW" altLang="en-US" sz="3075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重要成果摘要</a:t>
            </a:r>
            <a:endParaRPr sz="3075" b="1" noProof="1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26">
            <a:extLst>
              <a:ext uri="{FF2B5EF4-FFF2-40B4-BE49-F238E27FC236}">
                <a16:creationId xmlns:a16="http://schemas.microsoft.com/office/drawing/2014/main" id="{253FEA2A-AF59-44E3-B8F7-3808095CEDCC}"/>
              </a:ext>
            </a:extLst>
          </p:cNvPr>
          <p:cNvSpPr>
            <a:spLocks noGrp="1"/>
          </p:cNvSpPr>
          <p:nvPr/>
        </p:nvSpPr>
        <p:spPr>
          <a:xfrm>
            <a:off x="10953750" y="6305550"/>
            <a:ext cx="619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r">
              <a:defRPr sz="1575" b="1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r">
              <a:lnSpc>
                <a:spcPct val="116000"/>
              </a:lnSpc>
              <a:buNone/>
              <a:defRPr sz="1575" b="1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7DD3FC"/>
                </a:solidFill>
                <a:latin typeface="PingFang TC"/>
                <a:ea typeface="PingFang TC"/>
                <a:cs typeface="PingFang TC"/>
              </a:rPr>
              <a:t>26</a:t>
            </a:r>
          </a:p>
        </p:txBody>
      </p:sp>
      <p:sp>
        <p:nvSpPr>
          <p:cNvPr id="5" name="可工作的 Replay 基底">
            <a:extLst>
              <a:ext uri="{FF2B5EF4-FFF2-40B4-BE49-F238E27FC236}">
                <a16:creationId xmlns:a16="http://schemas.microsoft.com/office/drawing/2014/main" id="{89A66475-6485-48A7-91B4-867D0882AE67}"/>
              </a:ext>
            </a:extLst>
          </p:cNvPr>
          <p:cNvSpPr>
            <a:spLocks noGrp="1"/>
          </p:cNvSpPr>
          <p:nvPr/>
        </p:nvSpPr>
        <p:spPr>
          <a:xfrm>
            <a:off x="609600" y="993064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4350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4350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2400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 | </a:t>
            </a:r>
            <a:r>
              <a:rPr lang="zh-TW" altLang="en-US" sz="2400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完成課程核心基底</a:t>
            </a:r>
            <a:endParaRPr sz="2400" noProof="1"/>
          </a:p>
        </p:txBody>
      </p:sp>
      <p:sp>
        <p:nvSpPr>
          <p:cNvPr id="6" name="固定 OpenPilot v0.9.1 與可維護的 Compute / Display 環境&#10;U">
            <a:extLst>
              <a:ext uri="{FF2B5EF4-FFF2-40B4-BE49-F238E27FC236}">
                <a16:creationId xmlns:a16="http://schemas.microsoft.com/office/drawing/2014/main" id="{B5F562D3-FA5E-419D-9C62-4DA1D8980A98}"/>
              </a:ext>
            </a:extLst>
          </p:cNvPr>
          <p:cNvSpPr>
            <a:spLocks noGrp="1"/>
          </p:cNvSpPr>
          <p:nvPr/>
        </p:nvSpPr>
        <p:spPr>
          <a:xfrm>
            <a:off x="609600" y="1602664"/>
            <a:ext cx="10972800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25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25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OpenPilot v0.9.1</a:t>
            </a:r>
            <a:endParaRPr lang="en-US" sz="2025" b="0" noProof="1">
              <a:solidFill>
                <a:srgbClr val="B8CDD9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16000"/>
              </a:lnSpc>
              <a:buNone/>
              <a:defRPr sz="225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pPr>
            <a:r>
              <a:rPr lang="en" sz="202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Compute / Display </a:t>
            </a:r>
            <a:r>
              <a:rPr lang="zh-TW" altLang="en-US" sz="202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環境</a:t>
            </a:r>
            <a:endParaRPr sz="2025" noProof="1"/>
          </a:p>
          <a:p>
            <a:pPr algn="l">
              <a:lnSpc>
                <a:spcPct val="116000"/>
              </a:lnSpc>
              <a:buNone/>
              <a:defRPr sz="225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USA / Taiwan 歷史片段驗收</a:t>
            </a:r>
            <a:endParaRPr sz="2025" noProof="1"/>
          </a:p>
        </p:txBody>
      </p:sp>
      <p:sp>
        <p:nvSpPr>
          <p:cNvPr id="8" name="VALIDATION BOUNDARY：尚未證明 fresh restore、全 route 或">
            <a:extLst>
              <a:ext uri="{FF2B5EF4-FFF2-40B4-BE49-F238E27FC236}">
                <a16:creationId xmlns:a16="http://schemas.microsoft.com/office/drawing/2014/main" id="{7F0D4D86-3FD3-4651-B6F4-1C9DD2ED7019}"/>
              </a:ext>
            </a:extLst>
          </p:cNvPr>
          <p:cNvSpPr>
            <a:spLocks noGrp="1"/>
          </p:cNvSpPr>
          <p:nvPr/>
        </p:nvSpPr>
        <p:spPr>
          <a:xfrm>
            <a:off x="619125" y="5528113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80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80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VALIDATION BOUNDARY</a:t>
            </a:r>
            <a:r>
              <a:rPr sz="157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｜ fresh restore、全 route</a:t>
            </a:r>
            <a:r>
              <a:rPr lang="en-US" sz="1575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、</a:t>
            </a:r>
            <a:r>
              <a:rPr sz="157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駕駛品質</a:t>
            </a:r>
            <a:r>
              <a:rPr lang="zh-TW" altLang="en-US" sz="157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及</a:t>
            </a:r>
            <a:r>
              <a:rPr sz="157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部分課程參考工作仍缺充分證據</a:t>
            </a:r>
            <a:endParaRPr sz="1575" noProof="1"/>
          </a:p>
        </p:txBody>
      </p:sp>
      <p:sp>
        <p:nvSpPr>
          <p:cNvPr id="9" name="TRANSITION / PLANNED（P1 階段）：供後續 THINK 模型 / Agent">
            <a:extLst>
              <a:ext uri="{FF2B5EF4-FFF2-40B4-BE49-F238E27FC236}">
                <a16:creationId xmlns:a16="http://schemas.microsoft.com/office/drawing/2014/main" id="{96180C8E-BCAD-4C5B-9292-669C399E7BF5}"/>
              </a:ext>
            </a:extLst>
          </p:cNvPr>
          <p:cNvSpPr>
            <a:spLocks noGrp="1"/>
          </p:cNvSpPr>
          <p:nvPr/>
        </p:nvSpPr>
        <p:spPr>
          <a:xfrm>
            <a:off x="619125" y="6105524"/>
            <a:ext cx="10972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1575" b="0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1575" b="0" noProof="1" dirty="0">
                <a:solidFill>
                  <a:srgbClr val="7DD3FC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noProof="1">
                <a:solidFill>
                  <a:srgbClr val="7DD3FC"/>
                </a:solidFill>
                <a:latin typeface="PingFang TC"/>
                <a:ea typeface="PingFang TC"/>
                <a:cs typeface="PingFang TC"/>
              </a:rPr>
              <a:t>NEXT｜Project 1 的環境與資料基底，供後續 Model B6 與 AI Agent 工作接續；不計入 P</a:t>
            </a:r>
            <a:r>
              <a:rPr lang="en-US" sz="1500" b="0" noProof="1">
                <a:solidFill>
                  <a:srgbClr val="7DD3FC"/>
                </a:solidFill>
                <a:latin typeface="PingFang TC"/>
                <a:ea typeface="PingFang TC"/>
                <a:cs typeface="PingFang TC"/>
              </a:rPr>
              <a:t>roject</a:t>
            </a:r>
            <a:r>
              <a:rPr sz="1500" b="0" noProof="1">
                <a:solidFill>
                  <a:srgbClr val="7DD3FC"/>
                </a:solidFill>
                <a:latin typeface="PingFang TC"/>
                <a:ea typeface="PingFang TC"/>
                <a:cs typeface="PingFang TC"/>
              </a:rPr>
              <a:t>1 成果</a:t>
            </a:r>
            <a:endParaRPr sz="1500" noProof="1"/>
          </a:p>
        </p:txBody>
      </p:sp>
      <p:sp>
        <p:nvSpPr>
          <p:cNvPr id="15" name="可工作的 Replay 基底">
            <a:extLst>
              <a:ext uri="{FF2B5EF4-FFF2-40B4-BE49-F238E27FC236}">
                <a16:creationId xmlns:a16="http://schemas.microsoft.com/office/drawing/2014/main" id="{2C4E683C-3CBE-8B5A-D707-9DCCE9132C0A}"/>
              </a:ext>
            </a:extLst>
          </p:cNvPr>
          <p:cNvSpPr>
            <a:spLocks noGrp="1"/>
          </p:cNvSpPr>
          <p:nvPr/>
        </p:nvSpPr>
        <p:spPr>
          <a:xfrm>
            <a:off x="600075" y="2626602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4350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4350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2400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 | </a:t>
            </a:r>
            <a:r>
              <a:rPr lang="zh-TW" altLang="en-US" sz="2400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建立工作流程</a:t>
            </a:r>
            <a:endParaRPr sz="2400" noProof="1"/>
          </a:p>
        </p:txBody>
      </p:sp>
      <p:sp>
        <p:nvSpPr>
          <p:cNvPr id="16" name="固定 OpenPilot v0.9.1 與可維護的 Compute / Display 環境&#10;U">
            <a:extLst>
              <a:ext uri="{FF2B5EF4-FFF2-40B4-BE49-F238E27FC236}">
                <a16:creationId xmlns:a16="http://schemas.microsoft.com/office/drawing/2014/main" id="{CB2E6A79-E493-BF17-08B7-1DA983B2D464}"/>
              </a:ext>
            </a:extLst>
          </p:cNvPr>
          <p:cNvSpPr>
            <a:spLocks noGrp="1"/>
          </p:cNvSpPr>
          <p:nvPr/>
        </p:nvSpPr>
        <p:spPr>
          <a:xfrm>
            <a:off x="619125" y="2996107"/>
            <a:ext cx="10972800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25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25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02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平台適配、資料保存、</a:t>
            </a:r>
            <a:r>
              <a:rPr lang="en-US" altLang="zh-TW" sz="202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IPC</a:t>
            </a:r>
            <a:r>
              <a:rPr lang="zh-TW" altLang="en-US" sz="202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、</a:t>
            </a:r>
            <a:r>
              <a:rPr lang="en-US" altLang="zh-TW" sz="202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readiness</a:t>
            </a:r>
            <a:r>
              <a:rPr lang="zh-TW" altLang="en-US" sz="202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、</a:t>
            </a:r>
            <a:r>
              <a:rPr lang="en-US" altLang="zh-TW" sz="202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VNC </a:t>
            </a:r>
            <a:r>
              <a:rPr lang="zh-TW" altLang="en-US" sz="202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驗收與可重複操作流程</a:t>
            </a:r>
            <a:endParaRPr lang="en-US" altLang="zh-TW" sz="2025" b="0" noProof="1">
              <a:solidFill>
                <a:srgbClr val="B8CDD9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可工作的 Replay 基底">
            <a:extLst>
              <a:ext uri="{FF2B5EF4-FFF2-40B4-BE49-F238E27FC236}">
                <a16:creationId xmlns:a16="http://schemas.microsoft.com/office/drawing/2014/main" id="{2E9FAC4A-9C2B-0DB0-E3A0-A254E50928F3}"/>
              </a:ext>
            </a:extLst>
          </p:cNvPr>
          <p:cNvSpPr>
            <a:spLocks noGrp="1"/>
          </p:cNvSpPr>
          <p:nvPr/>
        </p:nvSpPr>
        <p:spPr>
          <a:xfrm>
            <a:off x="619125" y="3723947"/>
            <a:ext cx="109728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4350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4350" b="1" noProof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2400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 | </a:t>
            </a:r>
            <a:r>
              <a:rPr lang="zh-TW" altLang="en-US" sz="2400" b="1" noProof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額外核心技術調查</a:t>
            </a:r>
            <a:endParaRPr sz="2400" noProof="1"/>
          </a:p>
        </p:txBody>
      </p:sp>
      <p:sp>
        <p:nvSpPr>
          <p:cNvPr id="18" name="固定 OpenPilot v0.9.1 與可維護的 Compute / Display 環境&#10;U">
            <a:extLst>
              <a:ext uri="{FF2B5EF4-FFF2-40B4-BE49-F238E27FC236}">
                <a16:creationId xmlns:a16="http://schemas.microsoft.com/office/drawing/2014/main" id="{AA9FCECB-C164-4ED3-3EDA-20CC7272C968}"/>
              </a:ext>
            </a:extLst>
          </p:cNvPr>
          <p:cNvSpPr>
            <a:spLocks noGrp="1"/>
          </p:cNvSpPr>
          <p:nvPr/>
        </p:nvSpPr>
        <p:spPr>
          <a:xfrm>
            <a:off x="619125" y="4204138"/>
            <a:ext cx="10972800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28575" rIns="38100" bIns="28575" anchor="ctr">
            <a:noAutofit/>
          </a:bodyPr>
          <a:lstStyle>
            <a:defPPr algn="l">
              <a:defRPr sz="225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defPPr>
          </a:lstStyle>
          <a:p>
            <a:pPr algn="l">
              <a:lnSpc>
                <a:spcPct val="116000"/>
              </a:lnSpc>
              <a:buNone/>
              <a:defRPr sz="225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02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定位 </a:t>
            </a:r>
            <a:r>
              <a:rPr lang="en-US" altLang="zh-TW" sz="2025" b="0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144-byte msgq ABI mismatch</a:t>
            </a:r>
          </a:p>
          <a:p>
            <a:pPr algn="l">
              <a:lnSpc>
                <a:spcPct val="116000"/>
              </a:lnSpc>
              <a:buNone/>
              <a:defRPr sz="2250" b="0" noProof="1" dirty="0">
                <a:solidFill>
                  <a:srgbClr val="B8CDD9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025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隔離重建</a:t>
            </a:r>
            <a:r>
              <a:rPr lang="en-US" altLang="zh-TW" sz="2025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 .compat </a:t>
            </a:r>
            <a:r>
              <a:rPr lang="zh-TW" altLang="en-US" sz="2025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解決相容性問題，同時保護原版</a:t>
            </a:r>
            <a:r>
              <a:rPr lang="en-US" altLang="zh-TW" sz="2025" noProof="1">
                <a:solidFill>
                  <a:srgbClr val="B8CDD9"/>
                </a:solidFill>
                <a:latin typeface="PingFang TC"/>
                <a:ea typeface="PingFang TC"/>
                <a:cs typeface="PingFang TC"/>
              </a:rPr>
              <a:t> binary</a:t>
            </a:r>
            <a:endParaRPr lang="en-US" altLang="zh-TW" sz="2025" b="0" noProof="1">
              <a:solidFill>
                <a:srgbClr val="B8CDD9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18592143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8123</Words>
  <Application>Microsoft Macintosh PowerPoint</Application>
  <DocSecurity>0</DocSecurity>
  <PresentationFormat>寬螢幕</PresentationFormat>
  <Paragraphs>906</Paragraphs>
  <Slides>26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1" baseType="lpstr">
      <vt:lpstr>PingFang TC</vt:lpstr>
      <vt:lpstr>Aptos</vt:lpstr>
      <vt:lpstr>Arial</vt:lpstr>
      <vt:lpstr>Menlo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2006 Wu</cp:lastModifiedBy>
  <cp:revision>9</cp:revision>
  <dcterms:created xsi:type="dcterms:W3CDTF">2026-10-08T12:32:00Z</dcterms:created>
  <dcterms:modified xsi:type="dcterms:W3CDTF">2026-10-13T08:36:08Z</dcterms:modified>
</cp:coreProperties>
</file>