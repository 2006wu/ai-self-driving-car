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6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  <Override PartName="/ppt/notesSlides/v2_notesSlide11.xml" ContentType="application/vnd.openxmlformats-officedocument.presentationml.notesSlide+xml"/>
  <Override PartName="/ppt/notesSlides/v2_notesSlide14.xml" ContentType="application/vnd.openxmlformats-officedocument.presentationml.notesSlide+xml"/>
  <Override PartName="/ppt/notesSlides/v2_notesSlide15.xml" ContentType="application/vnd.openxmlformats-officedocument.presentationml.notesSlide+xml"/>
  <Override PartName="/ppt/notesSlides/v2_notesSlide21.xml" ContentType="application/vnd.openxmlformats-officedocument.presentationml.notesSlide+xml"/>
  <Override PartName="/ppt/notesSlides/v2_notesSlide22.xml" ContentType="application/vnd.openxmlformats-officedocument.presentationml.notesSlide+xml"/>
  <Override PartName="/ppt/notesSlides/v2_notesSlide23.xml" ContentType="application/vnd.openxmlformats-officedocument.presentationml.notesSlide+xml"/>
  <Override PartName="/ppt/notesSlides/v2_notesSlide24.xml" ContentType="application/vnd.openxmlformats-officedocument.presentationml.notesSlide+xml"/>
  <Override PartName="/ppt/notesSlides/v2_notesSlide25.xml" ContentType="application/vnd.openxmlformats-officedocument.presentationml.notesSlide+xml"/>
  <Override PartName="/ppt/notesSlides/v2_notesSlide26.xml" ContentType="application/vnd.openxmlformats-officedocument.presentationml.notesSlide+xml"/>
  <Override PartName="/ppt/notesSlides/v2_notesSlide27.xml" ContentType="application/vnd.openxmlformats-officedocument.presentationml.notesSlide+xml"/>
  <Override PartName="/ppt/notesSlides/v2_notesSlide28.xml" ContentType="application/vnd.openxmlformats-officedocument.presentationml.notesSlide+xml"/>
  <Override PartName="/ppt/notesSlides/v2_moved16.xml" ContentType="application/vnd.openxmlformats-officedocument.presentationml.notesSlide+xml"/>
  <Override PartName="/ppt/notesSlides/v2_moved17.xml" ContentType="application/vnd.openxmlformats-officedocument.presentationml.notesSlide+xml"/>
  <Override PartName="/ppt/notesSlides/v2_moved18.xml" ContentType="application/vnd.openxmlformats-officedocument.presentationml.notesSlide+xml"/>
  <Override PartName="/ppt/notesSlides/v2_moved19.xml" ContentType="application/vnd.openxmlformats-officedocument.presentationml.notesSlide+xml"/>
  <Override PartName="/ppt/notesSlides/v2_moved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b99ba27b4645a3" /><Relationship Type="http://schemas.openxmlformats.org/officeDocument/2006/relationships/extended-properties" Target="/docProps/app.xml" Id="R3436446c947b47b8" /><Relationship Type="http://schemas.openxmlformats.org/officeDocument/2006/relationships/officeDocument" Target="/ppt/presentation.xml" Id="Rf963c71c1aca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4fa2507cdc46a1"/>
  </p:sldMasterIdLst>
  <p:notesMasterIdLst>
    <p:notesMasterId xmlns:r="http://schemas.openxmlformats.org/officeDocument/2006/relationships" r:id="R5cdef0ca94f84a10"/>
  </p:notesMasterIdLst>
  <p:sldIdLst>
    <p:sldId xmlns:r="http://schemas.openxmlformats.org/officeDocument/2006/relationships" id="256" r:id="Rc855a3b8a9b84689"/>
    <p:sldId xmlns:r="http://schemas.openxmlformats.org/officeDocument/2006/relationships" id="257" r:id="R82fa178bb39d4d0b"/>
    <p:sldId xmlns:r="http://schemas.openxmlformats.org/officeDocument/2006/relationships" id="258" r:id="R2a71744438324a99"/>
    <p:sldId xmlns:r="http://schemas.openxmlformats.org/officeDocument/2006/relationships" id="259" r:id="Rd157d31162c54a50"/>
    <p:sldId xmlns:r="http://schemas.openxmlformats.org/officeDocument/2006/relationships" id="260" r:id="R5cdd6d39c27f481b"/>
    <p:sldId xmlns:r="http://schemas.openxmlformats.org/officeDocument/2006/relationships" id="261" r:id="R13ec9e73f6924d56"/>
    <p:sldId xmlns:r="http://schemas.openxmlformats.org/officeDocument/2006/relationships" id="262" r:id="R2104e7b8182c488c"/>
    <p:sldId xmlns:r="http://schemas.openxmlformats.org/officeDocument/2006/relationships" id="263" r:id="Rff933cc4319a408f"/>
    <p:sldId xmlns:r="http://schemas.openxmlformats.org/officeDocument/2006/relationships" id="264" r:id="R92e481834afc4b29"/>
    <p:sldId xmlns:r="http://schemas.openxmlformats.org/officeDocument/2006/relationships" id="265" r:id="R6419300f61c0479e"/>
    <p:sldId xmlns:r="http://schemas.openxmlformats.org/officeDocument/2006/relationships" id="266" r:id="R2ec30a3cbf8244ea"/>
    <p:sldId xmlns:r="http://schemas.openxmlformats.org/officeDocument/2006/relationships" id="267" r:id="Rfdd7b0eb0ada402d"/>
    <p:sldId xmlns:r="http://schemas.openxmlformats.org/officeDocument/2006/relationships" id="268" r:id="R4a7ca62cf5fe417e"/>
    <p:sldId xmlns:r="http://schemas.openxmlformats.org/officeDocument/2006/relationships" id="269" r:id="Rd0fd544fe18c4627"/>
    <p:sldId xmlns:r="http://schemas.openxmlformats.org/officeDocument/2006/relationships" id="270" r:id="Rba3ec6db50a24391"/>
    <p:sldId xmlns:r="http://schemas.openxmlformats.org/officeDocument/2006/relationships" id="271" r:id="Rc575cdbcc0444876"/>
    <p:sldId xmlns:r="http://schemas.openxmlformats.org/officeDocument/2006/relationships" id="272" r:id="R8f9336052b544969"/>
    <p:sldId xmlns:r="http://schemas.openxmlformats.org/officeDocument/2006/relationships" id="273" r:id="R3aefd460321e4fd3"/>
    <p:sldId xmlns:r="http://schemas.openxmlformats.org/officeDocument/2006/relationships" id="274" r:id="R1af1599588424b5f"/>
    <p:sldId xmlns:r="http://schemas.openxmlformats.org/officeDocument/2006/relationships" id="275" r:id="R7ab2f4f2278d41da"/>
    <p:sldId xmlns:r="http://schemas.openxmlformats.org/officeDocument/2006/relationships" id="276" r:id="R922c3c4f94e6435b"/>
    <p:sldId xmlns:r="http://schemas.openxmlformats.org/officeDocument/2006/relationships" id="277" r:id="R0cf76ef9396243ba"/>
    <p:sldId xmlns:r="http://schemas.openxmlformats.org/officeDocument/2006/relationships" id="278" r:id="R4eb5338d822e40dd"/>
    <p:sldId xmlns:r="http://schemas.openxmlformats.org/officeDocument/2006/relationships" id="279" r:id="Re600c39ba81f4373"/>
    <p:sldId xmlns:r="http://schemas.openxmlformats.org/officeDocument/2006/relationships" id="280" r:id="Rae77cc210c2341f3"/>
    <p:sldId xmlns:r="http://schemas.openxmlformats.org/officeDocument/2006/relationships" id="281" r:id="Rff1388fe74ed4466"/>
    <p:sldId xmlns:r="http://schemas.openxmlformats.org/officeDocument/2006/relationships" id="282" r:id="Rf6f91fbe523d4939"/>
    <p:sldId xmlns:r="http://schemas.openxmlformats.org/officeDocument/2006/relationships" id="283" r:id="R2ba4a7afb3ef41ca"/>
    <p:sldId xmlns:r="http://schemas.openxmlformats.org/officeDocument/2006/relationships" id="284" r:id="R9481d312e0c247f5"/>
    <p:sldId xmlns:r="http://schemas.openxmlformats.org/officeDocument/2006/relationships" id="285" r:id="R67cc9b6c3e6649a9"/>
    <p:sldId xmlns:r="http://schemas.openxmlformats.org/officeDocument/2006/relationships" id="286" r:id="R8b9081dbf9d74bfb"/>
    <p:sldId xmlns:r="http://schemas.openxmlformats.org/officeDocument/2006/relationships" id="287" r:id="Rb2e9992ab1594d10"/>
    <p:sldId xmlns:r="http://schemas.openxmlformats.org/officeDocument/2006/relationships" id="288" r:id="R70fd28f92f894a3f"/>
    <p:sldId xmlns:r="http://schemas.openxmlformats.org/officeDocument/2006/relationships" id="289" r:id="Re64a7df7ed0a4fb0"/>
    <p:sldId xmlns:r="http://schemas.openxmlformats.org/officeDocument/2006/relationships" id="290" r:id="Ra7418d4edfce4ecd"/>
    <p:sldId xmlns:r="http://schemas.openxmlformats.org/officeDocument/2006/relationships" id="291" r:id="Rf85413b1c46a4cea"/>
    <p:sldId xmlns:r="http://schemas.openxmlformats.org/officeDocument/2006/relationships" id="292" r:id="Ra64f1b4174ea40f2"/>
    <p:sldId xmlns:r="http://schemas.openxmlformats.org/officeDocument/2006/relationships" id="293" r:id="R0ba5ecfab4b040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28a968d0494613" /><Relationship Type="http://schemas.openxmlformats.org/officeDocument/2006/relationships/slideMaster" Target="/ppt/slideMasters/slideMaster1.xml" Id="Rc94fa2507cdc46a1" /><Relationship Type="http://schemas.openxmlformats.org/officeDocument/2006/relationships/notesMaster" Target="/ppt/notesMasters/notesMaster1.xml" Id="R5cdef0ca94f84a10" /><Relationship Type="http://schemas.openxmlformats.org/officeDocument/2006/relationships/presProps" Target="/ppt/presProps.xml" Id="Rf150310827e14a4f" /><Relationship Type="http://schemas.openxmlformats.org/officeDocument/2006/relationships/tableStyles" Target="/ppt/tableStyles.xml" Id="R39ea89148e2d436c" /><Relationship Type="http://schemas.openxmlformats.org/officeDocument/2006/relationships/slide" Target="/ppt/slides/slide1.xml" Id="Rc855a3b8a9b84689" /><Relationship Type="http://schemas.openxmlformats.org/officeDocument/2006/relationships/slide" Target="/ppt/slides/slide2.xml" Id="R82fa178bb39d4d0b" /><Relationship Type="http://schemas.openxmlformats.org/officeDocument/2006/relationships/slide" Target="/ppt/slides/slide3.xml" Id="R2a71744438324a99" /><Relationship Type="http://schemas.openxmlformats.org/officeDocument/2006/relationships/slide" Target="/ppt/slides/slide4.xml" Id="Rd157d31162c54a50" /><Relationship Type="http://schemas.openxmlformats.org/officeDocument/2006/relationships/slide" Target="/ppt/slides/slide5.xml" Id="R5cdd6d39c27f481b" /><Relationship Type="http://schemas.openxmlformats.org/officeDocument/2006/relationships/slide" Target="/ppt/slides/slide6.xml" Id="R13ec9e73f6924d56" /><Relationship Type="http://schemas.openxmlformats.org/officeDocument/2006/relationships/slide" Target="/ppt/slides/slide7.xml" Id="R2104e7b8182c488c" /><Relationship Type="http://schemas.openxmlformats.org/officeDocument/2006/relationships/slide" Target="/ppt/slides/slide8.xml" Id="Rff933cc4319a408f" /><Relationship Type="http://schemas.openxmlformats.org/officeDocument/2006/relationships/slide" Target="/ppt/slides/slide9.xml" Id="R92e481834afc4b29" /><Relationship Type="http://schemas.openxmlformats.org/officeDocument/2006/relationships/slide" Target="/ppt/slides/slide10.xml" Id="R6419300f61c0479e" /><Relationship Type="http://schemas.openxmlformats.org/officeDocument/2006/relationships/slide" Target="/ppt/slides/slide11.xml" Id="R2ec30a3cbf8244ea" /><Relationship Type="http://schemas.openxmlformats.org/officeDocument/2006/relationships/slide" Target="/ppt/slides/slide12.xml" Id="Rfdd7b0eb0ada402d" /><Relationship Type="http://schemas.openxmlformats.org/officeDocument/2006/relationships/slide" Target="/ppt/slides/slide13.xml" Id="R4a7ca62cf5fe417e" /><Relationship Type="http://schemas.openxmlformats.org/officeDocument/2006/relationships/slide" Target="/ppt/slides/slide14.xml" Id="Rd0fd544fe18c4627" /><Relationship Type="http://schemas.openxmlformats.org/officeDocument/2006/relationships/slide" Target="/ppt/slides/slide15.xml" Id="Rba3ec6db50a24391" /><Relationship Type="http://schemas.openxmlformats.org/officeDocument/2006/relationships/slide" Target="/ppt/slides/slide16.xml" Id="Rc575cdbcc0444876" /><Relationship Type="http://schemas.openxmlformats.org/officeDocument/2006/relationships/slide" Target="/ppt/slides/slide17.xml" Id="R8f9336052b544969" /><Relationship Type="http://schemas.openxmlformats.org/officeDocument/2006/relationships/slide" Target="/ppt/slides/slide18.xml" Id="R3aefd460321e4fd3" /><Relationship Type="http://schemas.openxmlformats.org/officeDocument/2006/relationships/slide" Target="/ppt/slides/slide19.xml" Id="R1af1599588424b5f" /><Relationship Type="http://schemas.openxmlformats.org/officeDocument/2006/relationships/slide" Target="/ppt/slides/slide20.xml" Id="R7ab2f4f2278d41da" /><Relationship Type="http://schemas.openxmlformats.org/officeDocument/2006/relationships/slide" Target="/ppt/slides/slide21.xml" Id="R922c3c4f94e6435b" /><Relationship Type="http://schemas.openxmlformats.org/officeDocument/2006/relationships/slide" Target="/ppt/slides/slide22.xml" Id="R0cf76ef9396243ba" /><Relationship Type="http://schemas.openxmlformats.org/officeDocument/2006/relationships/slide" Target="/ppt/slides/slide23.xml" Id="R4eb5338d822e40dd" /><Relationship Type="http://schemas.openxmlformats.org/officeDocument/2006/relationships/slide" Target="/ppt/slides/slide24.xml" Id="Re600c39ba81f4373" /><Relationship Type="http://schemas.openxmlformats.org/officeDocument/2006/relationships/slide" Target="/ppt/slides/slide25.xml" Id="Rae77cc210c2341f3" /><Relationship Type="http://schemas.openxmlformats.org/officeDocument/2006/relationships/slide" Target="/ppt/slides/slide26.xml" Id="Rff1388fe74ed4466" /><Relationship Type="http://schemas.openxmlformats.org/officeDocument/2006/relationships/slide" Target="/ppt/slides/slide27.xml" Id="Rf6f91fbe523d4939" /><Relationship Type="http://schemas.openxmlformats.org/officeDocument/2006/relationships/slide" Target="/ppt/slides/slide28.xml" Id="R2ba4a7afb3ef41ca" /><Relationship Type="http://schemas.openxmlformats.org/officeDocument/2006/relationships/slide" Target="/ppt/slides/slide29.xml" Id="R9481d312e0c247f5" /><Relationship Type="http://schemas.openxmlformats.org/officeDocument/2006/relationships/slide" Target="/ppt/slides/slide30.xml" Id="R67cc9b6c3e6649a9" /><Relationship Type="http://schemas.openxmlformats.org/officeDocument/2006/relationships/slide" Target="/ppt/slides/slide31.xml" Id="R8b9081dbf9d74bfb" /><Relationship Type="http://schemas.openxmlformats.org/officeDocument/2006/relationships/slide" Target="/ppt/slides/slide32.xml" Id="Rb2e9992ab1594d10" /><Relationship Type="http://schemas.openxmlformats.org/officeDocument/2006/relationships/slide" Target="/ppt/slides/slide33.xml" Id="R70fd28f92f894a3f" /><Relationship Type="http://schemas.openxmlformats.org/officeDocument/2006/relationships/slide" Target="/ppt/slides/slide34.xml" Id="Re64a7df7ed0a4fb0" /><Relationship Type="http://schemas.openxmlformats.org/officeDocument/2006/relationships/slide" Target="/ppt/slides/slide35.xml" Id="Ra7418d4edfce4ecd" /><Relationship Type="http://schemas.openxmlformats.org/officeDocument/2006/relationships/slide" Target="/ppt/slides/slide36.xml" Id="Rf85413b1c46a4cea" /><Relationship Type="http://schemas.openxmlformats.org/officeDocument/2006/relationships/slide" Target="/ppt/slides/slide37.xml" Id="Ra64f1b4174ea40f2" /><Relationship Type="http://schemas.openxmlformats.org/officeDocument/2006/relationships/slide" Target="/ppt/slides/slide38.xml" Id="R0ba5ecfab4b040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d24f63ed0e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ce53aa029432d" /><Relationship Type="http://schemas.openxmlformats.org/officeDocument/2006/relationships/notesMaster" Target="/ppt/notesMasters/notesMaster1.xml" Id="Ra88de6631ebb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d6009c4bb401a" /><Relationship Type="http://schemas.openxmlformats.org/officeDocument/2006/relationships/notesMaster" Target="/ppt/notesMasters/notesMaster1.xml" Id="Raaa9cdf8c7ab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b5acf0fe104043" /><Relationship Type="http://schemas.openxmlformats.org/officeDocument/2006/relationships/notesMaster" Target="/ppt/notesMasters/notesMaster1.xml" Id="Rb8b635412145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6979f6ade34706" /><Relationship Type="http://schemas.openxmlformats.org/officeDocument/2006/relationships/notesMaster" Target="/ppt/notesMasters/notesMaster1.xml" Id="R0d8751470a85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bf32346dd43ae" /><Relationship Type="http://schemas.openxmlformats.org/officeDocument/2006/relationships/notesMaster" Target="/ppt/notesMasters/notesMaster1.xml" Id="Ra0bb674274b8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db44df5d2b4d66" /><Relationship Type="http://schemas.openxmlformats.org/officeDocument/2006/relationships/notesMaster" Target="/ppt/notesMasters/notesMaster1.xml" Id="R60501b0ec2274b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a43868d114703" /><Relationship Type="http://schemas.openxmlformats.org/officeDocument/2006/relationships/notesMaster" Target="/ppt/notesMasters/notesMaster1.xml" Id="R4df3f5bc16ef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2697a5a300440a" /><Relationship Type="http://schemas.openxmlformats.org/officeDocument/2006/relationships/notesMaster" Target="/ppt/notesMasters/notesMaster1.xml" Id="R94a51c787b7c40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0d2a31f0bd44c0" /><Relationship Type="http://schemas.openxmlformats.org/officeDocument/2006/relationships/notesMaster" Target="/ppt/notesMasters/notesMaster1.xml" Id="R7d26f593f7464b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c2b8ac5aee4e52" /><Relationship Type="http://schemas.openxmlformats.org/officeDocument/2006/relationships/notesMaster" Target="/ppt/notesMasters/notesMaster1.xml" Id="Rc1067715656049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2863fae2f24d33" /><Relationship Type="http://schemas.openxmlformats.org/officeDocument/2006/relationships/notesMaster" Target="/ppt/notesMasters/notesMaster1.xml" Id="Reba152c226ce47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3162b9f3054cb2" /><Relationship Type="http://schemas.openxmlformats.org/officeDocument/2006/relationships/notesMaster" Target="/ppt/notesMasters/notesMaster1.xml" Id="R8cae71f6849446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e432b33a454c88" /><Relationship Type="http://schemas.openxmlformats.org/officeDocument/2006/relationships/notesMaster" Target="/ppt/notesMasters/notesMaster1.xml" Id="Rd20d36a5bfb947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bb5804bacd497b" /><Relationship Type="http://schemas.openxmlformats.org/officeDocument/2006/relationships/notesMaster" Target="/ppt/notesMasters/notesMaster1.xml" Id="Re18f8615bec14e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dd39ae2eae404b" /><Relationship Type="http://schemas.openxmlformats.org/officeDocument/2006/relationships/notesMaster" Target="/ppt/notesMasters/notesMaster1.xml" Id="Re27349f75e0243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d9331089004963" /><Relationship Type="http://schemas.openxmlformats.org/officeDocument/2006/relationships/notesMaster" Target="/ppt/notesMasters/notesMaster1.xml" Id="R33f13e8f212749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870ef26f5d4489" /><Relationship Type="http://schemas.openxmlformats.org/officeDocument/2006/relationships/notesMaster" Target="/ppt/notesMasters/notesMaster1.xml" Id="R38755916fce448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766ab20a954f54" /><Relationship Type="http://schemas.openxmlformats.org/officeDocument/2006/relationships/notesMaster" Target="/ppt/notesMasters/notesMaster1.xml" Id="Rd5ceecd1a77d4a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1f75c2942a451e" /><Relationship Type="http://schemas.openxmlformats.org/officeDocument/2006/relationships/notesMaster" Target="/ppt/notesMasters/notesMaster1.xml" Id="R76b1ff9758124a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36f003fb5a43a4" /><Relationship Type="http://schemas.openxmlformats.org/officeDocument/2006/relationships/notesMaster" Target="/ppt/notesMasters/notesMaster1.xml" Id="Rf4e2e892decf4d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908337484042b6" /><Relationship Type="http://schemas.openxmlformats.org/officeDocument/2006/relationships/notesMaster" Target="/ppt/notesMasters/notesMaster1.xml" Id="R88b3c583a98641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6f41b4da144217" /><Relationship Type="http://schemas.openxmlformats.org/officeDocument/2006/relationships/notesMaster" Target="/ppt/notesMasters/notesMaster1.xml" Id="R7fd0d4be196148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a0b3c99f314081" /><Relationship Type="http://schemas.openxmlformats.org/officeDocument/2006/relationships/notesMaster" Target="/ppt/notesMasters/notesMaster1.xml" Id="Rc9e7ed9849194e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d2a12690d44820" /><Relationship Type="http://schemas.openxmlformats.org/officeDocument/2006/relationships/notesMaster" Target="/ppt/notesMasters/notesMaster1.xml" Id="R2743687551d644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a80ac770f04d84" /><Relationship Type="http://schemas.openxmlformats.org/officeDocument/2006/relationships/notesMaster" Target="/ppt/notesMasters/notesMaster1.xml" Id="Rc886c033f4824ab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780e632bd147bc" /><Relationship Type="http://schemas.openxmlformats.org/officeDocument/2006/relationships/notesMaster" Target="/ppt/notesMasters/notesMaster1.xml" Id="R7bfbf8b6d7684d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53be77fa5f4009" /><Relationship Type="http://schemas.openxmlformats.org/officeDocument/2006/relationships/notesMaster" Target="/ppt/notesMasters/notesMaster1.xml" Id="R4d349588917c45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8b4f1ca677b41d1" /><Relationship Type="http://schemas.openxmlformats.org/officeDocument/2006/relationships/notesMaster" Target="/ppt/notesMasters/notesMaster1.xml" Id="Rb6834cc7ea7047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210c7ebe47402b" /><Relationship Type="http://schemas.openxmlformats.org/officeDocument/2006/relationships/notesMaster" Target="/ppt/notesMasters/notesMaster1.xml" Id="Rb63a400168bc47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364fc2279c4070" /><Relationship Type="http://schemas.openxmlformats.org/officeDocument/2006/relationships/notesMaster" Target="/ppt/notesMasters/notesMaster1.xml" Id="R189175f1b1f042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de849661b3f4101" /><Relationship Type="http://schemas.openxmlformats.org/officeDocument/2006/relationships/notesMaster" Target="/ppt/notesMasters/notesMaster1.xml" Id="R0a73f463c986413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9b19ec5e054e78" /><Relationship Type="http://schemas.openxmlformats.org/officeDocument/2006/relationships/notesMaster" Target="/ppt/notesMasters/notesMaster1.xml" Id="Rb52a6c0ba44e4a9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8f9b49524b41b1" /><Relationship Type="http://schemas.openxmlformats.org/officeDocument/2006/relationships/notesMaster" Target="/ppt/notesMasters/notesMaster1.xml" Id="R503c9e8d1477423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d47e7839fd4b67" /><Relationship Type="http://schemas.openxmlformats.org/officeDocument/2006/relationships/notesMaster" Target="/ppt/notesMasters/notesMaster1.xml" Id="R1414db6f7573456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b44958dbd674aa8" /><Relationship Type="http://schemas.openxmlformats.org/officeDocument/2006/relationships/notesMaster" Target="/ppt/notesMasters/notesMaster1.xml" Id="R896c58ea2fe942f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5f72f7a24843ee" /><Relationship Type="http://schemas.openxmlformats.org/officeDocument/2006/relationships/notesMaster" Target="/ppt/notesMasters/notesMaster1.xml" Id="R5e48c125f71e4e2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24a4aae9b5c4bcf" /><Relationship Type="http://schemas.openxmlformats.org/officeDocument/2006/relationships/notesMaster" Target="/ppt/notesMasters/notesMaster1.xml" Id="R43e0f15741644fc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cc32bb3b2b2462b" /><Relationship Type="http://schemas.openxmlformats.org/officeDocument/2006/relationships/notesMaster" Target="/ppt/notesMasters/notesMaster1.xml" Id="R6ed4f91a2ccf4acf" /></Relationships>
</file>

<file path=ppt/notesSlides/_rels/v2_moved16.xml.rels><?xml version='1.0' encoding='UTF-8' standalone='yes'?>
<Relationships xmlns="http://schemas.openxmlformats.org/package/2006/relationships"><Relationship Type="http://schemas.openxmlformats.org/officeDocument/2006/relationships/slide" Target="../slides/slide16.xml" Id="Rf7766ab20a954f54"/><Relationship Type="http://schemas.openxmlformats.org/officeDocument/2006/relationships/notesMaster" Target="/ppt/notesMasters/notesMaster1.xml" Id="Rd5ceecd1a77d4aeb"/></Relationships>
</file>

<file path=ppt/notesSlides/_rels/v2_moved17.xml.rels><?xml version='1.0' encoding='UTF-8' standalone='yes'?>
<Relationships xmlns="http://schemas.openxmlformats.org/package/2006/relationships"><Relationship Type="http://schemas.openxmlformats.org/officeDocument/2006/relationships/slide" Target="../slides/slide17.xml" Id="Rd936f003fb5a43a4"/><Relationship Type="http://schemas.openxmlformats.org/officeDocument/2006/relationships/notesMaster" Target="/ppt/notesMasters/notesMaster1.xml" Id="Rf4e2e892decf4d59"/></Relationships>
</file>

<file path=ppt/notesSlides/_rels/v2_moved18.xml.rels><?xml version='1.0' encoding='UTF-8' standalone='yes'?>
<Relationships xmlns="http://schemas.openxmlformats.org/package/2006/relationships"><Relationship Type="http://schemas.openxmlformats.org/officeDocument/2006/relationships/slide" Target="../slides/slide18.xml" Id="Ra06f41b4da144217"/><Relationship Type="http://schemas.openxmlformats.org/officeDocument/2006/relationships/notesMaster" Target="/ppt/notesMasters/notesMaster1.xml" Id="R7fd0d4be1961485f"/></Relationships>
</file>

<file path=ppt/notesSlides/_rels/v2_moved19.xml.rels><?xml version='1.0' encoding='UTF-8' standalone='yes'?>
<Relationships xmlns="http://schemas.openxmlformats.org/package/2006/relationships"><Relationship Type="http://schemas.openxmlformats.org/officeDocument/2006/relationships/slide" Target="../slides/slide19.xml" Id="R35a80ac770f04d84"/><Relationship Type="http://schemas.openxmlformats.org/officeDocument/2006/relationships/notesMaster" Target="/ppt/notesMasters/notesMaster1.xml" Id="Rc886c033f4824ab1"/></Relationships>
</file>

<file path=ppt/notesSlides/_rels/v2_moved20.xml.rels><?xml version='1.0' encoding='UTF-8' standalone='yes'?>
<Relationships xmlns="http://schemas.openxmlformats.org/package/2006/relationships"><Relationship Type="http://schemas.openxmlformats.org/officeDocument/2006/relationships/slide" Target="../slides/slide20.xml" Id="R0f53be77fa5f4009"/><Relationship Type="http://schemas.openxmlformats.org/officeDocument/2006/relationships/notesMaster" Target="/ppt/notesMasters/notesMaster1.xml" Id="R4d349588917c4533"/></Relationships>
</file>

<file path=ppt/notesSlides/_rels/v2_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11.xml" Id="R2b46638f88f94642"/><Relationship Type="http://schemas.openxmlformats.org/officeDocument/2006/relationships/notesMaster" Target="../notesMasters/notesMaster1.xml" Id="R4d8be85f9c3b4379"/></Relationships>
</file>

<file path=ppt/notesSlides/_rels/v2_notesSlide14.xml.rels><?xml version='1.0' encoding='UTF-8' standalone='yes'?>
<Relationships xmlns="http://schemas.openxmlformats.org/package/2006/relationships"><Relationship Type="http://schemas.openxmlformats.org/officeDocument/2006/relationships/slide" Target="../slides/slide14.xml" Id="Rffce80e333254a5a"/><Relationship Type="http://schemas.openxmlformats.org/officeDocument/2006/relationships/notesMaster" Target="../notesMasters/notesMaster1.xml" Id="R5c9f9c97f3b94a5e"/></Relationships>
</file>

<file path=ppt/notesSlides/_rels/v2_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15.xml" Id="R0a411ad9eaec4e14"/><Relationship Type="http://schemas.openxmlformats.org/officeDocument/2006/relationships/notesMaster" Target="../notesMasters/notesMaster1.xml" Id="R2e411aca3f814986"/></Relationships>
</file>

<file path=ppt/notesSlides/_rels/v2_notesSlide21.xml.rels><?xml version='1.0' encoding='UTF-8' standalone='yes'?>
<Relationships xmlns="http://schemas.openxmlformats.org/package/2006/relationships"><Relationship Type="http://schemas.openxmlformats.org/officeDocument/2006/relationships/slide" Target="../slides/slide21.xml" Id="R0e653332175247d1"/><Relationship Type="http://schemas.openxmlformats.org/officeDocument/2006/relationships/notesMaster" Target="../notesMasters/notesMaster1.xml" Id="Rb11b087ba94b484f"/></Relationships>
</file>

<file path=ppt/notesSlides/_rels/v2_notesSlide22.xml.rels><?xml version='1.0' encoding='UTF-8' standalone='yes'?>
<Relationships xmlns="http://schemas.openxmlformats.org/package/2006/relationships"><Relationship Type="http://schemas.openxmlformats.org/officeDocument/2006/relationships/slide" Target="../slides/slide22.xml" Id="R09619d85e21840e2"/><Relationship Type="http://schemas.openxmlformats.org/officeDocument/2006/relationships/notesMaster" Target="../notesMasters/notesMaster1.xml" Id="R4ae52ddb86de4c7c"/></Relationships>
</file>

<file path=ppt/notesSlides/_rels/v2_notesSlide23.xml.rels><?xml version='1.0' encoding='UTF-8' standalone='yes'?>
<Relationships xmlns="http://schemas.openxmlformats.org/package/2006/relationships"><Relationship Type="http://schemas.openxmlformats.org/officeDocument/2006/relationships/slide" Target="../slides/slide23.xml" Id="Ra3daff8a175a4948"/><Relationship Type="http://schemas.openxmlformats.org/officeDocument/2006/relationships/notesMaster" Target="../notesMasters/notesMaster1.xml" Id="Rec1a0ecae3604d9a"/></Relationships>
</file>

<file path=ppt/notesSlides/_rels/v2_notesSlide24.xml.rels><?xml version='1.0' encoding='UTF-8' standalone='yes'?>
<Relationships xmlns="http://schemas.openxmlformats.org/package/2006/relationships"><Relationship Type="http://schemas.openxmlformats.org/officeDocument/2006/relationships/slide" Target="../slides/slide24.xml" Id="R61a5730f26164e71"/><Relationship Type="http://schemas.openxmlformats.org/officeDocument/2006/relationships/notesMaster" Target="../notesMasters/notesMaster1.xml" Id="R98b202b158d7425f"/></Relationships>
</file>

<file path=ppt/notesSlides/_rels/v2_notesSlide25.xml.rels><?xml version='1.0' encoding='UTF-8' standalone='yes'?>
<Relationships xmlns="http://schemas.openxmlformats.org/package/2006/relationships"><Relationship Type="http://schemas.openxmlformats.org/officeDocument/2006/relationships/slide" Target="../slides/slide25.xml" Id="Rb4cb347e1a284756"/><Relationship Type="http://schemas.openxmlformats.org/officeDocument/2006/relationships/notesMaster" Target="../notesMasters/notesMaster1.xml" Id="Rc13c25ceb84b43ed"/></Relationships>
</file>

<file path=ppt/notesSlides/_rels/v2_notesSlide26.xml.rels><?xml version='1.0' encoding='UTF-8' standalone='yes'?>
<Relationships xmlns="http://schemas.openxmlformats.org/package/2006/relationships"><Relationship Type="http://schemas.openxmlformats.org/officeDocument/2006/relationships/slide" Target="../slides/slide26.xml" Id="Rbb2d19c187454dad"/><Relationship Type="http://schemas.openxmlformats.org/officeDocument/2006/relationships/notesMaster" Target="../notesMasters/notesMaster1.xml" Id="Rab361b1e9e274a4d"/></Relationships>
</file>

<file path=ppt/notesSlides/_rels/v2_notesSlide27.xml.rels><?xml version='1.0' encoding='UTF-8' standalone='yes'?>
<Relationships xmlns="http://schemas.openxmlformats.org/package/2006/relationships"><Relationship Type="http://schemas.openxmlformats.org/officeDocument/2006/relationships/slide" Target="../slides/slide27.xml" Id="R52c0d7f31e04499d"/><Relationship Type="http://schemas.openxmlformats.org/officeDocument/2006/relationships/notesMaster" Target="../notesMasters/notesMaster1.xml" Id="Re35805397f9b445a"/></Relationships>
</file>

<file path=ppt/notesSlides/_rels/v2_notesSlide28.xml.rels><?xml version='1.0' encoding='UTF-8' standalone='yes'?>
<Relationships xmlns="http://schemas.openxmlformats.org/package/2006/relationships"><Relationship Type="http://schemas.openxmlformats.org/officeDocument/2006/relationships/slide" Target="../slides/slide28.xml" Id="R27f17a68bd994dd7"/><Relationship Type="http://schemas.openxmlformats.org/officeDocument/2006/relationships/notesMaster" Target="../notesMasters/notesMaster1.xml" Id="Reea7020bdcb6440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B6 Investigation</a:t>
            </a:r>
          </a:p>
          <a:p xmlns:a="http://schemas.openxmlformats.org/drawingml/2006/main">
            <a:r>
              <a:t>&amp; Evidence-Grounded Agents</a:t>
            </a:r>
          </a:p>
          <a:p xmlns:a="http://schemas.openxmlformats.org/drawingml/2006/main">
            <a:r>
              <a:t>Evidence: 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2 成果與目前驗證狀態</a:t>
            </a:r>
          </a:p>
          <a:p xmlns:a="http://schemas.openxmlformats.org/drawingml/2006/main">
            <a:r>
              <a:t>Evidence: docs/PROJECT2.md §§5–27; private course summaries verified against local original slides 3–11 and Agent assignment</a:t>
            </a:r>
          </a:p>
          <a:p xmlns:a="http://schemas.openxmlformats.org/drawingml/2006/main">
            <a:r>
              <a:t>projects/project2/agent/artifacts/do-new-v2/step5/runs/p25-baseline-20261005/run.json; docs/PROJECT2_AUDIT.md §15</a:t>
            </a:r>
          </a:p>
          <a:p xmlns:a="http://schemas.openxmlformats.org/drawingml/2006/main">
            <a:r>
              <a:t>projects/project2/agent/artifacts/do-new-v2/step6/report.json; {usa,taiwan}/{final,best}/manifest.json; production frame PNGs; projects/project2/modelb6/step6.py</a:t>
            </a:r>
          </a:p>
          <a:p xmlns:a="http://schemas.openxmlformats.org/drawingml/2006/main">
            <a:r>
              <a:t>docs/PROJECT2_AUDIT.md §§27,32; projects/project2/agent/FRAMEWORK_REVIEW.md; professor_baseline.py; evidence_agent.py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額外 v2：Vision live 已驗收；Diagnosis / Unified 為 LIVE VERIFICATION PENDING。駕駛品質為 NOT VERIFIED。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學生貢獻的三個層次</a:t>
            </a:r>
          </a:p>
          <a:p>
            <a:r>
              <a:t>Evidence: docs/PROJECT2.md §§5–27; private course summaries verified against local original slides 3–11 and Agent assignment</a:t>
            </a:r>
          </a:p>
          <a:p>
            <a:r>
              <a:t>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projects/project2/agent/artifacts/do-new-v2/p29-gradient-audit/{summary,interpretation}.json; step9_gradient_audit.py; docs/PROJECT2_AUDIT.md §20</a:t>
            </a:r>
          </a:p>
          <a:p>
            <a:r>
              <a:t>projects/project2/agent/artifacts/do-new-v2/p210-gradient-controls/summary.json; step10_gradient_controls.py; docs/PROJECT2_AUDIT.md §§21,23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/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Presentation content review: Map preserves scope: course core vs engineering improvements vs student investigations. Same existing G/S/M sources; stage order summarizes the established evidence, not proof of a unique causal chain. Dates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兩條工作流共享同一份實驗證據</a:t>
            </a:r>
          </a:p>
          <a:p xmlns:a="http://schemas.openxmlformats.org/drawingml/2006/main">
            <a:r>
              <a:t>Evidence: projects/project2/modelb6/corrections.py; step5_data.py; step5.py; docker/Dockerfile.modelb6; docker-compose.yaml; docs/PROJECT2_AUDIT.md §§12–15</a:t>
            </a:r>
          </a:p>
          <a:p xmlns:a="http://schemas.openxmlformats.org/drawingml/2006/main">
            <a:r>
              <a:t>projects/project2/agent/artifacts/do-new-v2/step5/runs/p25-baseline-20261005/run.json; docs/PROJECT2_AUDIT.md §15</a:t>
            </a:r>
          </a:p>
          <a:p xmlns:a="http://schemas.openxmlformats.org/drawingml/2006/main">
            <a:r>
              <a:t>projects/project2/agent/artifacts/do-new-v2/step6/report.json; {usa,taiwan}/{final,best}/manifest.json; production frame PNGs; projects/project2/modelb6/step6.py</a:t>
            </a:r>
          </a:p>
          <a:p xmlns:a="http://schemas.openxmlformats.org/drawingml/2006/main">
            <a:r>
              <a:t>docs/PROJECT2_AUDIT.md §§29–32; projects/project2/agent/{vision_agent,diagnosis_agent,v2_evidence,v2_tests,prepare_v2}.py; DO_NEW_V2.md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Project 1 環境只作既有基礎；本報告貢獻限於 Project 2。來源唯讀，derived / output 分離。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B6 的四輸入與分支</a:t>
            </a:r>
          </a:p>
          <a:p xmlns:a="http://schemas.openxmlformats.org/drawingml/2006/main">
            <a:r>
              <a:t>Evidence: projects/project2/modelb6/corrections.py; step5_data.py; step5.py; docker/Dockerfile.modelb6; docker-compose.yaml; docs/PROJECT2_AUDIT.md §§12–15</a:t>
            </a:r>
          </a:p>
          <a:p xmlns:a="http://schemas.openxmlformats.org/drawingml/2006/main">
            <a:r>
              <a:t>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Image：(1,12,128,256)；desire：8；traffic：2；state：512。輸出共 2383 值，分為 12 sections。</a:t>
            </a:r>
          </a:p>
          <a:p xmlns:a="http://schemas.openxmlformats.org/drawingml/2006/main">
            <a:r>
              <a:t>meta / desire_pred / pose 直接讀取 image embedding；path / lane / lead 等經 recurrent 分支。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訓練資料與 teacher forcing</a:t>
            </a:r>
          </a:p>
          <a:p xmlns:a="http://schemas.openxmlformats.org/drawingml/2006/main">
            <a:r>
              <a:t>Evidence: docs/PROJECT2.md §§5–27; private course summaries verified against local original slides 3–11 and Agent assignment</a:t>
            </a:r>
          </a:p>
          <a:p xmlns:a="http://schemas.openxmlformats.org/drawingml/2006/main">
            <a:r>
              <a:t>projects/project2/modelb6/corrections.py; step5_data.py; step5.py; docker/Dockerfile.modelb6; docker-compose.yaml; docs/PROJECT2_AUDIT.md §§12–15</a:t>
            </a:r>
          </a:p>
          <a:p xmlns:a="http://schemas.openxmlformats.org/drawingml/2006/main">
            <a:r>
              <a:t>projects/project2/agent/artifacts/do-new-v2/step5/runs/p25-baseline-20261005/run.json; docs/PROJECT2_AUDIT.md §15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影像 pair (i,i+1) 對應 teacher row i；input state 使用前一列 512-value latent，序列起點為 zero。教師輸出提供訓練目標，並非獨立人工 ground truth。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資料與 checkpoint 的修正層</a:t>
            </a:r>
          </a:p>
          <a:p xmlns:a="http://schemas.openxmlformats.org/drawingml/2006/main">
            <a:r>
              <a:t>Evidence: projects/project2/modelb6/corrections.py; step5_data.py; step5.py; docker/Dockerfile.modelb6; docker-compose.yaml; docs/PROJECT2_AUDIT.md §§12–15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保留教授 model、output slices 與 custom loss；修正放在 student-owned wrapper。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正式訓練前的執行 gate</a:t>
            </a:r>
          </a:p>
          <a:p xmlns:a="http://schemas.openxmlformats.org/drawingml/2006/main">
            <a:r>
              <a:t>Evidence: projects/project2/modelb6/corrections.py; step5_data.py; step5.py; docker/Dockerfile.modelb6; docker-compose.yaml; docs/PROJECT2_AUDIT.md §§12–15</a:t>
            </a:r>
          </a:p>
          <a:p xmlns:a="http://schemas.openxmlformats.org/drawingml/2006/main">
            <a:r>
              <a:t>projects/project2/agent/artifacts/do-new-v2/step5/runs/p25-baseline-20261005/run.json; docs/PROJECT2_AUDIT.md §15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資料與教授 source 保持唯讀。derived 以 staging、atomic publish、completion marker 發布；run 拒絕覆蓋既有結果。Resume 是新訓練片段，未還原 optimizer / scheduler。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epochs 的正式 baseline 訓練</a:t>
            </a:r>
          </a:p>
          <a:p xmlns:a="http://schemas.openxmlformats.org/drawingml/2006/main">
            <a:r>
              <a:t>Evidence: projects/project2/agent/artifacts/do-new-v2/step5/runs/p25-baseline-20261005/run.json; docs/PROJECT2_AUDIT.md §15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Run：p25-baseline-20261005。Batch 2；每 epoch 20 / 10 steps；Adam；cosine 1e-3 至 5e-4。</a:t>
            </a:r>
          </a:p>
          <a:p xmlns:a="http://schemas.openxmlformats.org/drawingml/2006/main">
            <a:r>
              <a:t>custom loss：0.3 path + 0.3 left lane + 0.3 right lane + 0.1 full output。訓練完成尚不構成品質驗證。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loss 的波動與 final / best 差距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Repository HEAD e1a1bc5c75a085e1b39629986b98302f1842fe4b, audit 2026-10-09</a:t>
            </a:r>
          </a:p>
          <a:p>
            <a:r>
              <a:t>Best val_loss = 0.5254096388816833（epoch 25）</a:t>
            </a:r>
          </a:p>
          <a:p>
            <a:r>
              <a:t>Final val_loss = 71.71458435058594；final training loss = 3.204094648361206。</a:t>
            </a:r>
          </a:p>
          <a:p>
            <a:r>
              <a:t>LIKELY / SUGGESTED：波動與後期惡化符合不穩定／可能 overfitting；單一 validation sequence 無法確立原因。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[{"name":"Training loss","values":[79.2671279907227,10.3434906005859,5.25730133056641,5.67512893676758,4.55456495285034,3.41660690307617,1.06380009651184,0.61636745929718,0.571145534515381,0.332301318645477,0.216690585017204,0.173467025160789,0.234954997897148,0.668510496616364,0.198955625295639,0.313675791025162,1.89712297916412,2.56526231765747,5.50966024398804,4.0572566986084,1.17045474052429,1.86815798282623,2.53271675109863,0.745613396167755,0.254729926586151,0.287915617227554,0.229591995477676,0.188643604516983,0.895666599273682,13.3488254547119,43.0628089904785,4.56117486953735,2.98299312591553,0.80575293302536,0.267726749181747,0.228140383958817,0.191802650690079,0.176673173904419,0.396675527095795,0.257970035076141,0.200353071093559,0.450728178024292,1.04208433628082,0.375451564788818,0.16901233792305,0.478464305400848,1.06707000732422,1.51393580436707,3.73368954658508,4.85878133773804,1.61861670017242,0.470589250326157,0.248334854841232,0.374931693077087,1.14045035839081,0.456695020198822,1.15052342414856,2.16016459465027,1.36217904090881,3.20409464836121],"smooth":false,"line":{"fill":"#0369A1","width":2.5},"marker":{"symbol":"none"}},{"name":"Validation loss","values":[42.2973327636719,30.0927848815918,10.6103229522705,5.49363279342651,4.66823482513428,3.81652402877808,5.86505746841431,5.48772382736206,7.82135915756226,6.17100715637207,2.19848108291626,4.13026809692383,1.86925828456879,12.9960346221924,18.4481010437012,27.2939338684082,142.914993286133,254.925003051758,146.196014404297,143.111297607422,66.1919403076172,5.02396106719971,2.76473951339722,0.63464879989624,0.525409638881683,0.833008587360382,0.555522203445435,0.747852861881256,11.6544275283813,60.5683708190918,14.5459032058716,4.09415721893311,3.1076455116272,15.1290187835693,31.7361946105957,24.9084968566895,27.9974422454834,26.2766914367676,4.60584115982056,0.760581195354462,1.3142192363739,13.3708753585815,28.5981254577637,33.2993507385254,24.9935150146484,22.5156726837158,40.6671600341797,82.8778533935547,7.44476222991943,2.78384828567505,4.21088171005249,1.78833615779877,3.595370054245,23.571756362915,15.3817920684814,42.2455825805664,90.26806640625,66.6814956665039,43.4502449035645,71.7145843505859],"smooth":false,"line":{"fill":"#6D28D9","width":3},"marker":{"symbol":"none"}}]</a:t>
            </a:r>
          </a:p>
          <a:p>
            <a:r>
              <a:t>Loss comparison clarification: A is the historical epoch-aggregated custom validation loss, 10 steps x batch2, changing validation windows, previous teacher state. It is not the fixed120 aggregate on slide11 or median18 gradient diagnostic on slide32. Historical values and chart/workbook bytes preserved. Source: Step5 run p25-baseline-20261005 and original evidence coverage E03.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與 best 是不同的驗證對象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build/audit-data.json; private read-only Docker inspection receipt</a:t>
            </a:r>
          </a:p>
          <a:p>
            <a:r>
              <a:t>Repository HEAD e1a1bc5c75a085e1b39629986b98302f1842fe4b, audit 2026-10-09</a:t>
            </a:r>
          </a:p>
          <a:p>
            <a:r>
              <a:t>本次以唯讀 Docker volume 檢查：兩個檔案大小與 SHA-256 均吻合 run manifest。歷史 fresh-process reload / finite inference PASS；此次沒有重跑推論。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B uses fixed120 held-out rows under teacher-state condition and original custom loss; best total12.208786964416504, final79.12674713134766. Source: b6-geometry-20261009-01/07-loss-gradient/validation120.json and existing evaluator. A and C are not identical samples/aggregations; do not interpret differing losses as contradictory or rank across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6 的可檢查推論管線</a:t>
            </a:r>
          </a:p>
          <a:p xmlns:a="http://schemas.openxmlformats.org/drawingml/2006/main">
            <a:r>
              <a:t>Evidence: projects/project2/agent/artifacts/do-new-v2/step6/report.json; {usa,taiwan}/{final,best}/manifest.json; production frame PNGs; projects/project2/modelb6/step6.py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USA right offset -0.5（slide）取代 active parser -0.1；Taiwan path / lane calibration 分別處理。</a:t>
            </a:r>
          </a:p>
          <a:p xmlns:a="http://schemas.openxmlformats.org/drawingml/2006/main">
            <a:r>
              <a:t>數值修正：stable softplus 避免有限 logits 導致 exp overflow。Step 6 traffic [0,0] 與 training [1,0] 差異保留在解釋中。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四組完整影片技術驗證</a:t>
            </a:r>
          </a:p>
          <a:p xmlns:a="http://schemas.openxmlformats.org/drawingml/2006/main">
            <a:r>
              <a:t>Evidence: projects/project2/agent/artifacts/do-new-v2/step6/report.json; {usa,taiwan}/{final,best}/manifest.json; production frame PNGs; projects/project2/modelb6/step6.py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Raw shape 為 (predictions,2383)，四組皆 finite。Path 指歷史 near-path 索引 4:40（36 個 samples）；lane width ≤0 是診斷閾值。數值為描述性 measures，沒有 ground-truth accuracy。USA --37 是 train-seen。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  <ns0:p xmlns:ns0="http://schemas.openxmlformats.org/drawingml/2006/main">
            <ns0:r>
              <ns0:t>2026-10-13 metric scope correction: near-path temporal values use step6.py summarize indices4:40, not first20. Numeric values unchanged.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 同一時刻的 final / best 疊圖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Repository HEAD e1a1bc5c75a085e1b39629986b98302f1842fe4b, audit 2026-10-09</a:t>
            </a:r>
          </a:p>
          <a:p>
            <a:r>
              <a:t>左上為道路疊圖，右下為 top-down prediction。兩張圖的 top-down 橫軸尺度不同，不以線條外觀比較精確度；四組 temporal stability 數值見前頁。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Exact existing documented crops from Figure-A-taiwan-frame-601.png, no curves redrawn. Crop indices and original full source retained in previous build-v2/author.mjs. Different raw Y-axis scales explicitly visible. Native text now explains morphology, not amplitude or accuracy. Same frame/state/preprocess/parser/calibration/projection as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Taiwan 也保留不同 checkpoint 的對照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Repository HEAD e1a1bc5c75a085e1b39629986b98302f1842fe4b, audit 2026-10-09</a:t>
            </a:r>
          </a:p>
          <a:p>
            <a:r>
              <a:t>同來源、同 frame 比較；top-down 橫軸尺度不同。Taiwan 投影與 USA 不同，圖像不建立 domain accuracy 排名或 prediction correctness。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Actual Figure-B-usa.png (USA frame600), enlarged from original 295px slot to355px at identical aspect ratio; original axes, units, legend preserved. projection-check.json max1.1368683772161603e-13px. Not a global calibration or driving-quality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異常線索：不同道路卻產生相近輸出</a:t>
            </a:r>
          </a:p>
          <a:p xmlns:a="http://schemas.openxmlformats.org/drawingml/2006/main">
            <a:r>
              <a:t>Evidence: projects/project2/agent/artifacts/do-new-v2/step6/report.json; {usa,taiwan}/{final,best}/manifest.json; production frame PNGs; projects/project2/modelb6/step6.py</a:t>
            </a:r>
          </a:p>
          <a:p xmlns:a="http://schemas.openxmlformats.org/drawingml/2006/main">
            <a:r>
              <a:t>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不能用長 rollout 差異直接宣稱 image sensitivity。接下來固定 checkpoint 與其餘 inputs，採單因子 intervention。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單因子敏感度實驗的控制設計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Repository HEAD e1a1bc5c75a085e1b39629986b98302f1842fe4b, audit 2026-10-09</a:t>
            </a:r>
          </a:p>
          <a:p>
            <a:r>
              <a:t>USA indices：0 / 299 / 599 / 898 / 1198；Taiwan：0 / 300 / 600 / 900 / 1200。需前／後 pair 的比較 n=4。合計 212 single-factor records，另有 12-pair feedback / reset windows。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Original native chart and literal workbook data unchanged. Added explanatory definitions and preserved sample/condition limits. 讀圖：MAE 是平均絕對差；這裡越大，表示介入讓輸出改變越多。 縱軸為 log10(MAE)，負值不代表負誤差。−7 約等於 1e−7。</a:t>
            </a:r>
          </a:p>
          <a:p>
            <a:r>
              <a:t>已測 image swap n=5、prior state n=4／cell；固定其他 inputs／weights。 Final USA 的 state 介入 MAE=1.868；Best USA=2.046。結論限於已測 inputs，未建立全域 image independence。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前處理檢查：真實輸入確實不同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Repository HEAD e1a1bc5c75a085e1b39629986b98302f1842fe4b, audit 2026-10-09</a:t>
            </a:r>
          </a:p>
          <a:p>
            <a:r>
              <a:t>重複 identical input 的輸出 bitwise identical。這些檢查排除已檢查 samples 的近似影像／scale mismatch 解釋，未證明所有 preprocessing 都理想。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Original native chart and literal workbook data unchanged. Added explanatory definitions and preserved sample/condition limits. 讀圖：activation MAE 比較兩張影像在同一層的回應；越低，兩者越接近。 縱軸為 log10(activation MAE)。整體下降，表示可區分影像的差異逐步縮小。</a:t>
            </a:r>
          </a:p>
          <a:p>
            <a:r>
              <a:t>同一 USA-quarter／Taiwan-quarter real swap；不同層的尺度也可能不同。 Final flatten MAE=1.076e−7；平均 activation magnitude≈2.824。這是已測對照，並非所有影像或唯一成因。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更換影像的輸出變化極小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Repository HEAD e1a1bc5c75a085e1b39629986b98302f1842fe4b, audit 2026-10-09</a:t>
            </a:r>
          </a:p>
          <a:p>
            <a:r>
              <a:t>Chart：cross-domain real swap 與 zero-image OOD 的 mean full-output MAE，n=5 / cell。</a:t>
            </a:r>
          </a:p>
          <a:p>
            <a:r>
              <a:t>最大 raw single-value image-swap change ≤4.58e-5。Zero image 為 OOD control；結論限定於實驗樣本與固定 inputs。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[{"name":"Real cross-domain swap","values":[-7.01294592991918,-7.01294592991918,-6.49208767428734,-6.49208767428734],"fill":"#6D28D9"},{"name":"Zero image · OOD","values":[-6.57443450341984,-6.60277160275256,-6.47156959144372,-6.51121504696709],"fill":"#0369A1"}]</a:t>
            </a:r>
          </a:p>
          <a:p>
            <a:r>
              <a:t>Presentation content review: Original native chart and literal workbook data unchanged. Added explanatory definitions and preserved sample/condition limits. 讀圖：gradient RMS 表示此處 loss 對輸入微小變動的局部敏感度。 縱軸為 log10(RMS)，低柱表示梯度更小；RMS 有助比較不同大小的 tensors。</a:t>
            </a:r>
          </a:p>
          <a:p>
            <a:r>
              <a:t>18 samples 的 original-condition median；原 custom loss 與 targets 保留。 Final image/state RMS=9.775e−15／0.1907；Best=2.580e−15／0.2903。Tiny nonzero 並非 numerical zero；局部梯度不等於全域因果。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Previous state 的效應明顯較大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Repository HEAD e1a1bc5c75a085e1b39629986b98302f1842fe4b, audit 2026-10-09</a:t>
            </a:r>
          </a:p>
          <a:p>
            <a:r>
              <a:t>Prior state intervention n=4 / cell；Final USA mean full MAE = 1.8681882426295509；Best USA = 2.0459331007376322。</a:t>
            </a:r>
          </a:p>
          <a:p>
            <a:r>
              <a:t>同一 12-pair window：feedback vs reset 的 mean full MAE 為 1.165 final / 3.033 best（排除首筆）。Direct meta / desire_pred / pose 的 state-intervention difference 恰為 0，符合分支架構。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[{"name":"Real cross-domain image swap · n=5","values":[-7.01294592991918,-7.01294592991918,-6.49208767428734,-6.49208767428734],"fill":"#0369A1"},{"name":"Prior-eight-pair state · n=4","values":[0.271420634536657,0.271420736277078,0.310891428762506,0.310891373208704],"fill":"#6D28D9"}]</a:t>
            </a:r>
          </a:p>
          <a:p>
            <a:r>
              <a:t>Presentation content review: Original native chart and literal workbook data unchanged. Added explanatory definitions and preserved sample/condition limits. 讀圖：log10(top RMS／stem RMS) 越大，反向傳至 stem 的衰減越嚴重。 三個 fresh seeds、54 records、0 optimizer steps，同一 18 cached samples。</a:t>
            </a:r>
          </a:p>
          <a:p>
            <a:r>
              <a:t>三組約 9.30–9.40 orders；計算使用 ratios of medians，不是平均逐筆比值。 支持衰減在訓練前已存在；fresh controls 不是歷史初始權重，也未單獨隔離 initializer 為唯一原因。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敏感度調查建立的結論與邊界</a:t>
            </a:r>
          </a:p>
          <a:p xmlns:a="http://schemas.openxmlformats.org/drawingml/2006/main">
            <a:r>
              <a:t>Evidence: 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調查結果用於縮小後續 encoder audit 的範圍；沒有 retraining 或已驗證的 model-quality 修復。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Encoder 內部的影像差異逐層衰減</a:t>
            </a:r>
          </a:p>
          <a:p xmlns:a="http://schemas.openxmlformats.org/drawingml/2006/main">
            <a:r>
              <a:t>Evidence: projects/project2/agent/artifacts/do-new-v2/p28-encoder-audit/{results,reference_controls}.json; step8_encoder_audit.py; docs/PROJECT2_AUDIT.md §19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同一 USA-quarter / Taiwan-quarter real swap。Chart 為各 endpoint activation MAE 的 log10，原值保留於 chart data / notes。Final flatten MAE = 1.076e-7，mean activation magnitude ≈2.824。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final","values":[0.886826770629735,-2.46278854688493,-3.71055511573455,-5.06631172623293,-6.49087413281208,-7.70410558044111,-7.53987800578645,-6.96808294141619],"line":{"fill":"#6D28D9","width":3}},{"name":"best","values":[0.886321728441356,-2.45949929939064,-3.70589370473297,-5.06938149622843,-6.41533749349368,-7.63344555243375,-7.4977556824263,-6.88905831076222],"line":{"fill":"#0369A1","width":3}},{"name":"Fresh 2801","values":[0.854499107352221,-2.20353938780689,-3.43973410138933,-4.85771873798868,-6.37659730153999,-7.94137871470682,-8.36217462719817,-8.19637822100147],"line":{"fill":"#64748B","width":3}}]</a:t>
            </a:r>
          </a:p>
          <a:p xmlns:a="http://schemas.openxmlformats.org/drawingml/2006/main">
            <a:r>
              <a:t>Original activation MAE values before log10 transform (same USA-quarter vs Taiwan-quarter image pair):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"final":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7.705960359791511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0.003445176317072196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0.00019473538981690746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0.000008583971632939817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3.229429939193114e-7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1.97648908149197e-8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2.8848417473041496e-8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1.0762596502900124e-7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"best":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7.697004286873069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0.0034713683589278808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0.00019683679964931468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0.000008523510564373282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3.842930289885352e-7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2.325704041471578e-8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3.178661762087193e-8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1.291045919060707e-7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"fresh_reference":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7.153179238111761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0.00625836101907636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0.0003633004188905139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0.000013876542240356949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4.20148384954972e-7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1.1445144634099822e-8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4.343355453457391e-9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6.362411859948264e-9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檢查競爭解釋，保留未被隔離的原因</a:t>
            </a:r>
          </a:p>
          <a:p xmlns:a="http://schemas.openxmlformats.org/drawingml/2006/main">
            <a:r>
              <a:t>Evidence: projects/project2/agent/artifacts/do-new-v2/p28-encoder-audit/{results,reference_controls}.json; step8_encoder_audit.py; docs/PROJECT2_AUDIT.md §19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Architecture 與 default initialization 的組合是調查對象。只在 inference 除以 255 未恢復有效 response，因此沒有採用這個修改。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Attribution 使用實際 supervised loss</a:t>
            </a:r>
          </a:p>
          <a:p>
            <a:r>
              <a:t>Evidence: projects/project2/agent/artifacts/do-new-v2/p29-gradient-audit/{summary,interpretation}.json; step9_gradient_audit.py; docs/PROJECT2_AUDIT.md §20</a:t>
            </a:r>
          </a:p>
          <a:p>
            <a:r>
              <a:t>Repository HEAD e1a1bc5c75a085e1b39629986b98302f1842fe4b, audit 2026-10-09</a:t>
            </a:r>
          </a:p>
          <a:p>
            <a:r>
              <a:t>Loss 使用 imported professor custom_loss：0.3 MSE[0:384] + 0.3 MSE[385:769] + 0.3 MSE[771:1155] + 0.1 MSE[0:2383]。固定 target / desire / traffic [1,0]，teacher state 為上一列，無 current / future target leak 證據。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All six flags and values from09-controlled-fixes/short-training-decision.json: totaltrue,pathfalse,lanefalse,smoothfalse,crossingtrue,imagefalse. Necessary conjunctive gate is operational and not a safety threshold. Same seed4201 and original random weights; both bestepoch7. No new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input 的局部 loss gradient 極小</a:t>
            </a:r>
          </a:p>
          <a:p xmlns:a="http://schemas.openxmlformats.org/drawingml/2006/main">
            <a:r>
              <a:t>Evidence: projects/project2/agent/artifacts/do-new-v2/p29-gradient-audit/{summary,interpretation}.json; step9_gradient_audit.py; docs/PROJECT2_AUDIT.md §20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18 samples、original condition 的 median。Final image RMS = 9.774764271e-15；state RMS = 0.1906711418。</a:t>
            </a:r>
          </a:p>
          <a:p xmlns:a="http://schemas.openxmlformats.org/drawingml/2006/main">
            <a:r>
              <a:t>Best image RMS = 2.579593744e-15；state RMS = 0.2902863671。RMS 用於不同 tensor size 的比較；tiny nonzero gradient 不是 numerical zero。局部 derivative 並非全域 causal attribution。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[{"name":"Median gradient RMS","values":[-14.0098937072767,-0.719715032842279,-14.5884486849326,-0.537173359660331],"fill":"#6D28D9"}]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移除 state 的結果並不一致</a:t>
            </a:r>
          </a:p>
          <a:p>
            <a:r>
              <a:t>Evidence: projects/project2/agent/artifacts/do-new-v2/p29-gradient-audit/{summary,interpretation}.json; step9_gradient_audit.py; docs/PROJECT2_AUDIT.md §20</a:t>
            </a:r>
          </a:p>
          <a:p>
            <a:r>
              <a:t>Repository HEAD e1a1bc5c75a085e1b39629986b98302f1842fe4b, audit 2026-10-09</a:t>
            </a:r>
          </a:p>
          <a:p>
            <a:r>
              <a:t>15 nonzero histories 的 paired ratio median（3 個 sequence-start zero states 排除）。Final range 1.030–148.906×；best 0.995874–1.001451×。</a:t>
            </a:r>
          </a:p>
          <a:p>
            <a:r>
              <a:t>Final-USA 有條件性 suppression 線索，Taiwan loss 可在 zero state 改善。LIKELY / SUGGESTED：局部 recurrent gating；NOT VERIFIED：universal useful shortcut。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Exact operational thresholds from02-design/mixed-state-design.md; per-condition outcomes12-promotion-decision/decision.json. Geometry requires both counts notincrease and one initiallynonzero count per domain decrease20%; E0USA allzero means this preregistered improvement gate cannot demonstrate improvement there (floor effect), not candidate universal ineffectiveness. Temporal/imitation floors1e-4, imagefloor1e-5; below imagefloor means unresolved, not healthyvision. Fresh repeat counts≤1% frames andstateRMS≤2%. Both candidates fail geometry/state/imitation; E2also temporal. Fixed custom loss alone does notpass. Existing summary values unchanged.</a:t>
            </a:r>
          </a:p>
          <a:p>
            <a:r>
              <a:t>Zero-floor interpretation added without changing the original preregistered gate or promotion verdict. In E0 USA both width and path-out failure counts are zero: a &gt;=20% improvement of an initially nonzero count cannot be demonstrated. Planned future evaluation would distinguish non-regression at zero from improvement via an independently defined continuous metric/new sample set. No retrospective gate rewrite or new experiment. E1/E2 still show increased path-out and worse state RMS in both domains. Source:02-design/mixed-state-design.md;09-free-running-evaluation/E0-summary.json;12-promotion-decision/decision.json.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Fresh controls：衰減在訓練前已存在</a:t>
            </a:r>
          </a:p>
          <a:p>
            <a:r>
              <a:t>Evidence: projects/project2/agent/artifacts/do-new-v2/p210-gradient-controls/summary.json; step10_gradient_controls.py; docs/PROJECT2_AUDIT.md §§21,23</a:t>
            </a:r>
          </a:p>
          <a:p>
            <a:r>
              <a:t>Repository HEAD e1a1bc5c75a085e1b39629986b98302f1842fe4b, audit 2026-10-09</a:t>
            </a:r>
          </a:p>
          <a:p>
            <a:r>
              <a:t>同一 18 cached samples、原 loss / targets / native inputs / teacher state。Top / stem gradient RMS 的 ratios of medians 轉為 log10 orders。</a:t>
            </a:r>
          </a:p>
          <a:p>
            <a:r>
              <a:t>Fresh seeds 3101 / 3102 / 3103 分別 9.4032603088 / 9.3036137983 / 9.3215033007 orders；不等同 historical P2.5 initialization，也未單獨隔離 initializer。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[{"name":"Top / stem orders","values":[9.40326030880665,9.30361379827038,9.32150330067632],"fill":"#6D28D9"}]</a:t>
            </a:r>
          </a:p>
          <a:p>
            <a:r>
              <a:t>Presentation content review: Existing exact E0/E2 USA MAE.4701591228→.4102017058m andtemporal.01329675265→.29306456957m/pair. Different metrics cannot be substituted. Existing E1/Taiwan qualifications retained in notes and adjacent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模型調查的證據層級</a:t>
            </a:r>
          </a:p>
          <a:p xmlns:a="http://schemas.openxmlformats.org/drawingml/2006/main">
            <a:r>
              <a:t>Evidence: 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projects/project2/agent/artifacts/do-new-v2/p28-encoder-audit/{results,reference_controls}.json; step8_encoder_audit.py; docs/PROJECT2_AUDIT.md §19</a:t>
            </a:r>
          </a:p>
          <a:p xmlns:a="http://schemas.openxmlformats.org/drawingml/2006/main">
            <a:r>
              <a:t>projects/project2/agent/artifacts/do-new-v2/p29-gradient-audit/{summary,interpretation}.json; step9_gradient_audit.py; docs/PROJECT2_AUDIT.md §20</a:t>
            </a:r>
          </a:p>
          <a:p xmlns:a="http://schemas.openxmlformats.org/drawingml/2006/main">
            <a:r>
              <a:t>projects/project2/agent/artifacts/do-new-v2/p210-gradient-controls/summary.json; step10_gradient_controls.py; docs/PROJECT2_AUDIT.md §§21,23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P2.7–P2.10 為學生 diagnostic milestone 名稱，不是課程 Step 7–8 SNPE / deployment，也不是 Project 3 成果。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基線在獨立 Python 環境執行</a:t>
            </a:r>
          </a:p>
          <a:p xmlns:a="http://schemas.openxmlformats.org/drawingml/2006/main">
            <a:r>
              <a:t>Evidence: docs/PROJECT2_AUDIT.md §§27,32; projects/project2/agent/FRAMEWORK_REVIEW.md; professor_baseline.py; evidence_agent.py</a:t>
            </a:r>
          </a:p>
          <a:p xmlns:a="http://schemas.openxmlformats.org/drawingml/2006/main">
            <a:r>
              <a:t>docs/PROJECT2_AUDIT.md §§29–32; projects/project2/agent/{vision_agent,diagnosis_agent,v2_evidence,v2_tests,prepare_v2}.py; DO_NEW_V2.md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CONFIRMED：audit 記錄完整 user-submitted baseline receipt。旅行細節只是示範回答，未驗證或預訂。Student default model ID 為 gemini-3.8-flash，可由 GEMINI_MODEL_ID 覆寫；此為目前 source 設定。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adapter 處理 Agno API 相容性</a:t>
            </a:r>
          </a:p>
          <a:p xmlns:a="http://schemas.openxmlformats.org/drawingml/2006/main">
            <a:r>
              <a:t>Evidence: docs/PROJECT2_AUDIT.md §§27,32; projects/project2/agent/FRAMEWORK_REVIEW.md; professor_baseline.py; evidence_agent.py</a:t>
            </a:r>
          </a:p>
          <a:p xmlns:a="http://schemas.openxmlformats.org/drawingml/2006/main">
            <a:r>
              <a:t>projects/project2/agent/professor_baseline.py; baseline_tests.py; git e1a1bc5 diff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確認 6 Agent constructors、1 active request；不直接改寫教授檔案。Baseline offline tests 檢查實際 construction / registered tools。相容 adapter 不改變 Agent architecture level。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5-Level review 與實作的架構定位</a:t>
            </a:r>
          </a:p>
          <a:p xmlns:a="http://schemas.openxmlformats.org/drawingml/2006/main">
            <a:r>
              <a:t>Evidence: docs/PROJECT2_AUDIT.md §§27,32; projects/project2/agent/FRAMEWORK_REVIEW.md; professor_baseline.py; evidence_agent.py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LIKELY / SUGGESTED：依 assigned framework 與實際配置分析。ReasoningTools 本身不建立 Level 3；多個 examples 不構成 Team。沒有 persistent memory、retrieval index、delegation 或 background job architecture。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 Do New：用 experiment facts 支持回答</a:t>
            </a:r>
          </a:p>
          <a:p>
            <a:r>
              <a:t>Evidence: docs/PROJECT2_AUDIT.md §§27,32; projects/project2/agent/FRAMEWORK_REVIEW.md; professor_baseline.py; evidence_agent.py</a:t>
            </a:r>
          </a:p>
          <a:p>
            <a:r>
              <a:t>Repository HEAD e1a1bc5c75a085e1b39629986b98302f1842fe4b, audit 2026-10-09</a:t>
            </a:r>
          </a:p>
          <a:p>
            <a:r>
              <a:t>CONFIRMED：audit §27 記錄 user receipt 驗收；來源數據仍可檢查。Live integration 成功不保證每句科學解釋正確，當時的機制解釋限制保留。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Actual prompt fromgit e1a1bc5 evidence_agent.py main. Table eight values fromdocs/PROJECT2_AUDIT.md§27 matched live submitted receipt SHA256bf8b431759149d4e6003ed437438e6e6700e6596c2b01036d67723af53255c7e. Diagnosticlossmedians notStep5epochloss. Only reported phrase near machine precision zero is quoted; other answer content explicitly audit summary, not fabricated transcript. v1source/tests/exportscript removed during cleanup, retrievable inGit e1a1bc5; current workingdirectory has v2, notfreshv1acceptance.</a:t>
            </a:r>
          </a:p>
          <a:p>
            <a:r>
              <a:t>C is original-condition median across18 individual samples:6 USA train(--37),6 USA validation(--32),6 Taiwan diagnostic extension. Desirezeros,traffic[1,0], previous teacher state; original custom loss, no optimizer updates. 144 trials include4 conditions x2 checkpoints x18samples, but displayed loss is original-condition only, not the median over all144. Taiwan targets are diagnostic teacher targets, not historical training or human ground truth. Sources: PROJECT2_AUDIT.md section20 and27. A/B/C protocol distinction added; existing accepted-answer summary remains nonverbatim.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New v2：數值、影像與整合三種模式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Diagnosis：讀取多實驗數值；Vision：實際 approved PNG bytes + structured report；Unified：兩者共同解釋。</a:t>
            </a:r>
          </a:p>
          <a:p>
            <a:r>
              <a:t>沒有多 Agent delegation，也沒有新增 training / inference experiments。Canonical export 是既有 production evidence 的唯讀副本。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Baseline currentactive agno2 travel/ReasoningTools. Professor reference includes other separate inactive examples (search/image/etc), so this table compares active baseline and our course-specific evidence integration; does notclaim professor source hasno image example. All extensions singleagent tools/instructions Level1 architecture, notTeam orpersistentmemory. v2onlyread-onlyexisting evidence, no newinference/training. Original current sourceandhistoricalacceptance status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八個工具與可追溯 evidence export</a:t>
            </a:r>
          </a:p>
          <a:p xmlns:a="http://schemas.openxmlformats.org/drawingml/2006/main">
            <a:r>
              <a:t>Evidence: docs/PROJECT2_AUDIT.md §§29–32; projects/project2/agent/{vision_agent,diagnosis_agent,v2_evidence,v2_tests,prepare_v2}.py; DO_NEW_V2.md</a:t>
            </a:r>
          </a:p>
          <a:p xmlns:a="http://schemas.openxmlformats.org/drawingml/2006/main">
            <a:r>
              <a:t>build/audit-data.json; private read-only Docker inspection receipt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26 canonical files：10 evidence JSON、4 cell manifests、12 PNGs。本次全部 byte count / SHA-256 匹配 export manifest。路徑 allowlist、拒絕 symlink／escape、完成狀態與 finite 檢查限制工具輸入。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Vision live：實際影像與定性報告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CONFIRMED：user receipt 經原 image / hash / report 核對，audit §30。Single still image 只支持空間觀察；無法證明 temporal zigzag、quantitative accuracy 或 safety。Offline mode report=null，gemini_executed=false。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Actual unchanged canonicalUSAfinalframe1, SHA2568c54890341c34a1a7dee89ef4b402513a2c8d922de778d62c63b9e613686e7f7. Audit§30 live receipt complete/imagegroundedreport. Four visible observations are faithful paraphrase from inspected audit; no transcript or providerreasoning invented. No newAPIcall. Thisoneimage doesnotconfirm temporalinstability, quantitativegroundtruth orcausality. offline report=null remains noGemini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Diagnosis / Unified 的 live 驗收仍待完成</a:t>
            </a:r>
          </a:p>
          <a:p xmlns:a="http://schemas.openxmlformats.org/drawingml/2006/main">
            <a:r>
              <a:t>Evidence: docs/PROJECT2_AUDIT.md §§29–32; projects/project2/agent/{vision_agent,diagnosis_agent,v2_evidence,v2_tests,prepare_v2}.py; DO_NEW_V2.md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NOT VERIFIED：尚無完成的 live report。Quota exhaustion 是外部阻擋紀錄，未證明功能失敗。先前 503 也保留在歷史。</a:t>
            </a:r>
          </a:p>
          <a:p xmlns:a="http://schemas.openxmlformats.org/drawingml/2006/main">
            <a:r>
              <a:t>PLANNED：配額恢復後重試，依 completed response 與人工 evidence review 驗收；更新本頁 status 區即可。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ns0:p xmlns:ns0="http://schemas.openxmlformats.org/drawingml/2006/main">
            <ns0:r>
              <ns0:t>2026-10-13 live evidence agent-live-20261012-01: Diagnosis actual eight tools and matching canonical payloads, fifth provider call429 per-minute input-token limit250000, no final answer. Unified canonical Taiwan/best/frame1 actual inline PNG784912bytes,1200x900,SHA2562a46e36a96b78ed0ff6edd9e9f256240cca06fd1f0b405ecc95d4122bf849a5d; firstcall503, no tools/answer. BothPENDING; userdeferredretry. Sources: Project2-Agent-Live-Verification/agent-live-20261012-01/report/acceptance.json and mode attempt01/provider-calls.json.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Offline、live 與 driving quality 分層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docs/PROJECT2_AUDIT.md §§27,32; projects/project2/agent/FRAMEWORK_REVIEW.md; professor_baseline.py; evidence_agent.py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Agent 歷史 offline suite：55/55（20 existing +35 v2），最新紀錄 2026-10-06。Offline checks、live acceptance 與駕駛品質各自驗證，不能互相取代。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Presentation content review: Current unittestdiscovery current-agent-tests.log:44 tests PASS withoutAPIcalls. Historical55 count includes nowremovedv1only11tests. Current44=6baseline+3modelselection+35v2. All currentsourcefileslisted inAgentREADME; removed evidence_agent.py/do_new_tests.py/prepare_demo.py stayinGite1a1bc5. All existingvisible datespreserved, including2026-10-06; coverand36 untouched. No newliveacceptance.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2 建立的工程成果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projects/project2/agent/artifacts/do-new-v2/step6/report.json; {usa,taiwan}/{final,best}/manifest.json; production frame PNGs; projects/project2/modelb6/step6.py</a:t>
            </a:r>
          </a:p>
          <a:p>
            <a:r>
              <a:t>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projects/project2/agent/artifacts/do-new-v2/p29-gradient-audit/{summary,interpretation}.json; step9_gradient_audit.py; docs/PROJECT2_AUDIT.md §20</a:t>
            </a:r>
          </a:p>
          <a:p>
            <a:r>
              <a:t>projects/project2/agent/artifacts/do-new-v2/p210-gradient-controls/summary.json; step10_gradient_controls.py; docs/PROJECT2_AUDIT.md §§21,23</a:t>
            </a:r>
          </a:p>
          <a:p>
            <a:r>
              <a:t>docs/PROJECT2_AUDIT.md §§27,32; projects/project2/agent/FRAMEWORK_REVIEW.md; professor_baseline.py; evidence_agent.py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VALIDATION BOUNDARY · NOT VERIFIED</a:t>
            </a:r>
          </a:p>
          <a:p>
            <a:r>
              <a:t>Driving quality；Diagnosis / Unified final live acceptance；唯一 causal mechanism 與有效 model repair。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Concrete concluding findings replace generic work inventory. Evidence: fixed120 validation source(G01); raw geometry(G02/G03), image/state intervention(E05/S02), depthwise(G04) and frozen-Best mixed-state(M02/M03) decisions. Preserve confirmed tested findings separately from not verified mechanism, repair and driving quality. Original course-core and live evidence coverage preserved; Project3 remains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v2_moved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前處理檢查：真實輸入確實不同</a:t>
            </a:r>
          </a:p>
          <a:p xmlns:a="http://schemas.openxmlformats.org/drawingml/2006/main">
            <a:r>
              <a:t>Evidence: 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projects/project2/agent/artifacts/do-new-v2/p28-encoder-audit/{results,reference_controls}.json; step8_encoder_audit.py; docs/PROJECT2_AUDIT.md §19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重複 identical input 的輸出 bitwise identical。這些檢查排除已檢查 samples 的近似影像／scale mismatch 解釋，未證明所有 preprocessing 都理想。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moved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state 的效應明顯較大</a:t>
            </a:r>
          </a:p>
          <a:p xmlns:a="http://schemas.openxmlformats.org/drawingml/2006/main">
            <a:r>
              <a:t>Evidence: projects/project2/agent/artifacts/do-new-v2/p27-sensitivity/results.json; projects/project2/modelb6/step7_sensitivity.py; docs/PROJECT2_AUDIT.md §18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Prior state intervention n=4 / cell；Final USA mean full MAE = 1.8681882426295509；Best USA = 2.0459331007376322。</a:t>
            </a:r>
          </a:p>
          <a:p xmlns:a="http://schemas.openxmlformats.org/drawingml/2006/main">
            <a:r>
              <a:t>同一 12-pair window：feedback vs reset 的 mean full MAE 為 1.165 final / 3.033 best（排除首筆）。Direct meta / desire_pred / pose 的 state-intervention difference 恰為 0，符合分支架構。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[{"name":"Real cross-domain image swap · n=5","values":[-7.01294592991918,-7.01294592991918,-6.49208767428734,-6.49208767428734],"fill":"#0369A1"},{"name":"Prior-eight-pair state · n=4","values":[0.271420634536657,0.271420736277078,0.310891428762506,0.310891373208704],"fill":"#6D28D9"}]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moved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Encoder 內部的影像差異逐層衰減</a:t>
            </a:r>
          </a:p>
          <a:p xmlns:a="http://schemas.openxmlformats.org/drawingml/2006/main">
            <a:r>
              <a:t>Evidence: projects/project2/agent/artifacts/do-new-v2/p28-encoder-audit/{results,reference_controls}.json; step8_encoder_audit.py; docs/PROJECT2_AUDIT.md §19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同一 USA-quarter / Taiwan-quarter real swap。Chart 為各 endpoint activation MAE 的 log10，原值保留於 chart data / notes。Final flatten MAE = 1.076e-7，mean activation magnitude ≈2.824。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final","values":[0.886826770629735,-2.46278854688493,-3.71055511573455,-5.06631172623293,-6.49087413281208,-7.70410558044111,-7.53987800578645,-6.96808294141619],"line":{"fill":"#6D28D9","width":3}},{"name":"best","values":[0.886321728441356,-2.45949929939064,-3.70589370473297,-5.06938149622843,-6.41533749349368,-7.63344555243375,-7.4977556824263,-6.88905831076222],"line":{"fill":"#0369A1","width":3}},{"name":"Fresh 2801","values":[0.854499107352221,-2.20353938780689,-3.43973410138933,-4.85771873798868,-6.37659730153999,-7.94137871470682,-8.36217462719817,-8.19637822100147],"line":{"fill":"#64748B","width":3}}]</a:t>
            </a:r>
          </a:p>
          <a:p xmlns:a="http://schemas.openxmlformats.org/drawingml/2006/main">
            <a:r>
              <a:t>Original activation MAE values before log10 transform (same USA-quarter vs Taiwan-quarter image pair):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"final":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7.705960359791511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0.003445176317072196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0.00019473538981690746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0.000008583971632939817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3.229429939193114e-7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1.97648908149197e-8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2.8848417473041496e-8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1.0762596502900124e-7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"best":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7.697004286873069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0.0034713683589278808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0.00019683679964931468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0.000008523510564373282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3.842930289885352e-7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2.325704041471578e-8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3.178661762087193e-8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1.291045919060707e-7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"fresh_reference":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"stem_activation",</a:t>
            </a:r>
          </a:p>
          <a:p xmlns:a="http://schemas.openxmlformats.org/drawingml/2006/main">
            <a:r>
              <a:t>      "mae": 7.153179238111761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"block3c_add",</a:t>
            </a:r>
          </a:p>
          <a:p xmlns:a="http://schemas.openxmlformats.org/drawingml/2006/main">
            <a:r>
              <a:t>      "mae": 0.00625836101907636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"block4d_add",</a:t>
            </a:r>
          </a:p>
          <a:p xmlns:a="http://schemas.openxmlformats.org/drawingml/2006/main">
            <a:r>
              <a:t>      "mae": 0.0003633004188905139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"block5d_add",</a:t>
            </a:r>
          </a:p>
          <a:p xmlns:a="http://schemas.openxmlformats.org/drawingml/2006/main">
            <a:r>
              <a:t>      "mae": 0.000013876542240356949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"block6e_add",</a:t>
            </a:r>
          </a:p>
          <a:p xmlns:a="http://schemas.openxmlformats.org/drawingml/2006/main">
            <a:r>
              <a:t>      "mae": 4.20148384954972e-7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"block7b_add",</a:t>
            </a:r>
          </a:p>
          <a:p xmlns:a="http://schemas.openxmlformats.org/drawingml/2006/main">
            <a:r>
              <a:t>      "mae": 1.1445144634099822e-8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"top_activation",</a:t>
            </a:r>
          </a:p>
          <a:p xmlns:a="http://schemas.openxmlformats.org/drawingml/2006/main">
            <a:r>
              <a:t>      "mae": 4.343355453457391e-9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"layer": "flatten",</a:t>
            </a:r>
          </a:p>
          <a:p xmlns:a="http://schemas.openxmlformats.org/drawingml/2006/main">
            <a:r>
              <a:t>      "mae": 6.362411859948264e-9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moved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input 的局部 loss gradient 極小</a:t>
            </a:r>
          </a:p>
          <a:p xmlns:a="http://schemas.openxmlformats.org/drawingml/2006/main">
            <a:r>
              <a:t>Evidence: projects/project2/agent/artifacts/do-new-v2/p29-gradient-audit/{summary,interpretation}.json; step9_gradient_audit.py; docs/PROJECT2_AUDIT.md §20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18 samples、original condition 的 median。Final image RMS = 9.774764271e-15；state RMS = 0.1906711418。</a:t>
            </a:r>
          </a:p>
          <a:p xmlns:a="http://schemas.openxmlformats.org/drawingml/2006/main">
            <a:r>
              <a:t>Best image RMS = 2.579593744e-15；state RMS = 0.2902863671。RMS 用於不同 tensor size 的比較；tiny nonzero gradient 不是 numerical zero。局部 derivative 並非全域 causal attribution。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[{"name":"Median gradient RMS","values":[-14.0098937072767,-0.719715032842279,-14.5884486849326,-0.537173359660331],"fill":"#6D28D9"}]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moved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controls：衰減在訓練前已存在</a:t>
            </a:r>
          </a:p>
          <a:p xmlns:a="http://schemas.openxmlformats.org/drawingml/2006/main">
            <a:r>
              <a:t>Evidence: projects/project2/agent/artifacts/do-new-v2/p210-gradient-controls/summary.json; step10_gradient_controls.py; docs/PROJECT2_AUDIT.md §§21,23</a:t>
            </a:r>
          </a:p>
          <a:p xmlns:a="http://schemas.openxmlformats.org/drawingml/2006/main">
            <a:r>
              <a:t>Repository HEAD e1a1bc5c75a085e1b39629986b98302f1842fe4b, audit 2026-10-09</a:t>
            </a:r>
          </a:p>
          <a:p xmlns:a="http://schemas.openxmlformats.org/drawingml/2006/main">
            <a:r>
              <a:t>同一 18 cached samples、原 loss / targets / native inputs / teacher state。Top / stem gradient RMS 的 ratios of medians 轉為 log10 orders。</a:t>
            </a:r>
          </a:p>
          <a:p xmlns:a="http://schemas.openxmlformats.org/drawingml/2006/main">
            <a:r>
              <a:t>Fresh seeds 3101 / 3102 / 3103 分別 9.4032603088 / 9.3036137983 / 9.3215033007 orders；不等同 historical P2.5 initialization，也未單獨隔離 initializer。</a:t>
            </a:r>
          </a:p>
          <a:p xmlns:a="http://schemas.openxmlformats.org/drawingml/2006/main">
            <a:r>
              <a:t>Quantitative full precision and report provenance: evidence/Project2-Final-Report-evidence-coverage.json</a:t>
            </a:r>
          </a:p>
          <a:p xmlns:a="http://schemas.openxmlformats.org/drawingml/2006/main">
            <a:r>
              <a:t>Editable chart values (log10 where axis states so): [{"name":"Top / stem orders","values":[9.40326030880665,9.30361379827038,9.32150330067632],"fill":"#6D28D9"}]</a:t>
            </a:r>
          </a:p>
          <ns0:p xmlns:ns0="http://schemas.openxmlformats.org/drawingml/2006/main">
            <ns0:r>
              <ns0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checkpoint identities: Final B6.keras 157259010 bytes, SHA256 7b3e95e913a4f6a04827ba8ab11739c320c8b0f4be94f2cb8ec0e916dd39bd03. Best B6BW.hdf5 157495320 bytes SHA256 97452bae969c8fc1b107bf2ad2679949b218fe94df7b8be2cb8e56a92148d21a. Original artifacts retained.</a:t>
            </a:r>
          </a:p>
          <a:p xmlns:a="http://schemas.openxmlformats.org/drawingml/2006/main">
            <a:r>
              <a:t>v2 claim: Original Best fixed loss 12.208786964416504 vs Final 79.12674713134766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/Users/2006wu/Desktop/Project2-B6-State-Divergence-Investigation/b6-state-divergence-20261009-01/13-state-loss-audit/fixed-validation-loss-decomposition.json</a:t>
            </a:r>
          </a:p>
          <a:p xmlns:a="http://schemas.openxmlformats.org/drawingml/2006/main">
            <a:r>
              <a:t>/Users/2006wu/Desktop/Project2-B6-Geometry-Investigation/b6-geometry-20261009-01/07-loss-gradient/validation120.json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Figure-A Taiwan frame601. Shared teacher previous state, traffic[1,0], same image/preprocess/parser/calibration/projection. Top row camera overlays; bottom original raw residual curves all192 points, no redraw. Original top-down row remains in source. Raw axes differ by role as original; focus is curve morphology, not comparable vertical scale.</a:t>
            </a:r>
          </a:p>
          <a:p xmlns:a="http://schemas.openxmlformats.org/drawingml/2006/main">
            <a:r>
              <a:t>v2 claim: Matched same-frame student raw geometry is jagged before visualization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>Shared teacher-state/traffic[1,0], not the full-clip free-running counter condition. No driving accuracy inference.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/Users/2006wu/Desktop/Project2-B6-Geometry-Investigation/b6-geometry-20261009-01/02-teacher-vs-best-vs-final/Figure-A-taiwan-frame-601.png</a:t>
            </a:r>
          </a:p>
          <a:p xmlns:a="http://schemas.openxmlformats.org/drawingml/2006/main">
            <a:r>
              <a:t>/Users/2006wu/Desktop/Project2-B6-Geometry-Investigation/b6-geometry-20261009-01/report/B6-Geometry-Investigation-Report.md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Figure-B USA frame600 contains original own-feedback trajectories. The original raw, parsed and projected plots are embedded without prediction redraw.</a:t>
            </a:r>
          </a:p>
          <a:p xmlns:a="http://schemas.openxmlformats.org/drawingml/2006/main">
            <a:r>
              <a:t>v2 claim: Projection maximum difference 1.1368683772161603e-13 px; abnormality upstream of visualization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>Only tested inputs and settings.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/Users/2006wu/Desktop/Project2-B6-Geometry-Investigation/b6-geometry-20261009-01/04-parser-calibration/projection-check.json</a:t>
            </a:r>
          </a:p>
          <a:p xmlns:a="http://schemas.openxmlformats.org/drawingml/2006/main">
            <a:r>
              <a:t>/Users/2006wu/Desktop/Project2-B6-Geometry-Investigation/b6-geometry-20261009-01/03-raw-parsed-projected/Figure-B-usa.png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512-state output slice [1871:2383]. Actual current teacher target has state supervised inside .1 MSE all2383; no BPTT. This diagram expresses actual data flow, not a proven unique cause.</a:t>
            </a:r>
          </a:p>
          <a:p xmlns:a="http://schemas.openxmlformats.org/drawingml/2006/main">
            <a:r>
              <a:t>v2 claim: Training uses teacher previous state; free running uses own previous state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/Users/2006wu/Desktop/Project2-B6-State-Divergence-Investigation/b6-state-divergence-20261009-01/report/B6-State-Divergence-Investigation-Report.md</a:t>
            </a:r>
          </a:p>
          <a:p xmlns:a="http://schemas.openxmlformats.org/drawingml/2006/main">
            <a:r>
              <a:t>/Users/2006wu/Desktop/Project2-B6-Mixed-State-Training/b6-mixed-state-20261009-01/report/B6-Mixed-State-Training-Investigation-Report.md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Same-frame evidence is USA Final frame65. The colored curves come from original source figure, teacher black, student free red, teacher-state dashed green. The full-sequence metrics are independently shown on right. Traffic[0,0], desire0. Width counter uses fixed first40. Teacher forcing starts atzero and uses teacher previousstate thereafter.</a:t>
            </a:r>
          </a:p>
          <a:p xmlns:a="http://schemas.openxmlformats.org/drawingml/2006/main">
            <a:r>
              <a:t>v2 claim: Original Final width failures USA1006/1199 Taiwan943/1201; teacher-forced zero both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>Full-sequence first40 counters; exact long-run counts can be numerically sensitive.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/Users/2006wu/Desktop/Project2-B6-State-Divergence-Investigation/b6-state-divergence-20261009-01/04-state-vs-geometry/usa-final-rollout-summary.json</a:t>
            </a:r>
          </a:p>
          <a:p xmlns:a="http://schemas.openxmlformats.org/drawingml/2006/main">
            <a:r>
              <a:t>/Users/2006wu/Desktop/Project2-B6-State-Divergence-Investigation/b6-state-divergence-20261009-01/04-state-vs-geometry/taiwan-final-rollout-summary.json</a:t>
            </a:r>
          </a:p>
          <a:p xmlns:a="http://schemas.openxmlformats.org/drawingml/2006/main">
            <a:r>
              <a:t>/Users/2006wu/Desktop/Project2-B6-State-Divergence-Investigation/b6-state-divergence-20261009-01/recheck-20261009/Recheck-Report.md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Taiwan Final single injectionframe1 width count943→1006 (+63). For injectionframe135 next100frame width/pathout bothzero, but Taiwan pathout returns282,width352. USA analogous returns245/313. Full sequences and batch-size caveats in recheck. This is temporal dependence, not a scalarRMS-only explanation.</a:t>
            </a:r>
          </a:p>
          <a:p xmlns:a="http://schemas.openxmlformats.org/drawingml/2006/main">
            <a:r>
              <a:t>v2 claim: Taiwan injection adverse943→1006; frame135 temporary, pathout282 width352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>Every tested single-injection branch eventually fails again. Teacher previousstate is causal past information.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/Users/2006wu/Desktop/Project2-B6-State-Divergence-Investigation/b6-state-divergence-20261009-01/recheck-20261009/all-injection-outcomes.json</a:t>
            </a:r>
          </a:p>
          <a:p xmlns:a="http://schemas.openxmlformats.org/drawingml/2006/main">
            <a:r>
              <a:t>/Users/2006wu/Desktop/Project2-B6-State-Divergence-Investigation/b6-state-divergence-20261009-01/recheck-20261009/Recheck-Report.md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matched initialization experiment, not mixed-state E0. Same freshseed4201 architecture/data/optimizer/loss. Variant only depthwise scaling. Both bestepoch7 of8, fixed120 validation. Raw values stored in decisionJSON.</a:t>
            </a:r>
          </a:p>
          <a:p xmlns:a="http://schemas.openxmlformats.org/drawingml/2006/main">
            <a:r>
              <a:t>v2 claim: Depthwise matched8epoch negative result, loss −0.1609%, no60epochpromotion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/Users/2006wu/Desktop/Project2-B6-Geometry-Investigation/b6-geometry-20261009-01/09-controlled-fixes/short-training-decision.json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Bernoulli row-level selection, not averaging teacher/student vectors. Frozen originalBest cached separately per recording, causally aligned previousrow; original teacher currenttargets unchanged. NoBPTT. Actual selected82/320 and162/320. Same rowplan two20rowwindowsperepoch; not historical60epochtrajectory.</a:t>
            </a:r>
          </a:p>
          <a:p xmlns:a="http://schemas.openxmlformats.org/drawingml/2006/main">
            <a:r>
              <a:t>v2 claim: E0q0 E1q.25 E2q.5 same8x20x2 seed4201 Adam loss data; frozenBest previousstate cache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/Users/2006wu/Desktop/Project2-B6-Mixed-State-Training/b6-mixed-state-20261009-01/02-design/mixed-state-design.md</a:t>
            </a:r>
          </a:p>
          <a:p xmlns:a="http://schemas.openxmlformats.org/drawingml/2006/main">
            <a:r>
              <a:t>/Users/2006wu/Desktop/Project2-B6-Mixed-State-Training/b6-mixed-state-20261009-01/report/B6-Mixed-State-Training-Investigation-Report.md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precision source values in09-free-running-evaluation summaries and08-fixed-validation; table uses roundeddisplay. StateRMS=current512studentstate vs teachercurrentstate. Pathout counts first40, outputgeometry not vehicledeparture. Allwidthcounts0. E0 already has almostnofailures so not attribute old-vs-new gains to mixing.</a:t>
            </a:r>
          </a:p>
          <a:p xmlns:a="http://schemas.openxmlformats.org/drawingml/2006/main">
            <a:r>
              <a:t>v2 claim: E0E1E2 fixedloss14.4614/16.3557/17.5898 USApathout0/14/412 Taiwan2/164/731 RMS8.237/16.280/13.075 and8.259/16.286/13.066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/Users/2006wu/Desktop/Project2-B6-Mixed-State-Training/b6-mixed-state-20261009-01/09-free-running-evaluation/E0-summary.json</a:t>
            </a:r>
          </a:p>
          <a:p xmlns:a="http://schemas.openxmlformats.org/drawingml/2006/main">
            <a:r>
              <a:t>/Users/2006wu/Desktop/Project2-B6-Mixed-State-Training/b6-mixed-state-20261009-01/09-free-running-evaluation/E1-summary.json</a:t>
            </a:r>
          </a:p>
          <a:p xmlns:a="http://schemas.openxmlformats.org/drawingml/2006/main">
            <a:r>
              <a:t>/Users/2006wu/Desktop/Project2-B6-Mixed-State-Training/b6-mixed-state-20261009-01/09-free-running-evaluation/E2-summary.json</a:t>
            </a:r>
          </a:p>
          <a:p xmlns:a="http://schemas.openxmlformats.org/drawingml/2006/main">
            <a:r>
              <a:t>/Users/2006wu/Desktop/Project2-B6-Mixed-State-Training/b6-mixed-state-20261009-01/report/B6-Mixed-State-Training-Investigation-Report.md</a:t>
            </a:r>
          </a:p>
          <a:p xmlns:a="http://schemas.openxmlformats.org/drawingml/2006/main">
            <a:r>
              <a:t>/Users/2006wu/Desktop/Project2-B6-Mixed-State-Training/b6-mixed-state-20261009-01/12-promotion-decision/decision.json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E2 vsE0: pathMAE.4701591228→.4102017058m =−12.753%, temporalchange.01329675265→.29306456957m/pair =22.0403×. PointwiseMAE teacher-validcapped40; temporalfirst40. TaiwanMAE.47804583→.49290171worse, E1temporal improvesbutstate/geometry/aggregateimitationgatesfail. Scope limited frozenBestformulation.</a:t>
            </a:r>
          </a:p>
          <a:p xmlns:a="http://schemas.openxmlformats.org/drawingml/2006/main">
            <a:r>
              <a:t>v2 claim: E2USApathMAEimproves12.8% temporalpathchange~22x whilefreegeometryregresses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>Only tested frozen-Best formulation; not allmixedstateorsequenceawaretraining.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/Users/2006wu/Desktop/Project2-B6-Mixed-State-Training/b6-mixed-state-20261009-01/09-free-running-evaluation/E0-summary.json</a:t>
            </a:r>
          </a:p>
          <a:p xmlns:a="http://schemas.openxmlformats.org/drawingml/2006/main">
            <a:r>
              <a:t>/Users/2006wu/Desktop/Project2-B6-Mixed-State-Training/b6-mixed-state-20261009-01/09-free-running-evaluation/E1-summary.json</a:t>
            </a:r>
          </a:p>
          <a:p xmlns:a="http://schemas.openxmlformats.org/drawingml/2006/main">
            <a:r>
              <a:t>/Users/2006wu/Desktop/Project2-B6-Mixed-State-Training/b6-mixed-state-20261009-01/09-free-running-evaluation/E2-summary.json</a:t>
            </a:r>
          </a:p>
          <a:p xmlns:a="http://schemas.openxmlformats.org/drawingml/2006/main">
            <a:r>
              <a:t>/Users/2006wu/Desktop/Project2-B6-Mixed-State-Training/b6-mixed-state-20261009-01/12-promotion-decision/conclusion.json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2_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CONFIRMED findings apply to tested models/sequences/conditions. LIKELY/SUGGESTED weakvisualcorrection plus recurrentfeedback maycontribute; exacttrainablerootcause and universalexposurebias notverified. Two repairhypotheses refersdepthwise andfrozenBestmixedstatefamily (E1/E2), not exactlytwoindividualruns.</a:t>
            </a:r>
          </a:p>
          <a:p xmlns:a="http://schemas.openxmlformats.org/drawingml/2006/main">
            <a:r>
              <a:t>v2 claim: Geometry/state mechanism narrowed; two testedrepairhypothesesrejected</a:t>
            </a:r>
          </a:p>
          <a:p xmlns:a="http://schemas.openxmlformats.org/drawingml/2006/main">
            <a:r>
              <a:t>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/Users/2006wu/Desktop/Project2-B6-Geometry-Investigation/b6-geometry-20261009-01/report/B6-Geometry-Investigation-Report.md</a:t>
            </a:r>
          </a:p>
          <a:p xmlns:a="http://schemas.openxmlformats.org/drawingml/2006/main">
            <a:r>
              <a:t>/Users/2006wu/Desktop/Project2-B6-State-Divergence-Investigation/b6-state-divergence-20261009-01/recheck-20261009/Recheck-Report.md</a:t>
            </a:r>
          </a:p>
          <a:p xmlns:a="http://schemas.openxmlformats.org/drawingml/2006/main">
            <a:r>
              <a:t>/Users/2006wu/Desktop/Project2-B6-Mixed-State-Training/b6-mixed-state-20261009-01/12-promotion-decision/conclusion.json</a:t>
            </a:r>
          </a:p>
          <a:p xmlns:a="http://schemas.openxmlformats.org/drawingml/2006/main">
            <a:r>
              <a:t>v2 claim: Recurrentinstability andweakvisualcorrection possible mechanism</a:t>
            </a:r>
          </a:p>
          <a:p xmlns:a="http://schemas.openxmlformats.org/drawingml/2006/main">
            <a:r>
              <a:t>LIKELY / SUGGESTED</a:t>
            </a:r>
          </a:p>
          <a:p xmlns:a="http://schemas.openxmlformats.org/drawingml/2006/main">
            <a:r>
              <a:t>Unique trainable rootcause, universalexposurebias, effective repair, drivingquality, safety andautonomousperformance NOT VERIFIED.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/Users/2006wu/Desktop/Project2-B6-State-Divergence-Investigation/b6-state-divergence-20261009-01/report/B6-State-Divergence-Investigation-Report.md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750a36af24a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6a366a5044c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d3ad066740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e9fdd2b4446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c44c6fd1d45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ba514776c46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70A4A8-3F01-4801-A93B-8934DA4DF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814DF9-1CA3-4F0A-9459-C282447182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0CE081-9DED-4670-94F3-EB676B3A9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194EAF-E081-4573-9D07-7131BB6C0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FFADFA-C7B2-4A77-8650-733315C7C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D73BD7-8569-42FD-9C14-90C015FA1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53B483-13FA-4EAA-B560-B27D6FAF4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B8725-6113-4F1A-8F7F-129B6A9447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8D39EE-8466-46FF-BCED-19A81FC01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97D819-CCA1-473C-B996-4DBE281B9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3efb7241844cb2" /><Relationship Type="http://schemas.openxmlformats.org/officeDocument/2006/relationships/slideLayout" Target="/ppt/slideLayouts/slideLayout1.xml" Id="R8f1bf353ee2c46d0" /><Relationship Type="http://schemas.openxmlformats.org/officeDocument/2006/relationships/slideLayout" Target="/ppt/slideLayouts/slideLayout2.xml" Id="R9373f1b428b747bd" /><Relationship Type="http://schemas.openxmlformats.org/officeDocument/2006/relationships/slideLayout" Target="/ppt/slideLayouts/slideLayout3.xml" Id="Rfc1ac6248c9c430e" /><Relationship Type="http://schemas.openxmlformats.org/officeDocument/2006/relationships/slideLayout" Target="/ppt/slideLayouts/slideLayout4.xml" Id="Rdb2135280b094ab3" /><Relationship Type="http://schemas.openxmlformats.org/officeDocument/2006/relationships/slideLayout" Target="/ppt/slideLayouts/slideLayout5.xml" Id="R20362074a44b4759" /><Relationship Type="http://schemas.openxmlformats.org/officeDocument/2006/relationships/slideLayout" Target="/ppt/slideLayouts/slideLayout6.xml" Id="Rb29cb5286ce34e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353ee2c46d0"/>
    <p:sldLayoutId xmlns:r="http://schemas.openxmlformats.org/officeDocument/2006/relationships" id="2147483650" r:id="R9373f1b428b747bd"/>
    <p:sldLayoutId xmlns:r="http://schemas.openxmlformats.org/officeDocument/2006/relationships" id="2147483651" r:id="Rfc1ac6248c9c430e"/>
    <p:sldLayoutId xmlns:r="http://schemas.openxmlformats.org/officeDocument/2006/relationships" id="2147483652" r:id="Rdb2135280b094ab3"/>
    <p:sldLayoutId xmlns:r="http://schemas.openxmlformats.org/officeDocument/2006/relationships" id="2147483653" r:id="R20362074a44b4759"/>
    <p:sldLayoutId xmlns:r="http://schemas.openxmlformats.org/officeDocument/2006/relationships" id="2147483654" r:id="Rb29cb5286ce34e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46937a5004860" /><Relationship Type="http://schemas.openxmlformats.org/officeDocument/2006/relationships/notesSlide" Target="/ppt/notesSlides/notesSlide1.xml" Id="Rd268199321e8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1182a48a548c3" /><Relationship Type="http://schemas.openxmlformats.org/officeDocument/2006/relationships/notesSlide" Target="/ppt/notesSlides/notesSlide2.xml" Id="R79001bba1b124d0e" 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8ac72e281a74da2" /><ns0:Relationship Type="http://schemas.openxmlformats.org/officeDocument/2006/relationships/notesSlide" Target="/ppt/notesSlides/notesSlide3.xml" Id="R9dbc8aac6aa84015" /></ns0: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d3dcf4f894e85" /><Relationship Type="http://schemas.openxmlformats.org/officeDocument/2006/relationships/notesSlide" Target="/ppt/notesSlides/notesSlide4.xml" Id="R60c727b923d6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78408a5684d29" /><Relationship Type="http://schemas.openxmlformats.org/officeDocument/2006/relationships/notesSlide" Target="/ppt/notesSlides/notesSlide5.xml" Id="R4c1ee2a17793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e6a83dfa34ad4" /><Relationship Type="http://schemas.openxmlformats.org/officeDocument/2006/relationships/notesSlide" Target="/ppt/notesSlides/notesSlide6.xml" Id="Re08d2602bef045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c21985f134651" /><Relationship Type="http://schemas.openxmlformats.org/officeDocument/2006/relationships/notesSlide" Target="/ppt/notesSlides/notesSlide7.xml" Id="R0c7c11ae468b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eb0ff41e0474a" /><Relationship Type="http://schemas.openxmlformats.org/officeDocument/2006/relationships/notesSlide" Target="/ppt/notesSlides/notesSlide8.xml" Id="Rf37e2190c7ff49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eb186ace64e35" /><Relationship Type="http://schemas.openxmlformats.org/officeDocument/2006/relationships/notesSlide" Target="/ppt/notesSlides/notesSlide9.xml" Id="R9ce1fe50ff7c491b" /></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cd212f64570435d" /><ns0:Relationship Type="http://schemas.openxmlformats.org/officeDocument/2006/relationships/chart" Target="/ppt/slides/charts/chart1.xml" Id="Ree80d6978557415a" /><ns0:Relationship Type="http://schemas.openxmlformats.org/officeDocument/2006/relationships/notesSlide" Target="/ppt/notesSlides/notesSlide10.xml" Id="R9439aa16dc2340b5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e6d94945185242b8" /><ns0:Relationship Type="http://schemas.openxmlformats.org/officeDocument/2006/relationships/notesSlide" Target="../notesSlides/v2_notesSlide11.xml" Id="R8d951825fabd4905" /></ns0: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5dc8687c5443e" /><Relationship Type="http://schemas.openxmlformats.org/officeDocument/2006/relationships/notesSlide" Target="/ppt/notesSlides/notesSlide12.xml" Id="R1fdd8e22b0ff47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c1eba97f14e59" /><Relationship Type="http://schemas.openxmlformats.org/officeDocument/2006/relationships/notesSlide" Target="/ppt/notesSlides/notesSlide13.xml" Id="R3b97530ee49044a8" /></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c08989ccf01248a8" /><ns0:Relationship Type="http://schemas.openxmlformats.org/officeDocument/2006/relationships/image" Target="../media/v2_image.png" Id="R8d9cf57a9aba4cd6" /><ns0:Relationship Type="http://schemas.openxmlformats.org/officeDocument/2006/relationships/image" Target="../media/v2_image2.png" Id="R5ed47ea7de2f4fb9" /><ns0:Relationship Type="http://schemas.openxmlformats.org/officeDocument/2006/relationships/image" Target="../media/v2_image3.png" Id="R80d8cf633e4141ea" /><ns0:Relationship Type="http://schemas.openxmlformats.org/officeDocument/2006/relationships/image" Target="../media/v2_image4.png" Id="Red865c3e85ad4d70" /><ns0:Relationship Type="http://schemas.openxmlformats.org/officeDocument/2006/relationships/image" Target="../media/v2_image5.png" Id="R95e2e931c6904701" /><ns0:Relationship Type="http://schemas.openxmlformats.org/officeDocument/2006/relationships/image" Target="../media/v2_image6.png" Id="R21149fbff6cc475d" /><ns0:Relationship Type="http://schemas.openxmlformats.org/officeDocument/2006/relationships/notesSlide" Target="../notesSlides/v2_notesSlide14.xml" Id="R2cbf34f0092b408f" /><ns0:Relationship Id="rIdNew140" Type="http://schemas.openxmlformats.org/officeDocument/2006/relationships/image" Target="../media/p2-revision-raw-0.png" /><ns0:Relationship Id="rIdNew142" Type="http://schemas.openxmlformats.org/officeDocument/2006/relationships/image" Target="../media/p2-revision-raw-1.png" /><ns0:Relationship Id="rIdNew144" Type="http://schemas.openxmlformats.org/officeDocument/2006/relationships/image" Target="../media/p2-revision-raw-2.png" /><ns0:Relationship Id="rIdNew146" Type="http://schemas.openxmlformats.org/officeDocument/2006/relationships/image" Target="../media/p2-revision-final-road.png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4e4de9b13f9e4d8d" /><ns0:Relationship Type="http://schemas.openxmlformats.org/officeDocument/2006/relationships/image" Target="../media/v2_image7.png" Id="R79e066ba21184c5e" /><ns0:Relationship Type="http://schemas.openxmlformats.org/officeDocument/2006/relationships/notesSlide" Target="../notesSlides/v2_notesSlide15.xml" Id="R7e87d4f447204e4e" /><ns0:Relationship Id="rIdNew154" Type="http://schemas.openxmlformats.org/officeDocument/2006/relationships/image" Target="../media/p2-revision-raw-parsed-projected.png" /></ns0: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4ce38abd254cb4"/><Relationship Type="http://schemas.openxmlformats.org/officeDocument/2006/relationships/notesSlide" Target="../notesSlides/v2_moved16.xml" Id="R8ead1b4515264c40"/></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d85a2c3239547ff" /><ns0:Relationship Type="http://schemas.openxmlformats.org/officeDocument/2006/relationships/chart" Target="/ppt/slides/charts/chart3.xml" Id="Rf02c9d9a6f7e442d" /><ns0:Relationship Type="http://schemas.openxmlformats.org/officeDocument/2006/relationships/notesSlide" Target="../notesSlides/v2_moved17.xml" Id="R794c3f6c3e5a4757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a7055cbed384d9c" /><ns0:Relationship Type="http://schemas.openxmlformats.org/officeDocument/2006/relationships/chart" Target="/ppt/slides/charts/chart4.xml" Id="Rf44d4ab235d54c62" /><ns0:Relationship Type="http://schemas.openxmlformats.org/officeDocument/2006/relationships/notesSlide" Target="../notesSlides/v2_moved18.xml" Id="R2e5d8e3de4de429c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86bc3692c144a56" /><ns0:Relationship Type="http://schemas.openxmlformats.org/officeDocument/2006/relationships/chart" Target="/ppt/slides/charts/chart5.xml" Id="Rf16e28a9c1404e94" /><ns0:Relationship Type="http://schemas.openxmlformats.org/officeDocument/2006/relationships/notesSlide" Target="../notesSlides/v2_moved19.xml" Id="R05c322868e834572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222f7e46115456c" /><ns0:Relationship Type="http://schemas.openxmlformats.org/officeDocument/2006/relationships/chart" Target="/ppt/slides/charts/chart6.xml" Id="Ra5d73f823f5a4f96" /><ns0:Relationship Type="http://schemas.openxmlformats.org/officeDocument/2006/relationships/notesSlide" Target="../notesSlides/v2_moved20.xml" Id="R713bca2452fa4d83" /></ns0: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f209356cd7c74cc3"/><Relationship Type="http://schemas.openxmlformats.org/officeDocument/2006/relationships/notesSlide" Target="../notesSlides/v2_notesSlide21.xml" Id="Ree24f2600919420b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81d16e4b0b9c47c2"/><Relationship Type="http://schemas.openxmlformats.org/officeDocument/2006/relationships/image" Target="../media/v2_image8.png" Id="Rbe15d4a4aeb54d45"/><Relationship Type="http://schemas.openxmlformats.org/officeDocument/2006/relationships/notesSlide" Target="../notesSlides/v2_notesSlide22.xml" Id="Rb81bc8e4c2024956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0865e8b2d7434120"/><Relationship Type="http://schemas.openxmlformats.org/officeDocument/2006/relationships/notesSlide" Target="../notesSlides/v2_notesSlide23.xml" Id="R64b26bbd92c24cad"/></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f11ef27422954b28" /><ns0:Relationship Type="http://schemas.openxmlformats.org/officeDocument/2006/relationships/notesSlide" Target="../notesSlides/v2_notesSlide24.xml" Id="R36484f3fcf3c404b" /></ns0: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c0653bef92974676"/><Relationship Type="http://schemas.openxmlformats.org/officeDocument/2006/relationships/notesSlide" Target="../notesSlides/v2_notesSlide25.xml" Id="Rea4b9ff2f5ea4457"/></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dba4f69493aa4e10" /><ns0:Relationship Type="http://schemas.openxmlformats.org/officeDocument/2006/relationships/notesSlide" Target="../notesSlides/v2_notesSlide26.xml" Id="Rae2aa285c9aa4f6f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1.xml" Id="R54e0473a790c43bf" /><ns0:Relationship Type="http://schemas.openxmlformats.org/officeDocument/2006/relationships/notesSlide" Target="../notesSlides/v2_notesSlide27.xml" Id="Rb5783a39d1dc4543" /></ns0: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335e4294047c4005"/><Relationship Type="http://schemas.openxmlformats.org/officeDocument/2006/relationships/notesSlide" Target="../notesSlides/v2_notesSlide28.xml" Id="Rb7165dc9b6374ddd"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e170753b048b2" /><Relationship Type="http://schemas.openxmlformats.org/officeDocument/2006/relationships/notesSlide" Target="/ppt/notesSlides/notesSlide29.xml" Id="Rcd34031da6554fb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516aef2e44100" /><Relationship Type="http://schemas.openxmlformats.org/officeDocument/2006/relationships/notesSlide" Target="/ppt/notesSlides/notesSlide30.xml" Id="Rada79fb7c9ed41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a27ae8fba46e0" /><Relationship Type="http://schemas.openxmlformats.org/officeDocument/2006/relationships/notesSlide" Target="/ppt/notesSlides/notesSlide31.xml" Id="R732dbe1bf0614c79" /></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acbd1f388e741f7" /><ns0:Relationship Type="http://schemas.openxmlformats.org/officeDocument/2006/relationships/notesSlide" Target="/ppt/notesSlides/notesSlide32.xml" Id="R45949cb1d5104f0e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bcdf6efb2c6468d" /><ns0:Relationship Type="http://schemas.openxmlformats.org/officeDocument/2006/relationships/notesSlide" Target="/ppt/notesSlides/notesSlide33.xml" Id="Rd9e5fc0d8eae47e7" /></ns0: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744b8e992467a" /><Relationship Type="http://schemas.openxmlformats.org/officeDocument/2006/relationships/notesSlide" Target="/ppt/notesSlides/notesSlide34.xml" Id="R9bb48006be7f45b9" /></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e265a51f9834b0b" /><ns0:Relationship Type="http://schemas.openxmlformats.org/officeDocument/2006/relationships/image" Target="/ppt/media/image5.png" Id="R95c76796c81b4f95" /><ns0:Relationship Type="http://schemas.openxmlformats.org/officeDocument/2006/relationships/notesSlide" Target="/ppt/notesSlides/notesSlide35.xml" Id="R87ace55a59834c3d" /><ns0:Relationship Id="rIdNew256" Type="http://schemas.openxmlformats.org/officeDocument/2006/relationships/image" Target="../media/p2-revision-vision-source.png" /></ns0: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bcacbfad4453c" /><Relationship Type="http://schemas.openxmlformats.org/officeDocument/2006/relationships/notesSlide" Target="/ppt/notesSlides/notesSlide36.xml" Id="Re6e6f0920359454e" /></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78d8b1c33234430" /><ns0:Relationship Type="http://schemas.openxmlformats.org/officeDocument/2006/relationships/notesSlide" Target="/ppt/notesSlides/notesSlide37.xml" Id="R8d4ae77e23204c9a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b357961aa58496b" /><ns0:Relationship Type="http://schemas.openxmlformats.org/officeDocument/2006/relationships/notesSlide" Target="/ppt/notesSlides/notesSlide38.xml" Id="R9458d9cd23d844e6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Teacher-target custom loss · epoch 1–60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Training loss</c:v>
          </c:tx>
          <c:spPr>
            <a:ln xmlns:a="http://schemas.openxmlformats.org/drawingml/2006/main" w="23813">
              <a:solidFill>
                <a:srgbClr val="0369A1"/>
              </a:solidFill>
            </a:ln>
          </c:spPr>
          <c:marker>
            <c:symbol val="none"/>
          </c:marker>
          <c:cat>
            <c:numRef>
              <c:f>'Chart Data'!$A$2:$A$61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cat>
          <c:val>
            <c:numRef>
              <c:f>'Chart Data'!$B$2:$B$61</c:f>
              <c:numCache>
                <c:formatCode>General</c:formatCode>
                <c:ptCount val="60"/>
                <c:pt idx="0">
                  <c:v>79.2671279907227</c:v>
                </c:pt>
                <c:pt idx="1">
                  <c:v>10.3434906005859</c:v>
                </c:pt>
                <c:pt idx="2">
                  <c:v>5.25730133056641</c:v>
                </c:pt>
                <c:pt idx="3">
                  <c:v>5.67512893676758</c:v>
                </c:pt>
                <c:pt idx="4">
                  <c:v>4.55456495285034</c:v>
                </c:pt>
                <c:pt idx="5">
                  <c:v>3.41660690307617</c:v>
                </c:pt>
                <c:pt idx="6">
                  <c:v>1.06380009651184</c:v>
                </c:pt>
                <c:pt idx="7">
                  <c:v>0.61636745929718</c:v>
                </c:pt>
                <c:pt idx="8">
                  <c:v>0.571145534515381</c:v>
                </c:pt>
                <c:pt idx="9">
                  <c:v>0.332301318645477</c:v>
                </c:pt>
                <c:pt idx="10">
                  <c:v>0.216690585017204</c:v>
                </c:pt>
                <c:pt idx="11">
                  <c:v>0.173467025160789</c:v>
                </c:pt>
                <c:pt idx="12">
                  <c:v>0.234954997897148</c:v>
                </c:pt>
                <c:pt idx="13">
                  <c:v>0.668510496616364</c:v>
                </c:pt>
                <c:pt idx="14">
                  <c:v>0.198955625295639</c:v>
                </c:pt>
                <c:pt idx="15">
                  <c:v>0.313675791025162</c:v>
                </c:pt>
                <c:pt idx="16">
                  <c:v>1.89712297916412</c:v>
                </c:pt>
                <c:pt idx="17">
                  <c:v>2.56526231765747</c:v>
                </c:pt>
                <c:pt idx="18">
                  <c:v>5.50966024398804</c:v>
                </c:pt>
                <c:pt idx="19">
                  <c:v>4.0572566986084</c:v>
                </c:pt>
                <c:pt idx="20">
                  <c:v>1.17045474052429</c:v>
                </c:pt>
                <c:pt idx="21">
                  <c:v>1.86815798282623</c:v>
                </c:pt>
                <c:pt idx="22">
                  <c:v>2.53271675109863</c:v>
                </c:pt>
                <c:pt idx="23">
                  <c:v>0.745613396167755</c:v>
                </c:pt>
                <c:pt idx="24">
                  <c:v>0.254729926586151</c:v>
                </c:pt>
                <c:pt idx="25">
                  <c:v>0.287915617227554</c:v>
                </c:pt>
                <c:pt idx="26">
                  <c:v>0.229591995477676</c:v>
                </c:pt>
                <c:pt idx="27">
                  <c:v>0.188643604516983</c:v>
                </c:pt>
                <c:pt idx="28">
                  <c:v>0.895666599273682</c:v>
                </c:pt>
                <c:pt idx="29">
                  <c:v>13.3488254547119</c:v>
                </c:pt>
                <c:pt idx="30">
                  <c:v>43.0628089904785</c:v>
                </c:pt>
                <c:pt idx="31">
                  <c:v>4.56117486953735</c:v>
                </c:pt>
                <c:pt idx="32">
                  <c:v>2.98299312591553</c:v>
                </c:pt>
                <c:pt idx="33">
                  <c:v>0.80575293302536</c:v>
                </c:pt>
                <c:pt idx="34">
                  <c:v>0.267726749181747</c:v>
                </c:pt>
                <c:pt idx="35">
                  <c:v>0.228140383958817</c:v>
                </c:pt>
                <c:pt idx="36">
                  <c:v>0.191802650690079</c:v>
                </c:pt>
                <c:pt idx="37">
                  <c:v>0.176673173904419</c:v>
                </c:pt>
                <c:pt idx="38">
                  <c:v>0.396675527095795</c:v>
                </c:pt>
                <c:pt idx="39">
                  <c:v>0.257970035076141</c:v>
                </c:pt>
                <c:pt idx="40">
                  <c:v>0.200353071093559</c:v>
                </c:pt>
                <c:pt idx="41">
                  <c:v>0.450728178024292</c:v>
                </c:pt>
                <c:pt idx="42">
                  <c:v>1.04208433628082</c:v>
                </c:pt>
                <c:pt idx="43">
                  <c:v>0.375451564788818</c:v>
                </c:pt>
                <c:pt idx="44">
                  <c:v>0.16901233792305</c:v>
                </c:pt>
                <c:pt idx="45">
                  <c:v>0.478464305400848</c:v>
                </c:pt>
                <c:pt idx="46">
                  <c:v>1.06707000732422</c:v>
                </c:pt>
                <c:pt idx="47">
                  <c:v>1.51393580436707</c:v>
                </c:pt>
                <c:pt idx="48">
                  <c:v>3.73368954658508</c:v>
                </c:pt>
                <c:pt idx="49">
                  <c:v>4.85878133773804</c:v>
                </c:pt>
                <c:pt idx="50">
                  <c:v>1.61861670017242</c:v>
                </c:pt>
                <c:pt idx="51">
                  <c:v>0.470589250326157</c:v>
                </c:pt>
                <c:pt idx="52">
                  <c:v>0.248334854841232</c:v>
                </c:pt>
                <c:pt idx="53">
                  <c:v>0.374931693077087</c:v>
                </c:pt>
                <c:pt idx="54">
                  <c:v>1.14045035839081</c:v>
                </c:pt>
                <c:pt idx="55">
                  <c:v>0.456695020198822</c:v>
                </c:pt>
                <c:pt idx="56">
                  <c:v>1.15052342414856</c:v>
                </c:pt>
                <c:pt idx="57">
                  <c:v>2.16016459465027</c:v>
                </c:pt>
                <c:pt idx="58">
                  <c:v>1.36217904090881</c:v>
                </c:pt>
                <c:pt idx="59">
                  <c:v>3.20409464836121</c:v>
                </c:pt>
              </c:numCache>
            </c:numRef>
          </c:val>
          <c:smooth val="0"/>
        </c:ser>
        <c:ser>
          <c:idx val="1"/>
          <c:order val="1"/>
          <c:tx>
            <c:v>Validation loss</c:v>
          </c:tx>
          <c:spPr>
            <a:ln xmlns:a="http://schemas.openxmlformats.org/drawingml/2006/main" w="28575">
              <a:solidFill>
                <a:srgbClr val="6D28D9"/>
              </a:solidFill>
            </a:ln>
          </c:spPr>
          <c:marker>
            <c:symbol val="none"/>
          </c:marker>
          <c:cat>
            <c:numRef>
              <c:f>'Chart Data'!$C$2:$C$61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cat>
          <c:val>
            <c:numRef>
              <c:f>'Chart Data'!$D$2:$D$61</c:f>
              <c:numCache>
                <c:formatCode>General</c:formatCode>
                <c:ptCount val="60"/>
                <c:pt idx="0">
                  <c:v>42.2973327636719</c:v>
                </c:pt>
                <c:pt idx="1">
                  <c:v>30.0927848815918</c:v>
                </c:pt>
                <c:pt idx="2">
                  <c:v>10.6103229522705</c:v>
                </c:pt>
                <c:pt idx="3">
                  <c:v>5.49363279342651</c:v>
                </c:pt>
                <c:pt idx="4">
                  <c:v>4.66823482513428</c:v>
                </c:pt>
                <c:pt idx="5">
                  <c:v>3.81652402877808</c:v>
                </c:pt>
                <c:pt idx="6">
                  <c:v>5.86505746841431</c:v>
                </c:pt>
                <c:pt idx="7">
                  <c:v>5.48772382736206</c:v>
                </c:pt>
                <c:pt idx="8">
                  <c:v>7.82135915756226</c:v>
                </c:pt>
                <c:pt idx="9">
                  <c:v>6.17100715637207</c:v>
                </c:pt>
                <c:pt idx="10">
                  <c:v>2.19848108291626</c:v>
                </c:pt>
                <c:pt idx="11">
                  <c:v>4.13026809692383</c:v>
                </c:pt>
                <c:pt idx="12">
                  <c:v>1.86925828456879</c:v>
                </c:pt>
                <c:pt idx="13">
                  <c:v>12.9960346221924</c:v>
                </c:pt>
                <c:pt idx="14">
                  <c:v>18.4481010437012</c:v>
                </c:pt>
                <c:pt idx="15">
                  <c:v>27.2939338684082</c:v>
                </c:pt>
                <c:pt idx="16">
                  <c:v>142.914993286133</c:v>
                </c:pt>
                <c:pt idx="17">
                  <c:v>254.925003051758</c:v>
                </c:pt>
                <c:pt idx="18">
                  <c:v>146.196014404297</c:v>
                </c:pt>
                <c:pt idx="19">
                  <c:v>143.111297607422</c:v>
                </c:pt>
                <c:pt idx="20">
                  <c:v>66.1919403076172</c:v>
                </c:pt>
                <c:pt idx="21">
                  <c:v>5.02396106719971</c:v>
                </c:pt>
                <c:pt idx="22">
                  <c:v>2.76473951339722</c:v>
                </c:pt>
                <c:pt idx="23">
                  <c:v>0.63464879989624</c:v>
                </c:pt>
                <c:pt idx="24">
                  <c:v>0.525409638881683</c:v>
                </c:pt>
                <c:pt idx="25">
                  <c:v>0.833008587360382</c:v>
                </c:pt>
                <c:pt idx="26">
                  <c:v>0.555522203445435</c:v>
                </c:pt>
                <c:pt idx="27">
                  <c:v>0.747852861881256</c:v>
                </c:pt>
                <c:pt idx="28">
                  <c:v>11.6544275283813</c:v>
                </c:pt>
                <c:pt idx="29">
                  <c:v>60.5683708190918</c:v>
                </c:pt>
                <c:pt idx="30">
                  <c:v>14.5459032058716</c:v>
                </c:pt>
                <c:pt idx="31">
                  <c:v>4.09415721893311</c:v>
                </c:pt>
                <c:pt idx="32">
                  <c:v>3.1076455116272</c:v>
                </c:pt>
                <c:pt idx="33">
                  <c:v>15.1290187835693</c:v>
                </c:pt>
                <c:pt idx="34">
                  <c:v>31.7361946105957</c:v>
                </c:pt>
                <c:pt idx="35">
                  <c:v>24.9084968566895</c:v>
                </c:pt>
                <c:pt idx="36">
                  <c:v>27.9974422454834</c:v>
                </c:pt>
                <c:pt idx="37">
                  <c:v>26.2766914367676</c:v>
                </c:pt>
                <c:pt idx="38">
                  <c:v>4.60584115982056</c:v>
                </c:pt>
                <c:pt idx="39">
                  <c:v>0.760581195354462</c:v>
                </c:pt>
                <c:pt idx="40">
                  <c:v>1.3142192363739</c:v>
                </c:pt>
                <c:pt idx="41">
                  <c:v>13.3708753585815</c:v>
                </c:pt>
                <c:pt idx="42">
                  <c:v>28.5981254577637</c:v>
                </c:pt>
                <c:pt idx="43">
                  <c:v>33.2993507385254</c:v>
                </c:pt>
                <c:pt idx="44">
                  <c:v>24.9935150146484</c:v>
                </c:pt>
                <c:pt idx="45">
                  <c:v>22.5156726837158</c:v>
                </c:pt>
                <c:pt idx="46">
                  <c:v>40.6671600341797</c:v>
                </c:pt>
                <c:pt idx="47">
                  <c:v>82.8778533935547</c:v>
                </c:pt>
                <c:pt idx="48">
                  <c:v>7.44476222991943</c:v>
                </c:pt>
                <c:pt idx="49">
                  <c:v>2.78384828567505</c:v>
                </c:pt>
                <c:pt idx="50">
                  <c:v>4.21088171005249</c:v>
                </c:pt>
                <c:pt idx="51">
                  <c:v>1.78833615779877</c:v>
                </c:pt>
                <c:pt idx="52">
                  <c:v>3.595370054245</c:v>
                </c:pt>
                <c:pt idx="53">
                  <c:v>23.571756362915</c:v>
                </c:pt>
                <c:pt idx="54">
                  <c:v>15.3817920684814</c:v>
                </c:pt>
                <c:pt idx="55">
                  <c:v>42.2455825805664</c:v>
                </c:pt>
                <c:pt idx="56">
                  <c:v>90.26806640625</c:v>
                </c:pt>
                <c:pt idx="57">
                  <c:v>66.6814956665039</c:v>
                </c:pt>
                <c:pt idx="58">
                  <c:v>43.4502449035645</c:v>
                </c:pt>
                <c:pt idx="59">
                  <c:v>71.7145843505859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TC"/>
                  <a:ea typeface="PingFang TC"/>
                  <a:cs typeface="PingFang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Skip val="10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28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TC"/>
              <a:ea typeface="PingFang TC"/>
              <a:cs typeface="PingFang TC"/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log10(mean full-output MAE) · smaller = weaker response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Real cross-domain swap</c:v>
          </c:tx>
          <c:spPr>
            <a:solidFill xmlns:a="http://schemas.openxmlformats.org/drawingml/2006/main">
              <a:srgbClr val="6D28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-7.01294592991918</c:v>
                </c:pt>
                <c:pt idx="1">
                  <c:v>-7.01294592991918</c:v>
                </c:pt>
                <c:pt idx="2">
                  <c:v>-6.49208767428734</c:v>
                </c:pt>
                <c:pt idx="3">
                  <c:v>-6.49208767428734</c:v>
                </c:pt>
              </c:numCache>
            </c:numRef>
          </c:val>
        </c:ser>
        <c:ser>
          <c:idx val="1"/>
          <c:order val="1"/>
          <c:tx>
            <c:v>Zero image · OOD</c:v>
          </c:tx>
          <c:spPr>
            <a:solidFill xmlns:a="http://schemas.openxmlformats.org/drawingml/2006/main">
              <a:srgbClr val="0369A1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-6.57443450341984</c:v>
                </c:pt>
                <c:pt idx="1">
                  <c:v>-6.60277160275256</c:v>
                </c:pt>
                <c:pt idx="2">
                  <c:v>-6.47156959144372</c:v>
                </c:pt>
                <c:pt idx="3">
                  <c:v>-6.51121504696709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TC"/>
                  <a:ea typeface="PingFang TC"/>
                  <a:cs typeface="PingFang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9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8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TC"/>
              <a:ea typeface="PingFang TC"/>
              <a:cs typeface="PingFang TC"/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log10(mean full-output MAE) · raw output units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Real cross-domain image swap · n=5</c:v>
          </c:tx>
          <c:spPr>
            <a:solidFill xmlns:a="http://schemas.openxmlformats.org/drawingml/2006/main">
              <a:srgbClr val="0369A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-7.01294592991918</c:v>
                </c:pt>
                <c:pt idx="1">
                  <c:v>-7.01294592991918</c:v>
                </c:pt>
                <c:pt idx="2">
                  <c:v>-6.49208767428734</c:v>
                </c:pt>
                <c:pt idx="3">
                  <c:v>-6.49208767428734</c:v>
                </c:pt>
              </c:numCache>
            </c:numRef>
          </c:val>
        </c:ser>
        <c:ser>
          <c:idx val="1"/>
          <c:order val="1"/>
          <c:tx>
            <c:v>Prior-eight-pair state · n=4</c:v>
          </c:tx>
          <c:spPr>
            <a:solidFill xmlns:a="http://schemas.openxmlformats.org/drawingml/2006/main">
              <a:srgbClr val="6D28D9"/>
            </a:solidFill>
          </c:spPr>
          <c:cat>
            <c:strRef>
              <c:f>'Chart Data'!$C$2:$C$5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0.271420634536657</c:v>
                </c:pt>
                <c:pt idx="1">
                  <c:v>0.271420736277078</c:v>
                </c:pt>
                <c:pt idx="2">
                  <c:v>0.310891428762506</c:v>
                </c:pt>
                <c:pt idx="3">
                  <c:v>0.310891373208704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TC"/>
                  <a:ea typeface="PingFang TC"/>
                  <a:cs typeface="PingFang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9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8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TC"/>
              <a:ea typeface="PingFang TC"/>
              <a:cs typeface="PingFang TC"/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log10(activation MAE) · same real-image swap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final</c:v>
          </c:tx>
          <c:spPr>
            <a:ln xmlns:a="http://schemas.openxmlformats.org/drawingml/2006/main" w="28575">
              <a:solidFill>
                <a:srgbClr val="6D28D9"/>
              </a:solidFill>
            </a:ln>
          </c:spPr>
          <c:marker>
            <c:symbol val="none"/>
          </c:marker>
          <c:cat>
            <c:strRef>
              <c:f>'Chart Data'!$A$2:$A$9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0.886826770629735</c:v>
                </c:pt>
                <c:pt idx="1">
                  <c:v>-2.46278854688493</c:v>
                </c:pt>
                <c:pt idx="2">
                  <c:v>-3.71055511573455</c:v>
                </c:pt>
                <c:pt idx="3">
                  <c:v>-5.06631172623293</c:v>
                </c:pt>
                <c:pt idx="4">
                  <c:v>-6.49087413281208</c:v>
                </c:pt>
                <c:pt idx="5">
                  <c:v>-7.70410558044111</c:v>
                </c:pt>
                <c:pt idx="6">
                  <c:v>-7.53987800578645</c:v>
                </c:pt>
                <c:pt idx="7">
                  <c:v>-6.96808294141619</c:v>
                </c:pt>
              </c:numCache>
            </c:numRef>
          </c:val>
          <c:smooth val="0"/>
        </c:ser>
        <c:ser>
          <c:idx val="1"/>
          <c:order val="1"/>
          <c:tx>
            <c:v>best</c:v>
          </c:tx>
          <c:spPr>
            <a:ln xmlns:a="http://schemas.openxmlformats.org/drawingml/2006/main" w="28575">
              <a:solidFill>
                <a:srgbClr val="0369A1"/>
              </a:solidFill>
            </a:ln>
          </c:spPr>
          <c:marker>
            <c:symbol val="none"/>
          </c:marker>
          <c:cat>
            <c:strRef>
              <c:f>'Chart Data'!$C$2:$C$9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0.886321728441356</c:v>
                </c:pt>
                <c:pt idx="1">
                  <c:v>-2.45949929939064</c:v>
                </c:pt>
                <c:pt idx="2">
                  <c:v>-3.70589370473297</c:v>
                </c:pt>
                <c:pt idx="3">
                  <c:v>-5.06938149622843</c:v>
                </c:pt>
                <c:pt idx="4">
                  <c:v>-6.41533749349368</c:v>
                </c:pt>
                <c:pt idx="5">
                  <c:v>-7.63344555243375</c:v>
                </c:pt>
                <c:pt idx="6">
                  <c:v>-7.4977556824263</c:v>
                </c:pt>
                <c:pt idx="7">
                  <c:v>-6.88905831076222</c:v>
                </c:pt>
              </c:numCache>
            </c:numRef>
          </c:val>
          <c:smooth val="0"/>
        </c:ser>
        <c:ser>
          <c:idx val="2"/>
          <c:order val="2"/>
          <c:tx>
            <c:v>Fresh 2801</c:v>
          </c:tx>
          <c:spPr>
            <a:ln xmlns:a="http://schemas.openxmlformats.org/drawingml/2006/main" w="28575">
              <a:solidFill>
                <a:srgbClr val="64748B"/>
              </a:solidFill>
            </a:ln>
          </c:spPr>
          <c:marker>
            <c:symbol val="none"/>
          </c:marker>
          <c:cat>
            <c:strRef>
              <c:f>'Chart Data'!$E$2:$E$9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Data'!$F$2:$F$9</c:f>
              <c:numCache>
                <c:formatCode>General</c:formatCode>
                <c:ptCount val="8"/>
                <c:pt idx="0">
                  <c:v>0.854499107352221</c:v>
                </c:pt>
                <c:pt idx="1">
                  <c:v>-2.20353938780689</c:v>
                </c:pt>
                <c:pt idx="2">
                  <c:v>-3.43973410138933</c:v>
                </c:pt>
                <c:pt idx="3">
                  <c:v>-4.85771873798868</c:v>
                </c:pt>
                <c:pt idx="4">
                  <c:v>-6.37659730153999</c:v>
                </c:pt>
                <c:pt idx="5">
                  <c:v>-7.94137871470682</c:v>
                </c:pt>
                <c:pt idx="6">
                  <c:v>-8.36217462719817</c:v>
                </c:pt>
                <c:pt idx="7">
                  <c:v>-8.19637822100147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TC"/>
                  <a:ea typeface="PingFang TC"/>
                  <a:cs typeface="PingFang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1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8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TC"/>
              <a:ea typeface="PingFang TC"/>
              <a:cs typeface="PingFang TC"/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log10(gradient RMS) · actual supervised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Median gradient RMS</c:v>
          </c:tx>
          <c:spPr>
            <a:solidFill xmlns:a="http://schemas.openxmlformats.org/drawingml/2006/main">
              <a:srgbClr val="6D28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Final image</c:v>
                </c:pt>
                <c:pt idx="1">
                  <c:v>Final state</c:v>
                </c:pt>
                <c:pt idx="2">
                  <c:v>Best image</c:v>
                </c:pt>
                <c:pt idx="3">
                  <c:v>Best state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-14.0098937072767</c:v>
                </c:pt>
                <c:pt idx="1">
                  <c:v>-0.719715032842279</c:v>
                </c:pt>
                <c:pt idx="2">
                  <c:v>-14.5884486849326</c:v>
                </c:pt>
                <c:pt idx="3">
                  <c:v>-0.537173359660331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TC"/>
                  <a:ea typeface="PingFang TC"/>
                  <a:cs typeface="PingFang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16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log10(median top RMS / median stem RMS)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75569"/>
              </a:solidFill>
              <a:latin typeface="PingFang TC"/>
              <a:ea typeface="PingFang TC"/>
              <a:cs typeface="PingFang TC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Top / stem orders</c:v>
          </c:tx>
          <c:spPr>
            <a:solidFill xmlns:a="http://schemas.openxmlformats.org/drawingml/2006/main">
              <a:srgbClr val="6D28D9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3101</c:v>
                </c:pt>
                <c:pt idx="1">
                  <c:v>3102</c:v>
                </c:pt>
                <c:pt idx="2">
                  <c:v>3103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9.40326030880665</c:v>
                </c:pt>
                <c:pt idx="1">
                  <c:v>9.30361379827038</c:v>
                </c:pt>
                <c:pt idx="2">
                  <c:v>9.32150330067632</c:v>
                </c:pt>
              </c:numCache>
            </c:numRef>
          </c:val>
        </c:ser>
        <c:dLbls>
          <c:delete val="1"/>
          <c:numFmt formatCode="0.00000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PingFang TC"/>
                  <a:ea typeface="PingFang TC"/>
                  <a:cs typeface="PingFang TC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-textbox-0">
            <a:extLst xmlns:a="http://schemas.openxmlformats.org/drawingml/2006/main">
              <a:ext uri="{FF2B5EF4-FFF2-40B4-BE49-F238E27FC236}">
                <a16:creationId xmlns:a16="http://schemas.microsoft.com/office/drawing/2014/main" id="{E3BEF7C5-1062-413C-AA57-A7B7155E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" name="p1-textbox-1">
            <a:extLst xmlns:a="http://schemas.openxmlformats.org/drawingml/2006/main">
              <a:ext uri="{FF2B5EF4-FFF2-40B4-BE49-F238E27FC236}">
                <a16:creationId xmlns:a16="http://schemas.microsoft.com/office/drawing/2014/main" id="{61DC856C-59E1-4944-8C5C-6EAA1C9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Model B6 Investigation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&amp; Evidence-Grounded Agents</a:t>
            </a:r>
          </a:p>
        </p:txBody>
      </p:sp>
      <p:sp>
        <p:nvSpPr>
          <p:cNvPr id="3" name="p1-textbox-2">
            <a:extLst xmlns:a="http://schemas.openxmlformats.org/drawingml/2006/main">
              <a:ext uri="{FF2B5EF4-FFF2-40B4-BE49-F238E27FC236}">
                <a16:creationId xmlns:a16="http://schemas.microsoft.com/office/drawing/2014/main" id="{F5FE3B50-9039-400E-8141-CDC3E04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rPr>
              <a:t>模型訓練、控制實驗與證據導向 AI Agent</a:t>
            </a:r>
          </a:p>
        </p:txBody>
      </p:sp>
      <p:sp>
        <p:nvSpPr>
          <p:cNvPr id="4" name="p1-rect-3">
            <a:extLst xmlns:a="http://schemas.openxmlformats.org/drawingml/2006/main">
              <a:ext uri="{FF2B5EF4-FFF2-40B4-BE49-F238E27FC236}">
                <a16:creationId xmlns:a16="http://schemas.microsoft.com/office/drawing/2014/main" id="{9A9A9F73-389D-4F94-91C5-0DE42E3D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-textbox-4">
            <a:extLst xmlns:a="http://schemas.openxmlformats.org/drawingml/2006/main">
              <a:ext uri="{FF2B5EF4-FFF2-40B4-BE49-F238E27FC236}">
                <a16:creationId xmlns:a16="http://schemas.microsoft.com/office/drawing/2014/main" id="{1AEB87F4-5044-44CF-AC46-1910CD06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rPr>
              <a:t>MODEL B6  /  AGNO  /  DIAGNOSTICS</a:t>
            </a:r>
          </a:p>
        </p:txBody>
      </p:sp>
      <p:sp>
        <p:nvSpPr>
          <p:cNvPr id="6" name="p1-textbox-5">
            <a:extLst xmlns:a="http://schemas.openxmlformats.org/drawingml/2006/main">
              <a:ext uri="{FF2B5EF4-FFF2-40B4-BE49-F238E27FC236}">
                <a16:creationId xmlns:a16="http://schemas.microsoft.com/office/drawing/2014/main" id="{FE1D70C8-7D75-4FCD-AD03-CDB67722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巫承志  /  113033225  /  動機28</a:t>
            </a:r>
          </a:p>
        </p:txBody>
      </p:sp>
      <p:sp>
        <p:nvSpPr>
          <p:cNvPr id="7" name="p1-textbox-6">
            <a:extLst xmlns:a="http://schemas.openxmlformats.org/drawingml/2006/main">
              <a:ext uri="{FF2B5EF4-FFF2-40B4-BE49-F238E27FC236}">
                <a16:creationId xmlns:a16="http://schemas.microsoft.com/office/drawing/2014/main" id="{0B0CF1A9-964D-4029-ADF0-54D3A1AD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rPr>
              <a:t>FINAL REPORT   ·   2026.10.09</a:t>
            </a:r>
          </a:p>
        </p:txBody>
      </p:sp>
    </p:spTree>
    <p:extLst>
      <p:ext uri="{BB962C8B-B14F-4D97-AF65-F5344CB8AC3E}">
        <p14:creationId xmlns:p14="http://schemas.microsoft.com/office/powerpoint/2010/main" val="1949481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-textbox-0">
            <a:extLst xmlns:a="http://schemas.openxmlformats.org/drawingml/2006/main">
              <a:ext uri="{FF2B5EF4-FFF2-40B4-BE49-F238E27FC236}">
                <a16:creationId xmlns:a16="http://schemas.microsoft.com/office/drawing/2014/main" id="{786E9348-3D40-4E47-A2ED-6DAFC3A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COURSE REQUIREMENT</a:t>
            </a:r>
          </a:p>
        </p:txBody>
      </p:sp>
      <p:sp>
        <p:nvSpPr>
          <p:cNvPr id="2" name="p2-textbox-1">
            <a:extLst xmlns:a="http://schemas.openxmlformats.org/drawingml/2006/main">
              <a:ext uri="{FF2B5EF4-FFF2-40B4-BE49-F238E27FC236}">
                <a16:creationId xmlns:a16="http://schemas.microsoft.com/office/drawing/2014/main" id="{D3DFA51A-F72A-45ED-8805-104C796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Project 2 成果與目前驗證狀態</a:t>
            </a:r>
          </a:p>
        </p:txBody>
      </p:sp>
      <p:sp>
        <p:nvSpPr>
          <p:cNvPr id="3" name="p2-rect-2">
            <a:extLst xmlns:a="http://schemas.openxmlformats.org/drawingml/2006/main">
              <a:ext uri="{FF2B5EF4-FFF2-40B4-BE49-F238E27FC236}">
                <a16:creationId xmlns:a16="http://schemas.microsoft.com/office/drawing/2014/main" id="{E6BAD5C8-3566-424F-95B6-A9CCD8BF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-textbox-3">
            <a:extLst xmlns:a="http://schemas.openxmlformats.org/drawingml/2006/main">
              <a:ext uri="{FF2B5EF4-FFF2-40B4-BE49-F238E27FC236}">
                <a16:creationId xmlns:a16="http://schemas.microsoft.com/office/drawing/2014/main" id="{F2119AFF-F59B-4212-8965-57DBEDE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E01  E03  E04  E09</a:t>
            </a:r>
          </a:p>
        </p:txBody>
      </p:sp>
      <p:sp>
        <p:nvSpPr>
          <p:cNvPr id="5" name="p2-textbox-4">
            <a:extLst xmlns:a="http://schemas.openxmlformats.org/drawingml/2006/main">
              <a:ext uri="{FF2B5EF4-FFF2-40B4-BE49-F238E27FC236}">
                <a16:creationId xmlns:a16="http://schemas.microsoft.com/office/drawing/2014/main" id="{BC3EE55D-D349-4F30-BAF1-708A8900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D4270-8C44-44C6-826E-2E3905872A4B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238750"/>
                <a:gridCol w="3105150"/>
              </a:tblGrid>
              <a:tr h="5143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課程要求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實作與證據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目前狀態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Step 5 訓練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60 epochs；final / best artifacts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訓練完成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Step 6 驗證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/ Taiwan × final / best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技術流程完成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Agno / agent.py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隔離環境、adapter、Baseline live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完整回答紀錄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5-Level / Do New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framework review、Evidence Agent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原始 Do New live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p2-textbox-5">
            <a:extLst xmlns:a="http://schemas.openxmlformats.org/drawingml/2006/main">
              <a:ext uri="{FF2B5EF4-FFF2-40B4-BE49-F238E27FC236}">
                <a16:creationId xmlns:a16="http://schemas.microsoft.com/office/drawing/2014/main" id="{CA15001D-CBDA-4D50-B475-271B120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額外 v2：Vision live 已驗收；Diagnosis / Unified 為 LIVE VERIFICATION PENDING。駕駛品質為 NOT VERIFIED。</a:t>
            </a:r>
          </a:p>
        </p:txBody>
      </p:sp>
    </p:spTree>
    <p:extLst>
      <p:ext uri="{BB962C8B-B14F-4D97-AF65-F5344CB8AC3E}">
        <p14:creationId xmlns:p14="http://schemas.microsoft.com/office/powerpoint/2010/main" val="2597563"/>
      </p:ext>
    </p:extLst>
  </p:cSld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1" name="Edited text 101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學生貢獻與模型調查主線</a:t>
            </a:r>
          </a:p>
        </p:txBody>
      </p:sp>
      <p:sp>
        <p:nvSpPr>
          <p:cNvPr id="102" name="Edited text 102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03" name="Rule 103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4" name="Edited text 104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05" name="Edited text 105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CONTRIBUTION / INVESTIGATION MAP</a:t>
            </a:r>
          </a:p>
        </p:txBody>
      </p:sp>
      <p:sp>
        <p:nvSpPr>
          <p:cNvPr id="106" name="Edited text 106"/>
          <p:cNvSpPr txBox="1"/>
          <p:nvPr/>
        </p:nvSpPr>
        <p:spPr>
          <a:xfrm>
            <a:off x="685800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5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課程核心</a:t>
            </a:r>
          </a:p>
        </p:txBody>
      </p:sp>
      <p:sp>
        <p:nvSpPr>
          <p:cNvPr id="107" name="Edited text 107"/>
          <p:cNvSpPr txBox="1"/>
          <p:nvPr/>
        </p:nvSpPr>
        <p:spPr>
          <a:xfrm>
            <a:off x="685800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訓練、四組驗證、Agent 與 Do New</a:t>
            </a:r>
          </a:p>
        </p:txBody>
      </p:sp>
      <p:sp>
        <p:nvSpPr>
          <p:cNvPr id="108" name="Edited text 108"/>
          <p:cNvSpPr txBox="1"/>
          <p:nvPr/>
        </p:nvSpPr>
        <p:spPr>
          <a:xfrm>
            <a:off x="4448175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5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工程改善</a:t>
            </a:r>
          </a:p>
        </p:txBody>
      </p:sp>
      <p:sp>
        <p:nvSpPr>
          <p:cNvPr id="109" name="Edited text 109"/>
          <p:cNvSpPr txBox="1"/>
          <p:nvPr/>
        </p:nvSpPr>
        <p:spPr>
          <a:xfrm>
            <a:off x="4448175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資料配對、隔離環境與產物驗證</a:t>
            </a:r>
          </a:p>
        </p:txBody>
      </p:sp>
      <p:sp>
        <p:nvSpPr>
          <p:cNvPr id="110" name="Edited text 110"/>
          <p:cNvSpPr txBox="1"/>
          <p:nvPr/>
        </p:nvSpPr>
        <p:spPr>
          <a:xfrm>
            <a:off x="8210550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5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原創調查</a:t>
            </a:r>
          </a:p>
        </p:txBody>
      </p:sp>
      <p:sp>
        <p:nvSpPr>
          <p:cNvPr id="111" name="Edited text 111"/>
          <p:cNvSpPr txBox="1"/>
          <p:nvPr/>
        </p:nvSpPr>
        <p:spPr>
          <a:xfrm>
            <a:off x="8210550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控制實驗、根因範圍與修復決策</a:t>
            </a:r>
          </a:p>
        </p:txBody>
      </p:sp>
      <p:sp>
        <p:nvSpPr>
          <p:cNvPr id="112" name="Rule 112"/>
          <p:cNvSpPr/>
          <p:nvPr/>
        </p:nvSpPr>
        <p:spPr>
          <a:xfrm>
            <a:off x="685800" y="284797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3" name="Edited text 113"/>
          <p:cNvSpPr txBox="1"/>
          <p:nvPr/>
        </p:nvSpPr>
        <p:spPr>
          <a:xfrm>
            <a:off x="685800" y="3086100"/>
            <a:ext cx="108204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模型調查如何一步步縮小問題？</a:t>
            </a:r>
          </a:p>
        </p:txBody>
      </p:sp>
      <p:sp>
        <p:nvSpPr>
          <p:cNvPr id="114" name="Edited text 114"/>
          <p:cNvSpPr txBox="1"/>
          <p:nvPr/>
        </p:nvSpPr>
        <p:spPr>
          <a:xfrm>
            <a:off x="68580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01  幾何異常</a:t>
            </a:r>
          </a:p>
        </p:txBody>
      </p:sp>
      <p:sp>
        <p:nvSpPr>
          <p:cNvPr id="115" name="Edited text 115"/>
          <p:cNvSpPr txBox="1"/>
          <p:nvPr/>
        </p:nvSpPr>
        <p:spPr>
          <a:xfrm>
            <a:off x="68580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raw output</a:t>
            </a:r>
          </a:p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已出現鋸齒</a:t>
            </a:r>
          </a:p>
        </p:txBody>
      </p:sp>
      <p:sp>
        <p:nvSpPr>
          <p:cNvPr id="116" name="Edited text 116"/>
          <p:cNvSpPr txBox="1"/>
          <p:nvPr/>
        </p:nvSpPr>
        <p:spPr>
          <a:xfrm>
            <a:off x="68580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14–15 頁</a:t>
            </a:r>
          </a:p>
        </p:txBody>
      </p:sp>
      <p:sp>
        <p:nvSpPr>
          <p:cNvPr id="117" name="Edited text 117"/>
          <p:cNvSpPr txBox="1"/>
          <p:nvPr/>
        </p:nvSpPr>
        <p:spPr>
          <a:xfrm>
            <a:off x="2638425" y="3886200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8" name="Edited text 118"/>
          <p:cNvSpPr txBox="1"/>
          <p:nvPr/>
        </p:nvSpPr>
        <p:spPr>
          <a:xfrm>
            <a:off x="2886075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02  排除部分解釋</a:t>
            </a:r>
          </a:p>
        </p:txBody>
      </p:sp>
      <p:sp>
        <p:nvSpPr>
          <p:cNvPr id="119" name="Edited text 119"/>
          <p:cNvSpPr txBox="1"/>
          <p:nvPr/>
        </p:nvSpPr>
        <p:spPr>
          <a:xfrm>
            <a:off x="2886075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已測前處理一致；</a:t>
            </a:r>
          </a:p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投影與參考吻合</a:t>
            </a:r>
          </a:p>
        </p:txBody>
      </p:sp>
      <p:sp>
        <p:nvSpPr>
          <p:cNvPr id="120" name="Edited text 120"/>
          <p:cNvSpPr txBox="1"/>
          <p:nvPr/>
        </p:nvSpPr>
        <p:spPr>
          <a:xfrm>
            <a:off x="2886075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15–16 頁</a:t>
            </a:r>
          </a:p>
        </p:txBody>
      </p:sp>
      <p:sp>
        <p:nvSpPr>
          <p:cNvPr id="121" name="Edited text 121"/>
          <p:cNvSpPr txBox="1"/>
          <p:nvPr/>
        </p:nvSpPr>
        <p:spPr>
          <a:xfrm>
            <a:off x="4838700" y="3886200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2" name="Edited text 122"/>
          <p:cNvSpPr txBox="1"/>
          <p:nvPr/>
        </p:nvSpPr>
        <p:spPr>
          <a:xfrm>
            <a:off x="508635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03  控制介入</a:t>
            </a:r>
          </a:p>
        </p:txBody>
      </p:sp>
      <p:sp>
        <p:nvSpPr>
          <p:cNvPr id="123" name="Edited text 123"/>
          <p:cNvSpPr txBox="1"/>
          <p:nvPr/>
        </p:nvSpPr>
        <p:spPr>
          <a:xfrm>
            <a:off x="508635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換影像回應極弱；</a:t>
            </a:r>
          </a:p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state policy 效應大</a:t>
            </a:r>
          </a:p>
        </p:txBody>
      </p:sp>
      <p:sp>
        <p:nvSpPr>
          <p:cNvPr id="124" name="Edited text 124"/>
          <p:cNvSpPr txBox="1"/>
          <p:nvPr/>
        </p:nvSpPr>
        <p:spPr>
          <a:xfrm>
            <a:off x="508635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17–23 頁</a:t>
            </a:r>
          </a:p>
        </p:txBody>
      </p:sp>
      <p:sp>
        <p:nvSpPr>
          <p:cNvPr id="125" name="Edited text 125"/>
          <p:cNvSpPr txBox="1"/>
          <p:nvPr/>
        </p:nvSpPr>
        <p:spPr>
          <a:xfrm>
            <a:off x="7038975" y="3886200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6" name="Edited text 126"/>
          <p:cNvSpPr txBox="1"/>
          <p:nvPr/>
        </p:nvSpPr>
        <p:spPr>
          <a:xfrm>
            <a:off x="7286625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04  檢驗修復</a:t>
            </a:r>
          </a:p>
        </p:txBody>
      </p:sp>
      <p:sp>
        <p:nvSpPr>
          <p:cNvPr id="127" name="Edited text 127"/>
          <p:cNvSpPr txBox="1"/>
          <p:nvPr/>
        </p:nvSpPr>
        <p:spPr>
          <a:xfrm>
            <a:off x="7286625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Depthwise／mixed-state</a:t>
            </a:r>
          </a:p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短訓練對照</a:t>
            </a:r>
          </a:p>
        </p:txBody>
      </p:sp>
      <p:sp>
        <p:nvSpPr>
          <p:cNvPr id="128" name="Edited text 128"/>
          <p:cNvSpPr txBox="1"/>
          <p:nvPr/>
        </p:nvSpPr>
        <p:spPr>
          <a:xfrm>
            <a:off x="7286625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24–27 頁</a:t>
            </a:r>
          </a:p>
        </p:txBody>
      </p:sp>
      <p:sp>
        <p:nvSpPr>
          <p:cNvPr id="129" name="Edited text 129"/>
          <p:cNvSpPr txBox="1"/>
          <p:nvPr/>
        </p:nvSpPr>
        <p:spPr>
          <a:xfrm>
            <a:off x="9239250" y="3886200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0" name="Edited text 130"/>
          <p:cNvSpPr txBox="1"/>
          <p:nvPr/>
        </p:nvSpPr>
        <p:spPr>
          <a:xfrm>
            <a:off x="948690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05  依門檻決策</a:t>
            </a:r>
          </a:p>
        </p:txBody>
      </p:sp>
      <p:sp>
        <p:nvSpPr>
          <p:cNvPr id="131" name="Edited text 131"/>
          <p:cNvSpPr txBox="1"/>
          <p:nvPr/>
        </p:nvSpPr>
        <p:spPr>
          <a:xfrm>
            <a:off x="948690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候選均未通過；</a:t>
            </a:r>
          </a:p>
          <a:p>
            <a:pPr>
              <a:lnSpc>
                <a:spcPct val="112000"/>
              </a:lnSpc>
              <a:buNone/>
            </a:pPr>
            <a:r>
              <a:rPr sz="16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不升級長訓練</a:t>
            </a:r>
          </a:p>
        </p:txBody>
      </p:sp>
      <p:sp>
        <p:nvSpPr>
          <p:cNvPr id="132" name="Edited text 132"/>
          <p:cNvSpPr txBox="1"/>
          <p:nvPr/>
        </p:nvSpPr>
        <p:spPr>
          <a:xfrm>
            <a:off x="948690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 頁</a:t>
            </a:r>
          </a:p>
        </p:txBody>
      </p:sp>
      <p:sp>
        <p:nvSpPr>
          <p:cNvPr id="133" name="Edited text 133"/>
          <p:cNvSpPr txBox="1"/>
          <p:nvPr/>
        </p:nvSpPr>
        <p:spPr>
          <a:xfrm>
            <a:off x="685800" y="5972175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CONFIRMED｜這是可追溯的調查與決策過程；唯一成因、有效修復與駕駛品質仍未驗證。</a:t>
            </a:r>
          </a:p>
        </p:txBody>
      </p:sp>
    </p:spTree>
    <p:extLst>
      <p:ext uri="{BB962C8B-B14F-4D97-AF65-F5344CB8AC3E}">
        <ns2:creationId val="1977318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4-textbox-0">
            <a:extLst xmlns:a="http://schemas.openxmlformats.org/drawingml/2006/main">
              <a:ext uri="{FF2B5EF4-FFF2-40B4-BE49-F238E27FC236}">
                <a16:creationId xmlns:a16="http://schemas.microsoft.com/office/drawing/2014/main" id="{654037A5-0303-4D5B-AC16-49635DD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SYSTEM ARCHITECTURE</a:t>
            </a:r>
          </a:p>
        </p:txBody>
      </p:sp>
      <p:sp>
        <p:nvSpPr>
          <p:cNvPr id="2" name="p4-textbox-1">
            <a:extLst xmlns:a="http://schemas.openxmlformats.org/drawingml/2006/main">
              <a:ext uri="{FF2B5EF4-FFF2-40B4-BE49-F238E27FC236}">
                <a16:creationId xmlns:a16="http://schemas.microsoft.com/office/drawing/2014/main" id="{C3BA0A84-9F7E-468A-90FA-06511B8F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兩條工作流共享同一份實驗證據</a:t>
            </a:r>
          </a:p>
        </p:txBody>
      </p:sp>
      <p:sp>
        <p:nvSpPr>
          <p:cNvPr id="3" name="p4-rect-2">
            <a:extLst xmlns:a="http://schemas.openxmlformats.org/drawingml/2006/main">
              <a:ext uri="{FF2B5EF4-FFF2-40B4-BE49-F238E27FC236}">
                <a16:creationId xmlns:a16="http://schemas.microsoft.com/office/drawing/2014/main" id="{498AB4EB-79F3-4F86-8F35-E3B8EC4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4-textbox-3">
            <a:extLst xmlns:a="http://schemas.openxmlformats.org/drawingml/2006/main">
              <a:ext uri="{FF2B5EF4-FFF2-40B4-BE49-F238E27FC236}">
                <a16:creationId xmlns:a16="http://schemas.microsoft.com/office/drawing/2014/main" id="{E90AA7E9-AAF6-4512-855C-E0FE078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E02  E03  E04  E10</a:t>
            </a:r>
          </a:p>
        </p:txBody>
      </p:sp>
      <p:sp>
        <p:nvSpPr>
          <p:cNvPr id="5" name="p4-textbox-4">
            <a:extLst xmlns:a="http://schemas.openxmlformats.org/drawingml/2006/main">
              <a:ext uri="{FF2B5EF4-FFF2-40B4-BE49-F238E27FC236}">
                <a16:creationId xmlns:a16="http://schemas.microsoft.com/office/drawing/2014/main" id="{576C0738-6139-4D3A-B0B0-590A4618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6" name="p4-rect-5">
            <a:extLst xmlns:a="http://schemas.openxmlformats.org/drawingml/2006/main">
              <a:ext uri="{FF2B5EF4-FFF2-40B4-BE49-F238E27FC236}">
                <a16:creationId xmlns:a16="http://schemas.microsoft.com/office/drawing/2014/main" id="{4471CD3A-6DC7-4901-A672-D6EE9958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4-textbox-6">
            <a:extLst xmlns:a="http://schemas.openxmlformats.org/drawingml/2006/main">
              <a:ext uri="{FF2B5EF4-FFF2-40B4-BE49-F238E27FC236}">
                <a16:creationId xmlns:a16="http://schemas.microsoft.com/office/drawing/2014/main" id="{58D95365-E534-45E5-8FB0-F8CC0DF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P1 inherited</a:t>
            </a:r>
          </a:p>
        </p:txBody>
      </p:sp>
      <p:sp>
        <p:nvSpPr>
          <p:cNvPr id="8" name="p4-textbox-7">
            <a:extLst xmlns:a="http://schemas.openxmlformats.org/drawingml/2006/main">
              <a:ext uri="{FF2B5EF4-FFF2-40B4-BE49-F238E27FC236}">
                <a16:creationId xmlns:a16="http://schemas.microsoft.com/office/drawing/2014/main" id="{E34F49CF-6FE9-462D-BFDA-A65DE2F8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OpenPilot / dataB6 / dataC</a:t>
            </a:r>
          </a:p>
        </p:txBody>
      </p:sp>
      <p:sp>
        <p:nvSpPr>
          <p:cNvPr id="9" name="p4-rect-8">
            <a:extLst xmlns:a="http://schemas.openxmlformats.org/drawingml/2006/main">
              <a:ext uri="{FF2B5EF4-FFF2-40B4-BE49-F238E27FC236}">
                <a16:creationId xmlns:a16="http://schemas.microsoft.com/office/drawing/2014/main" id="{ECE53694-319F-4EC6-B834-C445969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p4-textbox-9">
            <a:extLst xmlns:a="http://schemas.openxmlformats.org/drawingml/2006/main">
              <a:ext uri="{FF2B5EF4-FFF2-40B4-BE49-F238E27FC236}">
                <a16:creationId xmlns:a16="http://schemas.microsoft.com/office/drawing/2014/main" id="{98D3A92A-B23F-4DCB-8D21-6AAD6CF2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Model B6</a:t>
            </a:r>
          </a:p>
        </p:txBody>
      </p:sp>
      <p:sp>
        <p:nvSpPr>
          <p:cNvPr id="11" name="p4-textbox-10">
            <a:extLst xmlns:a="http://schemas.openxmlformats.org/drawingml/2006/main">
              <a:ext uri="{FF2B5EF4-FFF2-40B4-BE49-F238E27FC236}">
                <a16:creationId xmlns:a16="http://schemas.microsoft.com/office/drawing/2014/main" id="{78F776DB-B203-4BC7-AEBF-8518AA7D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TensorFlow 2.13.1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3.8 Docker</a:t>
            </a:r>
          </a:p>
        </p:txBody>
      </p:sp>
      <p:sp>
        <p:nvSpPr>
          <p:cNvPr id="12" name="p4-rect-11">
            <a:extLst xmlns:a="http://schemas.openxmlformats.org/drawingml/2006/main">
              <a:ext uri="{FF2B5EF4-FFF2-40B4-BE49-F238E27FC236}">
                <a16:creationId xmlns:a16="http://schemas.microsoft.com/office/drawing/2014/main" id="{CA85310E-1652-4F96-8CB9-C2C983E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p4-textbox-12">
            <a:extLst xmlns:a="http://schemas.openxmlformats.org/drawingml/2006/main">
              <a:ext uri="{FF2B5EF4-FFF2-40B4-BE49-F238E27FC236}">
                <a16:creationId xmlns:a16="http://schemas.microsoft.com/office/drawing/2014/main" id="{E1C43A32-2DFB-47C9-851F-9899AAB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95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Evidence</a:t>
            </a:r>
          </a:p>
        </p:txBody>
      </p:sp>
      <p:sp>
        <p:nvSpPr>
          <p:cNvPr id="14" name="p4-textbox-13">
            <a:extLst xmlns:a="http://schemas.openxmlformats.org/drawingml/2006/main">
              <a:ext uri="{FF2B5EF4-FFF2-40B4-BE49-F238E27FC236}">
                <a16:creationId xmlns:a16="http://schemas.microsoft.com/office/drawing/2014/main" id="{6E3AC172-270B-422E-A944-4C3801A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862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JSON / manifests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production PNGs</a:t>
            </a:r>
          </a:p>
        </p:txBody>
      </p:sp>
      <p:sp>
        <p:nvSpPr>
          <p:cNvPr id="15" name="p4-rect-14">
            <a:extLst xmlns:a="http://schemas.openxmlformats.org/drawingml/2006/main">
              <a:ext uri="{FF2B5EF4-FFF2-40B4-BE49-F238E27FC236}">
                <a16:creationId xmlns:a16="http://schemas.microsoft.com/office/drawing/2014/main" id="{F2C91F06-8491-4691-AB64-1062699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p4-textbox-15">
            <a:extLst xmlns:a="http://schemas.openxmlformats.org/drawingml/2006/main">
              <a:ext uri="{FF2B5EF4-FFF2-40B4-BE49-F238E27FC236}">
                <a16:creationId xmlns:a16="http://schemas.microsoft.com/office/drawing/2014/main" id="{BC5C004F-1063-4C86-B41B-F1FD9CAC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95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AI Agent</a:t>
            </a:r>
          </a:p>
        </p:txBody>
      </p:sp>
      <p:sp>
        <p:nvSpPr>
          <p:cNvPr id="17" name="p4-textbox-16">
            <a:extLst xmlns:a="http://schemas.openxmlformats.org/drawingml/2006/main">
              <a:ext uri="{FF2B5EF4-FFF2-40B4-BE49-F238E27FC236}">
                <a16:creationId xmlns:a16="http://schemas.microsoft.com/office/drawing/2014/main" id="{58D1B73C-6574-49FA-B5CD-2498066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862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Agno 3.1.1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3.11 venv</a:t>
            </a:r>
          </a:p>
        </p:txBody>
      </p:sp>
      <p:sp>
        <p:nvSpPr>
          <p:cNvPr id="18" name="p4-rightArrow-17">
            <a:extLst xmlns:a="http://schemas.openxmlformats.org/drawingml/2006/main">
              <a:ext uri="{FF2B5EF4-FFF2-40B4-BE49-F238E27FC236}">
                <a16:creationId xmlns:a16="http://schemas.microsoft.com/office/drawing/2014/main" id="{49B9415A-0E1A-4E6E-825B-D13BA3ED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14800"/>
            <a:ext cx="533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4-rightArrow-18">
            <a:extLst xmlns:a="http://schemas.openxmlformats.org/drawingml/2006/main">
              <a:ext uri="{FF2B5EF4-FFF2-40B4-BE49-F238E27FC236}">
                <a16:creationId xmlns:a16="http://schemas.microsoft.com/office/drawing/2014/main" id="{9D754754-DC7A-41CE-BB1D-FE18359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533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4-textbox-19">
            <a:extLst xmlns:a="http://schemas.openxmlformats.org/drawingml/2006/main">
              <a:ext uri="{FF2B5EF4-FFF2-40B4-BE49-F238E27FC236}">
                <a16:creationId xmlns:a16="http://schemas.microsoft.com/office/drawing/2014/main" id="{33BE9FBE-6EE9-4AB4-ABE9-45344DEB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read-only inherited inputs</a:t>
            </a:r>
          </a:p>
        </p:txBody>
      </p:sp>
      <p:sp>
        <p:nvSpPr>
          <p:cNvPr id="21" name="p4-rect-20">
            <a:extLst xmlns:a="http://schemas.openxmlformats.org/drawingml/2006/main">
              <a:ext uri="{FF2B5EF4-FFF2-40B4-BE49-F238E27FC236}">
                <a16:creationId xmlns:a16="http://schemas.microsoft.com/office/drawing/2014/main" id="{698E9664-BEA7-4195-8F20-800E4171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4-textbox-21">
            <a:extLst xmlns:a="http://schemas.openxmlformats.org/drawingml/2006/main">
              <a:ext uri="{FF2B5EF4-FFF2-40B4-BE49-F238E27FC236}">
                <a16:creationId xmlns:a16="http://schemas.microsoft.com/office/drawing/2014/main" id="{8F5DF755-2FCB-4522-A800-673DDC6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模型產物進入唯讀 Agent 工具，Agent 不修改模型。</a:t>
            </a:r>
          </a:p>
        </p:txBody>
      </p:sp>
      <p:sp>
        <p:nvSpPr>
          <p:cNvPr id="23" name="p4-textbox-22">
            <a:extLst xmlns:a="http://schemas.openxmlformats.org/drawingml/2006/main">
              <a:ext uri="{FF2B5EF4-FFF2-40B4-BE49-F238E27FC236}">
                <a16:creationId xmlns:a16="http://schemas.microsoft.com/office/drawing/2014/main" id="{75DBE737-3EBD-4390-9113-3F7D376B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1 環境只作既有基礎；本報告貢獻限於 Project 2。來源唯讀，derived / output 分離。</a:t>
            </a:r>
          </a:p>
        </p:txBody>
      </p:sp>
    </p:spTree>
    <p:extLst>
      <p:ext uri="{BB962C8B-B14F-4D97-AF65-F5344CB8AC3E}">
        <p14:creationId xmlns:p14="http://schemas.microsoft.com/office/powerpoint/2010/main" val="671725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5-textbox-0">
            <a:extLst xmlns:a="http://schemas.openxmlformats.org/drawingml/2006/main">
              <a:ext uri="{FF2B5EF4-FFF2-40B4-BE49-F238E27FC236}">
                <a16:creationId xmlns:a16="http://schemas.microsoft.com/office/drawing/2014/main" id="{459A287E-D0D6-4A99-BDE3-B658039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PART A · MODEL B6</a:t>
            </a:r>
          </a:p>
        </p:txBody>
      </p:sp>
      <p:sp>
        <p:nvSpPr>
          <p:cNvPr id="2" name="p5-textbox-1">
            <a:extLst xmlns:a="http://schemas.openxmlformats.org/drawingml/2006/main">
              <a:ext uri="{FF2B5EF4-FFF2-40B4-BE49-F238E27FC236}">
                <a16:creationId xmlns:a16="http://schemas.microsoft.com/office/drawing/2014/main" id="{5EA8C2BB-7317-48B1-8E13-6FECCE3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Model B6 的四輸入與分支</a:t>
            </a:r>
          </a:p>
        </p:txBody>
      </p:sp>
      <p:sp>
        <p:nvSpPr>
          <p:cNvPr id="3" name="p5-rect-2">
            <a:extLst xmlns:a="http://schemas.openxmlformats.org/drawingml/2006/main">
              <a:ext uri="{FF2B5EF4-FFF2-40B4-BE49-F238E27FC236}">
                <a16:creationId xmlns:a16="http://schemas.microsoft.com/office/drawing/2014/main" id="{087B852C-2D12-4BDA-B8CD-ABF6387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5-textbox-3">
            <a:extLst xmlns:a="http://schemas.openxmlformats.org/drawingml/2006/main">
              <a:ext uri="{FF2B5EF4-FFF2-40B4-BE49-F238E27FC236}">
                <a16:creationId xmlns:a16="http://schemas.microsoft.com/office/drawing/2014/main" id="{990413DB-9248-4A13-852A-BD1F086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E02  E05</a:t>
            </a:r>
          </a:p>
        </p:txBody>
      </p:sp>
      <p:sp>
        <p:nvSpPr>
          <p:cNvPr id="5" name="p5-textbox-4">
            <a:extLst xmlns:a="http://schemas.openxmlformats.org/drawingml/2006/main">
              <a:ext uri="{FF2B5EF4-FFF2-40B4-BE49-F238E27FC236}">
                <a16:creationId xmlns:a16="http://schemas.microsoft.com/office/drawing/2014/main" id="{DBC69D08-AD51-4AC7-93DE-1A5F1755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6" name="p5-rect-5">
            <a:extLst xmlns:a="http://schemas.openxmlformats.org/drawingml/2006/main">
              <a:ext uri="{FF2B5EF4-FFF2-40B4-BE49-F238E27FC236}">
                <a16:creationId xmlns:a16="http://schemas.microsoft.com/office/drawing/2014/main" id="{13BEB337-2D8A-4494-B496-A0F7F27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5-textbox-6">
            <a:extLst xmlns:a="http://schemas.openxmlformats.org/drawingml/2006/main">
              <a:ext uri="{FF2B5EF4-FFF2-40B4-BE49-F238E27FC236}">
                <a16:creationId xmlns:a16="http://schemas.microsoft.com/office/drawing/2014/main" id="{969845EA-560E-49F1-B230-E44E0CDF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Image pair</a:t>
            </a:r>
          </a:p>
        </p:txBody>
      </p:sp>
      <p:sp>
        <p:nvSpPr>
          <p:cNvPr id="8" name="p5-textbox-7">
            <a:extLst xmlns:a="http://schemas.openxmlformats.org/drawingml/2006/main">
              <a:ext uri="{FF2B5EF4-FFF2-40B4-BE49-F238E27FC236}">
                <a16:creationId xmlns:a16="http://schemas.microsoft.com/office/drawing/2014/main" id="{8D078782-B52F-43F8-8829-81014B8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2019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12 ×128 ×256</a:t>
            </a:r>
          </a:p>
        </p:txBody>
      </p:sp>
      <p:sp>
        <p:nvSpPr>
          <p:cNvPr id="9" name="p5-rightArrow-8">
            <a:extLst xmlns:a="http://schemas.openxmlformats.org/drawingml/2006/main">
              <a:ext uri="{FF2B5EF4-FFF2-40B4-BE49-F238E27FC236}">
                <a16:creationId xmlns:a16="http://schemas.microsoft.com/office/drawing/2014/main" id="{93885D9E-87D9-4261-B50B-2BD3F44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552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5-rect-9">
            <a:extLst xmlns:a="http://schemas.openxmlformats.org/drawingml/2006/main">
              <a:ext uri="{FF2B5EF4-FFF2-40B4-BE49-F238E27FC236}">
                <a16:creationId xmlns:a16="http://schemas.microsoft.com/office/drawing/2014/main" id="{B3A0A168-AADC-491F-856A-8724126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97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p5-textbox-10">
            <a:extLst xmlns:a="http://schemas.openxmlformats.org/drawingml/2006/main">
              <a:ext uri="{FF2B5EF4-FFF2-40B4-BE49-F238E27FC236}">
                <a16:creationId xmlns:a16="http://schemas.microsoft.com/office/drawing/2014/main" id="{091270FB-A1FC-463A-A116-8D598B16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62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Image encoder</a:t>
            </a:r>
          </a:p>
        </p:txBody>
      </p:sp>
      <p:sp>
        <p:nvSpPr>
          <p:cNvPr id="12" name="p5-textbox-11">
            <a:extLst xmlns:a="http://schemas.openxmlformats.org/drawingml/2006/main">
              <a:ext uri="{FF2B5EF4-FFF2-40B4-BE49-F238E27FC236}">
                <a16:creationId xmlns:a16="http://schemas.microsoft.com/office/drawing/2014/main" id="{195CEC5B-7359-415A-9068-F743CA5D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1024 embedding</a:t>
            </a:r>
          </a:p>
        </p:txBody>
      </p:sp>
      <p:sp>
        <p:nvSpPr>
          <p:cNvPr id="13" name="p5-rightArrow-12">
            <a:extLst xmlns:a="http://schemas.openxmlformats.org/drawingml/2006/main">
              <a:ext uri="{FF2B5EF4-FFF2-40B4-BE49-F238E27FC236}">
                <a16:creationId xmlns:a16="http://schemas.microsoft.com/office/drawing/2014/main" id="{BF249674-E05E-42F9-8F09-583E04B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552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5-rect-13">
            <a:extLst xmlns:a="http://schemas.openxmlformats.org/drawingml/2006/main">
              <a:ext uri="{FF2B5EF4-FFF2-40B4-BE49-F238E27FC236}">
                <a16:creationId xmlns:a16="http://schemas.microsoft.com/office/drawing/2014/main" id="{A651469F-B527-4ECC-AA62-856CA7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543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5-textbox-14">
            <a:extLst xmlns:a="http://schemas.openxmlformats.org/drawingml/2006/main">
              <a:ext uri="{FF2B5EF4-FFF2-40B4-BE49-F238E27FC236}">
                <a16:creationId xmlns:a16="http://schemas.microsoft.com/office/drawing/2014/main" id="{D7340151-8B0B-47D2-B37A-BDD04F24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Direct heads</a:t>
            </a:r>
          </a:p>
        </p:txBody>
      </p:sp>
      <p:sp>
        <p:nvSpPr>
          <p:cNvPr id="16" name="p5-textbox-15">
            <a:extLst xmlns:a="http://schemas.openxmlformats.org/drawingml/2006/main">
              <a:ext uri="{FF2B5EF4-FFF2-40B4-BE49-F238E27FC236}">
                <a16:creationId xmlns:a16="http://schemas.microsoft.com/office/drawing/2014/main" id="{AD1DAA45-9D48-4821-8CBB-A1974AE2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meta / desire_pred / pose</a:t>
            </a:r>
          </a:p>
        </p:txBody>
      </p:sp>
      <p:sp>
        <p:nvSpPr>
          <p:cNvPr id="17" name="p5-rect-16">
            <a:extLst xmlns:a="http://schemas.openxmlformats.org/drawingml/2006/main">
              <a:ext uri="{FF2B5EF4-FFF2-40B4-BE49-F238E27FC236}">
                <a16:creationId xmlns:a16="http://schemas.microsoft.com/office/drawing/2014/main" id="{675E148D-4BE4-4DF0-9093-2EEEBF2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p5-textbox-17">
            <a:extLst xmlns:a="http://schemas.openxmlformats.org/drawingml/2006/main">
              <a:ext uri="{FF2B5EF4-FFF2-40B4-BE49-F238E27FC236}">
                <a16:creationId xmlns:a16="http://schemas.microsoft.com/office/drawing/2014/main" id="{6F80216F-028F-412F-82CF-BA98A2C8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Desire / traffic</a:t>
            </a:r>
          </a:p>
        </p:txBody>
      </p:sp>
      <p:sp>
        <p:nvSpPr>
          <p:cNvPr id="19" name="p5-textbox-18">
            <a:extLst xmlns:a="http://schemas.openxmlformats.org/drawingml/2006/main">
              <a:ext uri="{FF2B5EF4-FFF2-40B4-BE49-F238E27FC236}">
                <a16:creationId xmlns:a16="http://schemas.microsoft.com/office/drawing/2014/main" id="{7F4DCC23-0F74-42AF-841F-8FBEF606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019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8 / 2 values</a:t>
            </a:r>
          </a:p>
        </p:txBody>
      </p:sp>
      <p:sp>
        <p:nvSpPr>
          <p:cNvPr id="20" name="p5-rect-19">
            <a:extLst xmlns:a="http://schemas.openxmlformats.org/drawingml/2006/main">
              <a:ext uri="{FF2B5EF4-FFF2-40B4-BE49-F238E27FC236}">
                <a16:creationId xmlns:a16="http://schemas.microsoft.com/office/drawing/2014/main" id="{C4A0201B-6AF7-4A74-8D2E-89ECD32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433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p5-textbox-20">
            <a:extLst xmlns:a="http://schemas.openxmlformats.org/drawingml/2006/main">
              <a:ext uri="{FF2B5EF4-FFF2-40B4-BE49-F238E27FC236}">
                <a16:creationId xmlns:a16="http://schemas.microsoft.com/office/drawing/2014/main" id="{DFE79591-E7A2-4C5F-A581-4F91565C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95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Recurrent gate</a:t>
            </a:r>
          </a:p>
        </p:txBody>
      </p:sp>
      <p:sp>
        <p:nvSpPr>
          <p:cNvPr id="22" name="p5-textbox-21">
            <a:extLst xmlns:a="http://schemas.openxmlformats.org/drawingml/2006/main">
              <a:ext uri="{FF2B5EF4-FFF2-40B4-BE49-F238E27FC236}">
                <a16:creationId xmlns:a16="http://schemas.microsoft.com/office/drawing/2014/main" id="{765CEFFE-1587-44EF-84D6-4B8F787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862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previous state:512</a:t>
            </a:r>
          </a:p>
        </p:txBody>
      </p:sp>
      <p:sp>
        <p:nvSpPr>
          <p:cNvPr id="23" name="p5-rect-22">
            <a:extLst xmlns:a="http://schemas.openxmlformats.org/drawingml/2006/main">
              <a:ext uri="{FF2B5EF4-FFF2-40B4-BE49-F238E27FC236}">
                <a16:creationId xmlns:a16="http://schemas.microsoft.com/office/drawing/2014/main" id="{15C415DE-F49B-4570-ABC9-F42738B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543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p5-textbox-23">
            <a:extLst xmlns:a="http://schemas.openxmlformats.org/drawingml/2006/main">
              <a:ext uri="{FF2B5EF4-FFF2-40B4-BE49-F238E27FC236}">
                <a16:creationId xmlns:a16="http://schemas.microsoft.com/office/drawing/2014/main" id="{6425EBF0-9D61-4406-9168-FB626DE9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Output / next state</a:t>
            </a:r>
          </a:p>
        </p:txBody>
      </p:sp>
      <p:sp>
        <p:nvSpPr>
          <p:cNvPr id="25" name="p5-textbox-24">
            <a:extLst xmlns:a="http://schemas.openxmlformats.org/drawingml/2006/main">
              <a:ext uri="{FF2B5EF4-FFF2-40B4-BE49-F238E27FC236}">
                <a16:creationId xmlns:a16="http://schemas.microsoft.com/office/drawing/2014/main" id="{87A97C40-FACB-4491-9907-CF6BE3D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8622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path / lane / lead …</a:t>
            </a:r>
          </a:p>
        </p:txBody>
      </p:sp>
      <p:sp>
        <p:nvSpPr>
          <p:cNvPr id="26" name="p5-rightArrow-25">
            <a:extLst xmlns:a="http://schemas.openxmlformats.org/drawingml/2006/main">
              <a:ext uri="{FF2B5EF4-FFF2-40B4-BE49-F238E27FC236}">
                <a16:creationId xmlns:a16="http://schemas.microsoft.com/office/drawing/2014/main" id="{09F2324E-4145-4A92-B4CD-684DAB11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00500"/>
            <a:ext cx="552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5-rightArrow-26">
            <a:extLst xmlns:a="http://schemas.openxmlformats.org/drawingml/2006/main">
              <a:ext uri="{FF2B5EF4-FFF2-40B4-BE49-F238E27FC236}">
                <a16:creationId xmlns:a16="http://schemas.microsoft.com/office/drawing/2014/main" id="{462BE568-E937-4330-83E6-59E4AE06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552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5-downArrow-27">
            <a:extLst xmlns:a="http://schemas.openxmlformats.org/drawingml/2006/main">
              <a:ext uri="{FF2B5EF4-FFF2-40B4-BE49-F238E27FC236}">
                <a16:creationId xmlns:a16="http://schemas.microsoft.com/office/drawing/2014/main" id="{D21CFF66-B2B9-410F-93AE-9501B3B5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81325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5-textbox-28">
            <a:extLst xmlns:a="http://schemas.openxmlformats.org/drawingml/2006/main">
              <a:ext uri="{FF2B5EF4-FFF2-40B4-BE49-F238E27FC236}">
                <a16:creationId xmlns:a16="http://schemas.microsoft.com/office/drawing/2014/main" id="{EEE7C916-F60B-48AC-B008-8309D37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image embedding</a:t>
            </a:r>
          </a:p>
        </p:txBody>
      </p:sp>
      <p:sp>
        <p:nvSpPr>
          <p:cNvPr id="30" name="p5-textbox-29">
            <a:extLst xmlns:a="http://schemas.openxmlformats.org/drawingml/2006/main">
              <a:ext uri="{FF2B5EF4-FFF2-40B4-BE49-F238E27FC236}">
                <a16:creationId xmlns:a16="http://schemas.microsoft.com/office/drawing/2014/main" id="{56DD4513-E7AD-4CAA-8AF7-E08D172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Image：(1,12,128,256)；desire：8；traffic：2；state：512。輸出共 2383 值，分為 12 sections。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meta / desire_pred / pose 直接讀取 image embedding；path / lane / lead 等經 recurrent 分支。</a:t>
            </a:r>
          </a:p>
        </p:txBody>
      </p:sp>
    </p:spTree>
    <p:extLst>
      <p:ext uri="{BB962C8B-B14F-4D97-AF65-F5344CB8AC3E}">
        <p14:creationId xmlns:p14="http://schemas.microsoft.com/office/powerpoint/2010/main" val="1703448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6-textbox-0">
            <a:extLst xmlns:a="http://schemas.openxmlformats.org/drawingml/2006/main">
              <a:ext uri="{FF2B5EF4-FFF2-40B4-BE49-F238E27FC236}">
                <a16:creationId xmlns:a16="http://schemas.microsoft.com/office/drawing/2014/main" id="{384B7E73-6365-4677-87E5-09E0B2F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INPUT / TARGET</a:t>
            </a:r>
          </a:p>
        </p:txBody>
      </p:sp>
      <p:sp>
        <p:nvSpPr>
          <p:cNvPr id="2" name="p6-textbox-1">
            <a:extLst xmlns:a="http://schemas.openxmlformats.org/drawingml/2006/main">
              <a:ext uri="{FF2B5EF4-FFF2-40B4-BE49-F238E27FC236}">
                <a16:creationId xmlns:a16="http://schemas.microsoft.com/office/drawing/2014/main" id="{8CB794B1-4A34-4F44-B00D-6296A769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訓練資料與 teacher forcing</a:t>
            </a:r>
          </a:p>
        </p:txBody>
      </p:sp>
      <p:sp>
        <p:nvSpPr>
          <p:cNvPr id="3" name="p6-rect-2">
            <a:extLst xmlns:a="http://schemas.openxmlformats.org/drawingml/2006/main">
              <a:ext uri="{FF2B5EF4-FFF2-40B4-BE49-F238E27FC236}">
                <a16:creationId xmlns:a16="http://schemas.microsoft.com/office/drawing/2014/main" id="{AA6EBC8B-D89A-4BA9-9612-B520FFC5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6-textbox-3">
            <a:extLst xmlns:a="http://schemas.openxmlformats.org/drawingml/2006/main">
              <a:ext uri="{FF2B5EF4-FFF2-40B4-BE49-F238E27FC236}">
                <a16:creationId xmlns:a16="http://schemas.microsoft.com/office/drawing/2014/main" id="{FA2A4327-B321-4510-BC7A-4711A8A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E01  E02  E03</a:t>
            </a:r>
          </a:p>
        </p:txBody>
      </p:sp>
      <p:sp>
        <p:nvSpPr>
          <p:cNvPr id="5" name="p6-textbox-4">
            <a:extLst xmlns:a="http://schemas.openxmlformats.org/drawingml/2006/main">
              <a:ext uri="{FF2B5EF4-FFF2-40B4-BE49-F238E27FC236}">
                <a16:creationId xmlns:a16="http://schemas.microsoft.com/office/drawing/2014/main" id="{3848B1CE-D09E-4A07-A60B-FCD123D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2B624-D676-4AC9-8AC1-3FE0AAB11895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333750"/>
                <a:gridCol w="3390900"/>
              </a:tblGrid>
              <a:tr h="5143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來源／split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teacher target rows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--37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supercombo079.keras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2383 values / row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teacher targets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p6-textbox-5">
            <a:extLst xmlns:a="http://schemas.openxmlformats.org/drawingml/2006/main">
              <a:ext uri="{FF2B5EF4-FFF2-40B4-BE49-F238E27FC236}">
                <a16:creationId xmlns:a16="http://schemas.microsoft.com/office/drawing/2014/main" id="{40C184F5-6382-452E-A06D-1625FE0E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影像 pair (i,i+1) 對應 teacher row i；input state 使用前一列 512-value latent，序列起點為 zero。教師輸出提供訓練目標，並非獨立人工 ground truth。</a:t>
            </a:r>
          </a:p>
        </p:txBody>
      </p:sp>
    </p:spTree>
    <p:extLst>
      <p:ext uri="{BB962C8B-B14F-4D97-AF65-F5344CB8AC3E}">
        <p14:creationId xmlns:p14="http://schemas.microsoft.com/office/powerpoint/2010/main" val="15555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7-textbox-0">
            <a:extLst xmlns:a="http://schemas.openxmlformats.org/drawingml/2006/main">
              <a:ext uri="{FF2B5EF4-FFF2-40B4-BE49-F238E27FC236}">
                <a16:creationId xmlns:a16="http://schemas.microsoft.com/office/drawing/2014/main" id="{E96E9D80-325B-40FB-985A-B6CC9D2F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ENGINEERING IMPROVEMENT</a:t>
            </a:r>
          </a:p>
        </p:txBody>
      </p:sp>
      <p:sp>
        <p:nvSpPr>
          <p:cNvPr id="2" name="p7-textbox-1">
            <a:extLst xmlns:a="http://schemas.openxmlformats.org/drawingml/2006/main">
              <a:ext uri="{FF2B5EF4-FFF2-40B4-BE49-F238E27FC236}">
                <a16:creationId xmlns:a16="http://schemas.microsoft.com/office/drawing/2014/main" id="{CD2A7C12-12BE-485E-A09D-36994A76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資料與 checkpoint 的修正層</a:t>
            </a:r>
          </a:p>
        </p:txBody>
      </p:sp>
      <p:sp>
        <p:nvSpPr>
          <p:cNvPr id="3" name="p7-rect-2">
            <a:extLst xmlns:a="http://schemas.openxmlformats.org/drawingml/2006/main">
              <a:ext uri="{FF2B5EF4-FFF2-40B4-BE49-F238E27FC236}">
                <a16:creationId xmlns:a16="http://schemas.microsoft.com/office/drawing/2014/main" id="{70D225AF-5357-4EA5-9C74-F2D78C4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7-textbox-3">
            <a:extLst xmlns:a="http://schemas.openxmlformats.org/drawingml/2006/main">
              <a:ext uri="{FF2B5EF4-FFF2-40B4-BE49-F238E27FC236}">
                <a16:creationId xmlns:a16="http://schemas.microsoft.com/office/drawing/2014/main" id="{ADA6C91D-A301-4631-95FD-CFFEFB2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E02</a:t>
            </a:r>
          </a:p>
        </p:txBody>
      </p:sp>
      <p:sp>
        <p:nvSpPr>
          <p:cNvPr id="5" name="p7-textbox-4">
            <a:extLst xmlns:a="http://schemas.openxmlformats.org/drawingml/2006/main">
              <a:ext uri="{FF2B5EF4-FFF2-40B4-BE49-F238E27FC236}">
                <a16:creationId xmlns:a16="http://schemas.microsoft.com/office/drawing/2014/main" id="{5DC6D82A-1570-4B0C-94D6-7802AE3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6" name="p7-textbox-5">
            <a:extLst xmlns:a="http://schemas.openxmlformats.org/drawingml/2006/main">
              <a:ext uri="{FF2B5EF4-FFF2-40B4-BE49-F238E27FC236}">
                <a16:creationId xmlns:a16="http://schemas.microsoft.com/office/drawing/2014/main" id="{E480D4D8-BE3A-4012-98D5-EB3132C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Problem</a:t>
            </a:r>
          </a:p>
        </p:txBody>
      </p:sp>
      <p:sp>
        <p:nvSpPr>
          <p:cNvPr id="7" name="p7-textbox-6">
            <a:extLst xmlns:a="http://schemas.openxmlformats.org/drawingml/2006/main">
              <a:ext uri="{FF2B5EF4-FFF2-40B4-BE49-F238E27FC236}">
                <a16:creationId xmlns:a16="http://schemas.microsoft.com/office/drawing/2014/main" id="{6D5D9394-34F5-4EE5-A7A7-1FF70AFD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8315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reference generator 的檔案／row 配對風險，跨 recording state 未重置。</a:t>
            </a:r>
          </a:p>
        </p:txBody>
      </p:sp>
      <p:sp>
        <p:nvSpPr>
          <p:cNvPr id="8" name="p7-textbox-7">
            <a:extLst xmlns:a="http://schemas.openxmlformats.org/drawingml/2006/main">
              <a:ext uri="{FF2B5EF4-FFF2-40B4-BE49-F238E27FC236}">
                <a16:creationId xmlns:a16="http://schemas.microsoft.com/office/drawing/2014/main" id="{B599C8FB-2E58-4ACD-A024-41EA7B59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Investigation</a:t>
            </a:r>
          </a:p>
        </p:txBody>
      </p:sp>
      <p:sp>
        <p:nvSpPr>
          <p:cNvPr id="9" name="p7-textbox-8">
            <a:extLst xmlns:a="http://schemas.openxmlformats.org/drawingml/2006/main">
              <a:ext uri="{FF2B5EF4-FFF2-40B4-BE49-F238E27FC236}">
                <a16:creationId xmlns:a16="http://schemas.microsoft.com/office/drawing/2014/main" id="{9316E977-E8E3-48A5-A257-836F8A2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28875"/>
            <a:ext cx="8315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核對每個 sequence 的 teacher file、image pair 與 row index；測試真實序列切換。</a:t>
            </a:r>
          </a:p>
        </p:txBody>
      </p:sp>
      <p:sp>
        <p:nvSpPr>
          <p:cNvPr id="10" name="p7-textbox-9">
            <a:extLst xmlns:a="http://schemas.openxmlformats.org/drawingml/2006/main">
              <a:ext uri="{FF2B5EF4-FFF2-40B4-BE49-F238E27FC236}">
                <a16:creationId xmlns:a16="http://schemas.microsoft.com/office/drawing/2014/main" id="{8117ECBD-38B0-425D-B52A-25900F9F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Solution</a:t>
            </a:r>
          </a:p>
        </p:txBody>
      </p:sp>
      <p:sp>
        <p:nvSpPr>
          <p:cNvPr id="11" name="p7-textbox-10">
            <a:extLst xmlns:a="http://schemas.openxmlformats.org/drawingml/2006/main">
              <a:ext uri="{FF2B5EF4-FFF2-40B4-BE49-F238E27FC236}">
                <a16:creationId xmlns:a16="http://schemas.microsoft.com/office/drawing/2014/main" id="{9A43EAF3-0334-4AEB-BCF6-2BC23FA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90875"/>
            <a:ext cx="8315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same-sequence / same-row 配對，序列起點 zero state；fresh start 與顯式 resume 分開。</a:t>
            </a:r>
          </a:p>
        </p:txBody>
      </p:sp>
      <p:sp>
        <p:nvSpPr>
          <p:cNvPr id="12" name="p7-textbox-11">
            <a:extLst xmlns:a="http://schemas.openxmlformats.org/drawingml/2006/main">
              <a:ext uri="{FF2B5EF4-FFF2-40B4-BE49-F238E27FC236}">
                <a16:creationId xmlns:a16="http://schemas.microsoft.com/office/drawing/2014/main" id="{2251E112-5D5E-4166-9B44-4430375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  <p:sp>
        <p:nvSpPr>
          <p:cNvPr id="13" name="p7-textbox-12">
            <a:extLst xmlns:a="http://schemas.openxmlformats.org/drawingml/2006/main">
              <a:ext uri="{FF2B5EF4-FFF2-40B4-BE49-F238E27FC236}">
                <a16:creationId xmlns:a16="http://schemas.microsoft.com/office/drawing/2014/main" id="{8811C34A-646B-405E-A25C-F069CAD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52875"/>
            <a:ext cx="8315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7 correction + 13 production fixtures 的歷史 PASS；599 batches dry run 包含 --33 到 --37。</a:t>
            </a:r>
          </a:p>
        </p:txBody>
      </p:sp>
      <p:sp>
        <p:nvSpPr>
          <p:cNvPr id="14" name="p7-textbox-13">
            <a:extLst xmlns:a="http://schemas.openxmlformats.org/drawingml/2006/main">
              <a:ext uri="{FF2B5EF4-FFF2-40B4-BE49-F238E27FC236}">
                <a16:creationId xmlns:a16="http://schemas.microsoft.com/office/drawing/2014/main" id="{4A9D2BD1-1133-43F6-8AB2-54681B8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Best checkpoint 依 val_loss 選擇</a:t>
            </a:r>
          </a:p>
        </p:txBody>
      </p:sp>
      <p:sp>
        <p:nvSpPr>
          <p:cNvPr id="15" name="p7-textbox-14">
            <a:extLst xmlns:a="http://schemas.openxmlformats.org/drawingml/2006/main">
              <a:ext uri="{FF2B5EF4-FFF2-40B4-BE49-F238E27FC236}">
                <a16:creationId xmlns:a16="http://schemas.microsoft.com/office/drawing/2014/main" id="{4DEA8FE9-0D2F-4E7B-99B1-4D4F161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保留教授 model、output slices 與 custom loss；修正放在 student-owned wrapper。</a:t>
            </a:r>
          </a:p>
        </p:txBody>
      </p:sp>
    </p:spTree>
    <p:extLst>
      <p:ext uri="{BB962C8B-B14F-4D97-AF65-F5344CB8AC3E}">
        <p14:creationId xmlns:p14="http://schemas.microsoft.com/office/powerpoint/2010/main" val="1435636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8-textbox-0">
            <a:extLst xmlns:a="http://schemas.openxmlformats.org/drawingml/2006/main">
              <a:ext uri="{FF2B5EF4-FFF2-40B4-BE49-F238E27FC236}">
                <a16:creationId xmlns:a16="http://schemas.microsoft.com/office/drawing/2014/main" id="{7396D654-EF70-406A-96B6-215F323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ENGINEERING IMPROVEMENT</a:t>
            </a:r>
          </a:p>
        </p:txBody>
      </p:sp>
      <p:sp>
        <p:nvSpPr>
          <p:cNvPr id="2" name="p8-textbox-1">
            <a:extLst xmlns:a="http://schemas.openxmlformats.org/drawingml/2006/main">
              <a:ext uri="{FF2B5EF4-FFF2-40B4-BE49-F238E27FC236}">
                <a16:creationId xmlns:a16="http://schemas.microsoft.com/office/drawing/2014/main" id="{2B6F45B9-48A0-4992-BB2B-E0D0ACFE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正式訓練前的執行 gate</a:t>
            </a:r>
          </a:p>
        </p:txBody>
      </p:sp>
      <p:sp>
        <p:nvSpPr>
          <p:cNvPr id="3" name="p8-rect-2">
            <a:extLst xmlns:a="http://schemas.openxmlformats.org/drawingml/2006/main">
              <a:ext uri="{FF2B5EF4-FFF2-40B4-BE49-F238E27FC236}">
                <a16:creationId xmlns:a16="http://schemas.microsoft.com/office/drawing/2014/main" id="{D6E60A66-F150-4219-8E8C-96779ED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8-textbox-3">
            <a:extLst xmlns:a="http://schemas.openxmlformats.org/drawingml/2006/main">
              <a:ext uri="{FF2B5EF4-FFF2-40B4-BE49-F238E27FC236}">
                <a16:creationId xmlns:a16="http://schemas.microsoft.com/office/drawing/2014/main" id="{B6501CB1-4BC2-467F-984A-9D84231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E02  E03</a:t>
            </a:r>
          </a:p>
        </p:txBody>
      </p:sp>
      <p:sp>
        <p:nvSpPr>
          <p:cNvPr id="5" name="p8-textbox-4">
            <a:extLst xmlns:a="http://schemas.openxmlformats.org/drawingml/2006/main">
              <a:ext uri="{FF2B5EF4-FFF2-40B4-BE49-F238E27FC236}">
                <a16:creationId xmlns:a16="http://schemas.microsoft.com/office/drawing/2014/main" id="{7BCD6AE7-9811-48F5-BFB3-0AC97DD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6" name="p8-rect-5">
            <a:extLst xmlns:a="http://schemas.openxmlformats.org/drawingml/2006/main">
              <a:ext uri="{FF2B5EF4-FFF2-40B4-BE49-F238E27FC236}">
                <a16:creationId xmlns:a16="http://schemas.microsoft.com/office/drawing/2014/main" id="{F0287551-C13E-4D63-9B8C-89DE7AB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8-textbox-6">
            <a:extLst xmlns:a="http://schemas.openxmlformats.org/drawingml/2006/main">
              <a:ext uri="{FF2B5EF4-FFF2-40B4-BE49-F238E27FC236}">
                <a16:creationId xmlns:a16="http://schemas.microsoft.com/office/drawing/2014/main" id="{9DF79EC7-2AB8-4443-849B-A1B36C2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Preflight</a:t>
            </a:r>
          </a:p>
        </p:txBody>
      </p:sp>
      <p:sp>
        <p:nvSpPr>
          <p:cNvPr id="8" name="p8-textbox-7">
            <a:extLst xmlns:a="http://schemas.openxmlformats.org/drawingml/2006/main">
              <a:ext uri="{FF2B5EF4-FFF2-40B4-BE49-F238E27FC236}">
                <a16:creationId xmlns:a16="http://schemas.microsoft.com/office/drawing/2014/main" id="{C88F7A3E-36DF-4D37-AC8B-2514CDB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mount / split / hashes</a:t>
            </a:r>
          </a:p>
        </p:txBody>
      </p:sp>
      <p:sp>
        <p:nvSpPr>
          <p:cNvPr id="9" name="p8-rightArrow-8">
            <a:extLst xmlns:a="http://schemas.openxmlformats.org/drawingml/2006/main">
              <a:ext uri="{FF2B5EF4-FFF2-40B4-BE49-F238E27FC236}">
                <a16:creationId xmlns:a16="http://schemas.microsoft.com/office/drawing/2014/main" id="{94040953-C4C3-4A5F-BFAD-015EC6E5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1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8-rect-9">
            <a:extLst xmlns:a="http://schemas.openxmlformats.org/drawingml/2006/main">
              <a:ext uri="{FF2B5EF4-FFF2-40B4-BE49-F238E27FC236}">
                <a16:creationId xmlns:a16="http://schemas.microsoft.com/office/drawing/2014/main" id="{B9BC6934-F81A-41AB-A84B-EBDAB22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p8-textbox-10">
            <a:extLst xmlns:a="http://schemas.openxmlformats.org/drawingml/2006/main">
              <a:ext uri="{FF2B5EF4-FFF2-40B4-BE49-F238E27FC236}">
                <a16:creationId xmlns:a16="http://schemas.microsoft.com/office/drawing/2014/main" id="{EB11D462-5820-4FEC-8A97-EA3230D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Labels</a:t>
            </a:r>
          </a:p>
        </p:txBody>
      </p:sp>
      <p:sp>
        <p:nvSpPr>
          <p:cNvPr id="12" name="p8-textbox-11">
            <a:extLst xmlns:a="http://schemas.openxmlformats.org/drawingml/2006/main">
              <a:ext uri="{FF2B5EF4-FFF2-40B4-BE49-F238E27FC236}">
                <a16:creationId xmlns:a16="http://schemas.microsoft.com/office/drawing/2014/main" id="{62FC2E9E-101C-46D6-92A0-014A9C3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shape / finite / SHA-256</a:t>
            </a:r>
          </a:p>
        </p:txBody>
      </p:sp>
      <p:sp>
        <p:nvSpPr>
          <p:cNvPr id="13" name="p8-rightArrow-12">
            <a:extLst xmlns:a="http://schemas.openxmlformats.org/drawingml/2006/main">
              <a:ext uri="{FF2B5EF4-FFF2-40B4-BE49-F238E27FC236}">
                <a16:creationId xmlns:a16="http://schemas.microsoft.com/office/drawing/2014/main" id="{2511CBFC-5D22-4D8A-8E95-8601557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8-rect-13">
            <a:extLst xmlns:a="http://schemas.openxmlformats.org/drawingml/2006/main">
              <a:ext uri="{FF2B5EF4-FFF2-40B4-BE49-F238E27FC236}">
                <a16:creationId xmlns:a16="http://schemas.microsoft.com/office/drawing/2014/main" id="{3D691463-A41F-4EDB-A782-3FC778D5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8-textbox-14">
            <a:extLst xmlns:a="http://schemas.openxmlformats.org/drawingml/2006/main">
              <a:ext uri="{FF2B5EF4-FFF2-40B4-BE49-F238E27FC236}">
                <a16:creationId xmlns:a16="http://schemas.microsoft.com/office/drawing/2014/main" id="{74CD8CC0-3810-438D-B1E6-DD0903C6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Probe</a:t>
            </a:r>
          </a:p>
        </p:txBody>
      </p:sp>
      <p:sp>
        <p:nvSpPr>
          <p:cNvPr id="16" name="p8-textbox-15">
            <a:extLst xmlns:a="http://schemas.openxmlformats.org/drawingml/2006/main">
              <a:ext uri="{FF2B5EF4-FFF2-40B4-BE49-F238E27FC236}">
                <a16:creationId xmlns:a16="http://schemas.microsoft.com/office/drawing/2014/main" id="{483054E6-B476-40AC-ACA7-66443040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5557 / 5558 + boundary</a:t>
            </a:r>
          </a:p>
        </p:txBody>
      </p:sp>
      <p:sp>
        <p:nvSpPr>
          <p:cNvPr id="17" name="p8-rightArrow-16">
            <a:extLst xmlns:a="http://schemas.openxmlformats.org/drawingml/2006/main">
              <a:ext uri="{FF2B5EF4-FFF2-40B4-BE49-F238E27FC236}">
                <a16:creationId xmlns:a16="http://schemas.microsoft.com/office/drawing/2014/main" id="{15DDCF2C-0DE9-4D5E-84FE-667F8CED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8-rect-17">
            <a:extLst xmlns:a="http://schemas.openxmlformats.org/drawingml/2006/main">
              <a:ext uri="{FF2B5EF4-FFF2-40B4-BE49-F238E27FC236}">
                <a16:creationId xmlns:a16="http://schemas.microsoft.com/office/drawing/2014/main" id="{ACF4EC4A-9AFC-41E1-AE9F-15D2E33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p8-textbox-18">
            <a:extLst xmlns:a="http://schemas.openxmlformats.org/drawingml/2006/main">
              <a:ext uri="{FF2B5EF4-FFF2-40B4-BE49-F238E27FC236}">
                <a16:creationId xmlns:a16="http://schemas.microsoft.com/office/drawing/2014/main" id="{1F1538C5-9554-4E37-8A51-7EEA1012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Train</a:t>
            </a:r>
          </a:p>
        </p:txBody>
      </p:sp>
      <p:sp>
        <p:nvSpPr>
          <p:cNvPr id="20" name="p8-textbox-19">
            <a:extLst xmlns:a="http://schemas.openxmlformats.org/drawingml/2006/main">
              <a:ext uri="{FF2B5EF4-FFF2-40B4-BE49-F238E27FC236}">
                <a16:creationId xmlns:a16="http://schemas.microsoft.com/office/drawing/2014/main" id="{52AAF595-8985-4DEF-91CC-9FB1D13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new unique run ID</a:t>
            </a:r>
          </a:p>
        </p:txBody>
      </p:sp>
      <p:sp>
        <p:nvSpPr>
          <p:cNvPr id="21" name="p8-rightArrow-20">
            <a:extLst xmlns:a="http://schemas.openxmlformats.org/drawingml/2006/main">
              <a:ext uri="{FF2B5EF4-FFF2-40B4-BE49-F238E27FC236}">
                <a16:creationId xmlns:a16="http://schemas.microsoft.com/office/drawing/2014/main" id="{96A6E758-34C8-4A6F-B51B-8B963A1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79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8-rect-21">
            <a:extLst xmlns:a="http://schemas.openxmlformats.org/drawingml/2006/main">
              <a:ext uri="{FF2B5EF4-FFF2-40B4-BE49-F238E27FC236}">
                <a16:creationId xmlns:a16="http://schemas.microsoft.com/office/drawing/2014/main" id="{3688EA98-F7F2-4F11-9CEC-5C333C7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p8-textbox-22">
            <a:extLst xmlns:a="http://schemas.openxmlformats.org/drawingml/2006/main">
              <a:ext uri="{FF2B5EF4-FFF2-40B4-BE49-F238E27FC236}">
                <a16:creationId xmlns:a16="http://schemas.microsoft.com/office/drawing/2014/main" id="{A4C1B757-ECD9-4235-92B0-2E938CB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9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Reload</a:t>
            </a:r>
          </a:p>
        </p:txBody>
      </p:sp>
      <p:sp>
        <p:nvSpPr>
          <p:cNvPr id="24" name="p8-textbox-23">
            <a:extLst xmlns:a="http://schemas.openxmlformats.org/drawingml/2006/main">
              <a:ext uri="{FF2B5EF4-FFF2-40B4-BE49-F238E27FC236}">
                <a16:creationId xmlns:a16="http://schemas.microsoft.com/office/drawing/2014/main" id="{74842819-8452-45A9-B426-0ABA47F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9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fresh process</a:t>
            </a:r>
          </a:p>
        </p:txBody>
      </p:sp>
      <p:sp>
        <p:nvSpPr>
          <p:cNvPr id="25" name="p8-rect-24">
            <a:extLst xmlns:a="http://schemas.openxmlformats.org/drawingml/2006/main">
              <a:ext uri="{FF2B5EF4-FFF2-40B4-BE49-F238E27FC236}">
                <a16:creationId xmlns:a16="http://schemas.microsoft.com/office/drawing/2014/main" id="{0E3BBC6C-C104-4740-BF77-41567003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8-textbox-25">
            <a:extLst xmlns:a="http://schemas.openxmlformats.org/drawingml/2006/main">
              <a:ext uri="{FF2B5EF4-FFF2-40B4-BE49-F238E27FC236}">
                <a16:creationId xmlns:a16="http://schemas.microsoft.com/office/drawing/2014/main" id="{9C100F7A-23FC-4194-8019-D3CA699B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任何來源或產物身分不一致，流程停止。</a:t>
            </a:r>
          </a:p>
        </p:txBody>
      </p:sp>
      <p:sp>
        <p:nvSpPr>
          <p:cNvPr id="27" name="p8-textbox-26">
            <a:extLst xmlns:a="http://schemas.openxmlformats.org/drawingml/2006/main">
              <a:ext uri="{FF2B5EF4-FFF2-40B4-BE49-F238E27FC236}">
                <a16:creationId xmlns:a16="http://schemas.microsoft.com/office/drawing/2014/main" id="{34900C09-60F5-4064-B440-E126E13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資料與教授 source 保持唯讀。derived 以 staging、atomic publish、completion marker 發布；run 拒絕覆蓋既有結果。Resume 是新訓練片段，未還原 optimizer / scheduler。</a:t>
            </a:r>
          </a:p>
        </p:txBody>
      </p:sp>
    </p:spTree>
    <p:extLst>
      <p:ext uri="{BB962C8B-B14F-4D97-AF65-F5344CB8AC3E}">
        <p14:creationId xmlns:p14="http://schemas.microsoft.com/office/powerpoint/2010/main" val="792284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9-textbox-0">
            <a:extLst xmlns:a="http://schemas.openxmlformats.org/drawingml/2006/main">
              <a:ext uri="{FF2B5EF4-FFF2-40B4-BE49-F238E27FC236}">
                <a16:creationId xmlns:a16="http://schemas.microsoft.com/office/drawing/2014/main" id="{21A2330B-C4DF-4B39-99DA-E7DD347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CONFIRMED</a:t>
            </a:r>
          </a:p>
        </p:txBody>
      </p:sp>
      <p:sp>
        <p:nvSpPr>
          <p:cNvPr id="2" name="p9-textbox-1">
            <a:extLst xmlns:a="http://schemas.openxmlformats.org/drawingml/2006/main">
              <a:ext uri="{FF2B5EF4-FFF2-40B4-BE49-F238E27FC236}">
                <a16:creationId xmlns:a16="http://schemas.microsoft.com/office/drawing/2014/main" id="{DF09F14C-CB10-4F57-86A3-DD3338F5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60 epochs 的正式 baseline 訓練</a:t>
            </a:r>
          </a:p>
        </p:txBody>
      </p:sp>
      <p:sp>
        <p:nvSpPr>
          <p:cNvPr id="3" name="p9-rect-2">
            <a:extLst xmlns:a="http://schemas.openxmlformats.org/drawingml/2006/main">
              <a:ext uri="{FF2B5EF4-FFF2-40B4-BE49-F238E27FC236}">
                <a16:creationId xmlns:a16="http://schemas.microsoft.com/office/drawing/2014/main" id="{0F886F9A-83C9-483E-8E99-B072470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9-textbox-3">
            <a:extLst xmlns:a="http://schemas.openxmlformats.org/drawingml/2006/main">
              <a:ext uri="{FF2B5EF4-FFF2-40B4-BE49-F238E27FC236}">
                <a16:creationId xmlns:a16="http://schemas.microsoft.com/office/drawing/2014/main" id="{804E3E9B-047E-4CF9-B09D-77C179CB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E03</a:t>
            </a:r>
          </a:p>
        </p:txBody>
      </p:sp>
      <p:sp>
        <p:nvSpPr>
          <p:cNvPr id="5" name="p9-textbox-4">
            <a:extLst xmlns:a="http://schemas.openxmlformats.org/drawingml/2006/main">
              <a:ext uri="{FF2B5EF4-FFF2-40B4-BE49-F238E27FC236}">
                <a16:creationId xmlns:a16="http://schemas.microsoft.com/office/drawing/2014/main" id="{9B3B90DE-D5CB-482F-BBE1-2EE9643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6" name="p9-textbox-5">
            <a:extLst xmlns:a="http://schemas.openxmlformats.org/drawingml/2006/main">
              <a:ext uri="{FF2B5EF4-FFF2-40B4-BE49-F238E27FC236}">
                <a16:creationId xmlns:a16="http://schemas.microsoft.com/office/drawing/2014/main" id="{7D83839E-7046-40F3-B1C6-B6C7E38C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60</a:t>
            </a:r>
          </a:p>
        </p:txBody>
      </p:sp>
      <p:sp>
        <p:nvSpPr>
          <p:cNvPr id="7" name="p9-textbox-6">
            <a:extLst xmlns:a="http://schemas.openxmlformats.org/drawingml/2006/main">
              <a:ext uri="{FF2B5EF4-FFF2-40B4-BE49-F238E27FC236}">
                <a16:creationId xmlns:a16="http://schemas.microsoft.com/office/drawing/2014/main" id="{6FC5214A-EADA-4C6B-9DD5-185DB55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completed epochs</a:t>
            </a:r>
          </a:p>
        </p:txBody>
      </p:sp>
      <p:sp>
        <p:nvSpPr>
          <p:cNvPr id="8" name="p9-textbox-7">
            <a:extLst xmlns:a="http://schemas.openxmlformats.org/drawingml/2006/main">
              <a:ext uri="{FF2B5EF4-FFF2-40B4-BE49-F238E27FC236}">
                <a16:creationId xmlns:a16="http://schemas.microsoft.com/office/drawing/2014/main" id="{30956D80-7058-49D9-9716-B746FCBB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383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1200 / 600</a:t>
            </a:r>
          </a:p>
        </p:txBody>
      </p:sp>
      <p:sp>
        <p:nvSpPr>
          <p:cNvPr id="9" name="p9-textbox-8">
            <a:extLst xmlns:a="http://schemas.openxmlformats.org/drawingml/2006/main">
              <a:ext uri="{FF2B5EF4-FFF2-40B4-BE49-F238E27FC236}">
                <a16:creationId xmlns:a16="http://schemas.microsoft.com/office/drawing/2014/main" id="{BCCAA7AF-6D9B-4C36-96D5-A47A23E6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955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train / validation steps</a:t>
            </a:r>
          </a:p>
        </p:txBody>
      </p:sp>
      <p:sp>
        <p:nvSpPr>
          <p:cNvPr id="10" name="p9-textbox-9">
            <a:extLst xmlns:a="http://schemas.openxmlformats.org/drawingml/2006/main">
              <a:ext uri="{FF2B5EF4-FFF2-40B4-BE49-F238E27FC236}">
                <a16:creationId xmlns:a16="http://schemas.microsoft.com/office/drawing/2014/main" id="{B0DB3A70-BECE-497F-B645-893F4C4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527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13,039,435</a:t>
            </a:r>
          </a:p>
        </p:txBody>
      </p:sp>
      <p:sp>
        <p:nvSpPr>
          <p:cNvPr id="11" name="p9-textbox-10">
            <a:extLst xmlns:a="http://schemas.openxmlformats.org/drawingml/2006/main">
              <a:ext uri="{FF2B5EF4-FFF2-40B4-BE49-F238E27FC236}">
                <a16:creationId xmlns:a16="http://schemas.microsoft.com/office/drawing/2014/main" id="{FC47753C-E60E-4448-A279-AEE3ADC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099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model parameters</a:t>
            </a:r>
          </a:p>
        </p:txBody>
      </p:sp>
      <p:sp>
        <p:nvSpPr>
          <p:cNvPr id="12" name="p9-textbox-11">
            <a:extLst xmlns:a="http://schemas.openxmlformats.org/drawingml/2006/main">
              <a:ext uri="{FF2B5EF4-FFF2-40B4-BE49-F238E27FC236}">
                <a16:creationId xmlns:a16="http://schemas.microsoft.com/office/drawing/2014/main" id="{A16ABE58-5A3C-4CC5-B5E0-C2150C07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289.480 s</a:t>
            </a:r>
          </a:p>
        </p:txBody>
      </p:sp>
      <p:sp>
        <p:nvSpPr>
          <p:cNvPr id="13" name="p9-textbox-12">
            <a:extLst xmlns:a="http://schemas.openxmlformats.org/drawingml/2006/main">
              <a:ext uri="{FF2B5EF4-FFF2-40B4-BE49-F238E27FC236}">
                <a16:creationId xmlns:a16="http://schemas.microsoft.com/office/drawing/2014/main" id="{83BA6DE9-892A-48C7-9027-CE134F0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24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training-entry elapsed time</a:t>
            </a:r>
          </a:p>
        </p:txBody>
      </p:sp>
      <p:sp>
        <p:nvSpPr>
          <p:cNvPr id="14" name="p9-textbox-13">
            <a:extLst xmlns:a="http://schemas.openxmlformats.org/drawingml/2006/main">
              <a:ext uri="{FF2B5EF4-FFF2-40B4-BE49-F238E27FC236}">
                <a16:creationId xmlns:a16="http://schemas.microsoft.com/office/drawing/2014/main" id="{DD7268AF-B19F-4484-AA8E-7EFED0B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Run：p25-baseline-20261005。Batch 2；每 epoch 20 / 10 steps；Adam；cosine 1e-3 至 5e-4。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custom loss：0.3 path + 0.3 left lane + 0.3 right lane + 0.1 full output。訓練完成尚不構成品質驗證。</a:t>
            </a:r>
          </a:p>
        </p:txBody>
      </p:sp>
    </p:spTree>
    <p:extLst>
      <p:ext uri="{BB962C8B-B14F-4D97-AF65-F5344CB8AC3E}">
        <p14:creationId xmlns:p14="http://schemas.microsoft.com/office/powerpoint/2010/main" val="184545335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p10-textbox-0">
            <a:extLst>
              <a:ext uri="{FF2B5EF4-FFF2-40B4-BE49-F238E27FC236}">
                <ns2:creationId id="{05F6027B-B552-422E-9EC4-A828148C5F8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TRAINING EVIDENCE</a:t>
            </a:r>
          </a:p>
        </p:txBody>
      </p:sp>
      <p:sp>
        <p:nvSpPr>
          <p:cNvPr id="2" name="p10-textbox-1">
            <a:extLst>
              <a:ext uri="{FF2B5EF4-FFF2-40B4-BE49-F238E27FC236}">
                <ns2:creationId id="{AFEE1A44-B2ED-43BC-8DA0-42B85DDF947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Validation loss 的波動與 final / best 差距</a:t>
            </a:r>
          </a:p>
        </p:txBody>
      </p:sp>
      <p:sp>
        <p:nvSpPr>
          <p:cNvPr id="3" name="p10-rect-2">
            <a:extLst>
              <a:ext uri="{FF2B5EF4-FFF2-40B4-BE49-F238E27FC236}">
                <ns2:creationId id="{AA7F1C3D-FC58-4DE7-9369-35ACB2847E9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4" name="p10-textbox-3">
            <a:extLst>
              <a:ext uri="{FF2B5EF4-FFF2-40B4-BE49-F238E27FC236}">
                <ns2:creationId id="{81ED54BA-4FB9-46CA-91E3-70B852F4D766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E03</a:t>
            </a:r>
          </a:p>
        </p:txBody>
      </p:sp>
      <p:sp>
        <p:nvSpPr>
          <p:cNvPr id="5" name="p10-textbox-4">
            <a:extLst>
              <a:ext uri="{FF2B5EF4-FFF2-40B4-BE49-F238E27FC236}">
                <ns2:creationId id="{D4841A50-EE60-4E30-98D7-4E1E437A5DA2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1082A7F3-4C32-4CC9-A5CA-E4080B4652D2}"/>
              </a:ext>
            </a:extLst>
          </p:cNvPr>
          <p:cNvGraphicFramePr/>
          <p:nvPr/>
        </p:nvGraphicFramePr>
        <p:xfrm>
          <a:off x="685800" y="1666875"/>
          <a:ext cx="10820400" cy="3143250"/>
        </p:xfrm>
        <a:graphic>
          <a:graphicData uri="http://schemas.openxmlformats.org/drawingml/2006/chart">
            <ns3:chart r:id="Ree80d6978557415a"/>
          </a:graphicData>
        </a:graphic>
      </p:graphicFrame>
      <p:sp>
        <p:nvSpPr>
          <p:cNvPr id="101" name="Edited text 101"/>
          <p:cNvSpPr txBox="1"/>
          <p:nvPr/>
        </p:nvSpPr>
        <p:spPr>
          <a:xfrm>
            <a:off x="685800" y="5057775"/>
            <a:ext cx="108204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Best val_loss = 0.5254096388816833（epoch 25）</a:t>
            </a:r>
          </a:p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val_loss = 71.71458435058594；final training loss = 3.204094648361206。</a:t>
            </a:r>
          </a:p>
        </p:txBody>
      </p:sp>
      <p:sp>
        <p:nvSpPr>
          <p:cNvPr id="102" name="Edited text 102"/>
          <p:cNvSpPr txBox="1"/>
          <p:nvPr/>
        </p:nvSpPr>
        <p:spPr>
          <a:xfrm>
            <a:off x="685800" y="5581650"/>
            <a:ext cx="108204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評估 A｜訓練歷史：每 epoch 10 validation steps × batch 2；windows 隨 epoch 改變。</a:t>
            </a:r>
          </a:p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使用前一列 teacher state 與 custom loss；epoch 平均用於選 Best，不等同第 11／32 頁評估。</a:t>
            </a:r>
          </a:p>
        </p:txBody>
      </p:sp>
      <p:sp>
        <p:nvSpPr>
          <p:cNvPr id="103" name="Edited text 103"/>
          <p:cNvSpPr txBox="1"/>
          <p:nvPr/>
        </p:nvSpPr>
        <p:spPr>
          <a:xfrm>
            <a:off x="685800" y="6115050"/>
            <a:ext cx="108204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LIKELY / SUGGESTED｜波動支持訓練不穩定；單一 validation sequence 未確認 overfitting。</a:t>
            </a:r>
          </a:p>
        </p:txBody>
      </p:sp>
    </p:spTree>
    <p:extLst>
      <p:ext uri="{BB962C8B-B14F-4D97-AF65-F5344CB8AC3E}">
        <ns5:creationId val="152600631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v2-11-0">
            <a:extLst>
              <a:ext uri="{FF2B5EF4-FFF2-40B4-BE49-F238E27FC236}">
                <ns2:creationId id="{333ACE3C-F9A5-41C3-B857-1B3B47EB9E9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CHECKPOINT COMPARISON</a:t>
            </a:r>
          </a:p>
        </p:txBody>
      </p:sp>
      <p:sp>
        <p:nvSpPr>
          <p:cNvPr id="2" name="v2-11-1">
            <a:extLst>
              <a:ext uri="{FF2B5EF4-FFF2-40B4-BE49-F238E27FC236}">
                <ns2:creationId id="{EF409F0B-E515-4BA9-9FCE-FEA701CE86D9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固定評估下，Final 明顯差於 Best</a:t>
            </a:r>
          </a:p>
        </p:txBody>
      </p:sp>
      <p:sp>
        <p:nvSpPr>
          <p:cNvPr id="3" name="v2-11-2">
            <a:extLst>
              <a:ext uri="{FF2B5EF4-FFF2-40B4-BE49-F238E27FC236}">
                <ns2:creationId id="{521A867A-DC0F-4C13-94C5-96298DD062D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4" name="v2-11-3">
            <a:extLst>
              <a:ext uri="{FF2B5EF4-FFF2-40B4-BE49-F238E27FC236}">
                <ns2:creationId id="{5BCA9DB4-D7CB-4AF2-8EDA-6AB5500846F7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E03  E11  G01</a:t>
            </a:r>
          </a:p>
        </p:txBody>
      </p:sp>
      <p:sp>
        <p:nvSpPr>
          <p:cNvPr id="5" name="v2-11-4">
            <a:extLst>
              <a:ext uri="{FF2B5EF4-FFF2-40B4-BE49-F238E27FC236}">
                <ns2:creationId id="{A87C028F-4A34-4680-B2E1-0841ED8C047A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6" name="v2-11-5">
            <a:extLst>
              <a:ext uri="{FF2B5EF4-FFF2-40B4-BE49-F238E27FC236}">
                <ns2:creationId id="{2439D8D8-7439-4503-9882-1D85D9D361E1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BEST · EPOCH 25</a:t>
            </a:r>
          </a:p>
        </p:txBody>
      </p:sp>
      <p:sp>
        <p:nvSpPr>
          <p:cNvPr id="7" name="v2-11-6">
            <a:extLst>
              <a:ext uri="{FF2B5EF4-FFF2-40B4-BE49-F238E27FC236}">
                <ns2:creationId id="{149DC7D6-0D62-49C7-B8FF-BDA7CABDE27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12.2088</a:t>
            </a:r>
          </a:p>
        </p:txBody>
      </p:sp>
      <p:sp>
        <p:nvSpPr>
          <p:cNvPr id="8" name="v2-11-7">
            <a:extLst>
              <a:ext uri="{FF2B5EF4-FFF2-40B4-BE49-F238E27FC236}">
                <ns2:creationId id="{2CAAA0A1-97E8-4FA4-B161-77FFB1AB3B42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B6BW.hdf5</a:t>
            </a:r>
          </a:p>
        </p:txBody>
      </p:sp>
      <p:sp>
        <p:nvSpPr>
          <p:cNvPr id="9" name="v2-11-8">
            <a:extLst>
              <a:ext uri="{FF2B5EF4-FFF2-40B4-BE49-F238E27FC236}">
                <ns2:creationId id="{8E3E5E56-2168-4C41-9D49-4DD1D1D125CA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· EPOCH 60</a:t>
            </a:r>
          </a:p>
        </p:txBody>
      </p:sp>
      <p:sp>
        <p:nvSpPr>
          <p:cNvPr id="10" name="v2-11-9">
            <a:extLst>
              <a:ext uri="{FF2B5EF4-FFF2-40B4-BE49-F238E27FC236}">
                <ns2:creationId id="{A437FF19-EEA0-4D8D-AA39-266C887BF6EE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79.1267</a:t>
            </a:r>
          </a:p>
        </p:txBody>
      </p:sp>
      <p:sp>
        <p:nvSpPr>
          <p:cNvPr id="11" name="v2-11-10">
            <a:extLst>
              <a:ext uri="{FF2B5EF4-FFF2-40B4-BE49-F238E27FC236}">
                <ns2:creationId id="{93639DC9-00EB-46B2-A540-8978CFE86011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B6.keras</a:t>
            </a:r>
          </a:p>
        </p:txBody>
      </p:sp>
      <p:sp>
        <p:nvSpPr>
          <p:cNvPr id="12" name="v2-11-11">
            <a:extLst>
              <a:ext uri="{FF2B5EF4-FFF2-40B4-BE49-F238E27FC236}">
                <ns2:creationId id="{17BBC661-B9C5-4E7D-89F9-B741816A9E84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4" name="Edited text 104"/>
          <p:cNvSpPr txBox="1"/>
          <p:nvPr/>
        </p:nvSpPr>
        <p:spPr>
          <a:xfrm>
            <a:off x="685800" y="4610100"/>
            <a:ext cx="10820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評估 B｜固定 120 筆 held-out rows，使用相同 teacher-state 條件</a:t>
            </a:r>
          </a:p>
        </p:txBody>
      </p:sp>
      <p:sp>
        <p:nvSpPr>
          <p:cNvPr id="105" name="Edited text 105"/>
          <p:cNvSpPr txBox="1"/>
          <p:nvPr/>
        </p:nvSpPr>
        <p:spPr>
          <a:xfrm>
            <a:off x="685800" y="5267325"/>
            <a:ext cx="10820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本頁是固定資料的平均 custom loss，用來公平比較原始 Best／Final checkpoints。</a:t>
            </a:r>
          </a:p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第 10 頁為變動 windows 的 epoch 平均；第 32 頁為另一組 18 筆診斷 loss 的中位數。</a:t>
            </a:r>
          </a:p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三者樣本與統計方式不同，不能直接互比數值；本頁 CONFIRMED：Final 較差。</a:t>
            </a:r>
          </a:p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原訓練不穩定為 LIKELY / SUGGESTED，不能據此確認 overfitting。</a:t>
            </a:r>
          </a:p>
        </p:txBody>
      </p:sp>
    </p:spTree>
    <p:extLst>
      <p:ext uri="{BB962C8B-B14F-4D97-AF65-F5344CB8AC3E}">
        <ns3:creationId val="1086305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12-textbox-0">
            <a:extLst xmlns:a="http://schemas.openxmlformats.org/drawingml/2006/main">
              <a:ext uri="{FF2B5EF4-FFF2-40B4-BE49-F238E27FC236}">
                <a16:creationId xmlns:a16="http://schemas.microsoft.com/office/drawing/2014/main" id="{BBC4AD47-C55A-47B0-A7C4-6E1882C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6 · TECHNICAL VERIFICATION</a:t>
            </a:r>
          </a:p>
        </p:txBody>
      </p:sp>
      <p:sp>
        <p:nvSpPr>
          <p:cNvPr id="2" name="p12-textbox-1">
            <a:extLst xmlns:a="http://schemas.openxmlformats.org/drawingml/2006/main">
              <a:ext uri="{FF2B5EF4-FFF2-40B4-BE49-F238E27FC236}">
                <a16:creationId xmlns:a16="http://schemas.microsoft.com/office/drawing/2014/main" id="{AC1B0F90-7C35-496C-8CCC-F1E34C93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Step 6 的可檢查推論管線</a:t>
            </a:r>
          </a:p>
        </p:txBody>
      </p:sp>
      <p:sp>
        <p:nvSpPr>
          <p:cNvPr id="3" name="p12-rect-2">
            <a:extLst xmlns:a="http://schemas.openxmlformats.org/drawingml/2006/main">
              <a:ext uri="{FF2B5EF4-FFF2-40B4-BE49-F238E27FC236}">
                <a16:creationId xmlns:a16="http://schemas.microsoft.com/office/drawing/2014/main" id="{33A5852D-DB48-45A4-8962-2968D69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2-textbox-3">
            <a:extLst xmlns:a="http://schemas.openxmlformats.org/drawingml/2006/main">
              <a:ext uri="{FF2B5EF4-FFF2-40B4-BE49-F238E27FC236}">
                <a16:creationId xmlns:a16="http://schemas.microsoft.com/office/drawing/2014/main" id="{7A9B3AD5-A8E3-4B71-BF15-6787D0D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E04</a:t>
            </a:r>
          </a:p>
        </p:txBody>
      </p:sp>
      <p:sp>
        <p:nvSpPr>
          <p:cNvPr id="5" name="p12-textbox-4">
            <a:extLst xmlns:a="http://schemas.openxmlformats.org/drawingml/2006/main">
              <a:ext uri="{FF2B5EF4-FFF2-40B4-BE49-F238E27FC236}">
                <a16:creationId xmlns:a16="http://schemas.microsoft.com/office/drawing/2014/main" id="{58780496-B2D2-46B4-ABF9-BE3AFD64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6" name="p12-rect-5">
            <a:extLst xmlns:a="http://schemas.openxmlformats.org/drawingml/2006/main">
              <a:ext uri="{FF2B5EF4-FFF2-40B4-BE49-F238E27FC236}">
                <a16:creationId xmlns:a16="http://schemas.microsoft.com/office/drawing/2014/main" id="{857893C4-76B1-41D1-AE1E-C60945E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12-textbox-6">
            <a:extLst xmlns:a="http://schemas.openxmlformats.org/drawingml/2006/main">
              <a:ext uri="{FF2B5EF4-FFF2-40B4-BE49-F238E27FC236}">
                <a16:creationId xmlns:a16="http://schemas.microsoft.com/office/drawing/2014/main" id="{59AD7A4E-B8A5-427E-94CA-2318BE4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Decode</a:t>
            </a:r>
          </a:p>
        </p:txBody>
      </p:sp>
      <p:sp>
        <p:nvSpPr>
          <p:cNvPr id="8" name="p12-textbox-7">
            <a:extLst xmlns:a="http://schemas.openxmlformats.org/drawingml/2006/main">
              <a:ext uri="{FF2B5EF4-FFF2-40B4-BE49-F238E27FC236}">
                <a16:creationId xmlns:a16="http://schemas.microsoft.com/office/drawing/2014/main" id="{91046E42-F7D6-4989-A7E3-261CEF66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sequential frame count</a:t>
            </a:r>
          </a:p>
        </p:txBody>
      </p:sp>
      <p:sp>
        <p:nvSpPr>
          <p:cNvPr id="9" name="p12-rightArrow-8">
            <a:extLst xmlns:a="http://schemas.openxmlformats.org/drawingml/2006/main">
              <a:ext uri="{FF2B5EF4-FFF2-40B4-BE49-F238E27FC236}">
                <a16:creationId xmlns:a16="http://schemas.microsoft.com/office/drawing/2014/main" id="{3233C0CC-9C22-419C-803C-D8D1A52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1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rect-9">
            <a:extLst xmlns:a="http://schemas.openxmlformats.org/drawingml/2006/main">
              <a:ext uri="{FF2B5EF4-FFF2-40B4-BE49-F238E27FC236}">
                <a16:creationId xmlns:a16="http://schemas.microsoft.com/office/drawing/2014/main" id="{3121999A-A818-477B-9925-ADE71A70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p12-textbox-10">
            <a:extLst xmlns:a="http://schemas.openxmlformats.org/drawingml/2006/main">
              <a:ext uri="{FF2B5EF4-FFF2-40B4-BE49-F238E27FC236}">
                <a16:creationId xmlns:a16="http://schemas.microsoft.com/office/drawing/2014/main" id="{981C6179-2B40-4DD0-A85E-B37DA41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YUV pair</a:t>
            </a:r>
          </a:p>
        </p:txBody>
      </p:sp>
      <p:sp>
        <p:nvSpPr>
          <p:cNvPr id="12" name="p12-textbox-11">
            <a:extLst xmlns:a="http://schemas.openxmlformats.org/drawingml/2006/main">
              <a:ext uri="{FF2B5EF4-FFF2-40B4-BE49-F238E27FC236}">
                <a16:creationId xmlns:a16="http://schemas.microsoft.com/office/drawing/2014/main" id="{803B32DA-AFC4-4E7C-BB39-51334310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professor transform</a:t>
            </a:r>
          </a:p>
        </p:txBody>
      </p:sp>
      <p:sp>
        <p:nvSpPr>
          <p:cNvPr id="13" name="p12-rightArrow-12">
            <a:extLst xmlns:a="http://schemas.openxmlformats.org/drawingml/2006/main">
              <a:ext uri="{FF2B5EF4-FFF2-40B4-BE49-F238E27FC236}">
                <a16:creationId xmlns:a16="http://schemas.microsoft.com/office/drawing/2014/main" id="{92E54891-4D4D-4736-9152-5FFB40A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2-rect-13">
            <a:extLst xmlns:a="http://schemas.openxmlformats.org/drawingml/2006/main">
              <a:ext uri="{FF2B5EF4-FFF2-40B4-BE49-F238E27FC236}">
                <a16:creationId xmlns:a16="http://schemas.microsoft.com/office/drawing/2014/main" id="{F08427A4-C77D-4410-B034-38DC9C1B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12-textbox-14">
            <a:extLst xmlns:a="http://schemas.openxmlformats.org/drawingml/2006/main">
              <a:ext uri="{FF2B5EF4-FFF2-40B4-BE49-F238E27FC236}">
                <a16:creationId xmlns:a16="http://schemas.microsoft.com/office/drawing/2014/main" id="{B763EA0C-A057-42CB-9A76-1399FE13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4 inputs</a:t>
            </a:r>
          </a:p>
        </p:txBody>
      </p:sp>
      <p:sp>
        <p:nvSpPr>
          <p:cNvPr id="16" name="p12-textbox-15">
            <a:extLst xmlns:a="http://schemas.openxmlformats.org/drawingml/2006/main">
              <a:ext uri="{FF2B5EF4-FFF2-40B4-BE49-F238E27FC236}">
                <a16:creationId xmlns:a16="http://schemas.microsoft.com/office/drawing/2014/main" id="{B037AA48-AFC0-4AF6-A49E-09057290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own state feedback</a:t>
            </a:r>
          </a:p>
        </p:txBody>
      </p:sp>
      <p:sp>
        <p:nvSpPr>
          <p:cNvPr id="17" name="p12-rightArrow-16">
            <a:extLst xmlns:a="http://schemas.openxmlformats.org/drawingml/2006/main">
              <a:ext uri="{FF2B5EF4-FFF2-40B4-BE49-F238E27FC236}">
                <a16:creationId xmlns:a16="http://schemas.microsoft.com/office/drawing/2014/main" id="{FFC6807D-4318-4317-A0E8-28D153BE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2-rect-17">
            <a:extLst xmlns:a="http://schemas.openxmlformats.org/drawingml/2006/main">
              <a:ext uri="{FF2B5EF4-FFF2-40B4-BE49-F238E27FC236}">
                <a16:creationId xmlns:a16="http://schemas.microsoft.com/office/drawing/2014/main" id="{602B79A3-E91E-469B-AD19-4B4F97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p12-textbox-18">
            <a:extLst xmlns:a="http://schemas.openxmlformats.org/drawingml/2006/main">
              <a:ext uri="{FF2B5EF4-FFF2-40B4-BE49-F238E27FC236}">
                <a16:creationId xmlns:a16="http://schemas.microsoft.com/office/drawing/2014/main" id="{C297A63D-ABAF-45D1-86F8-0F37688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Outputs</a:t>
            </a:r>
          </a:p>
        </p:txBody>
      </p:sp>
      <p:sp>
        <p:nvSpPr>
          <p:cNvPr id="20" name="p12-textbox-19">
            <a:extLst xmlns:a="http://schemas.openxmlformats.org/drawingml/2006/main">
              <a:ext uri="{FF2B5EF4-FFF2-40B4-BE49-F238E27FC236}">
                <a16:creationId xmlns:a16="http://schemas.microsoft.com/office/drawing/2014/main" id="{A29D75ED-ABD8-49D3-86CA-48B75EF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2383 raw values</a:t>
            </a:r>
          </a:p>
        </p:txBody>
      </p:sp>
      <p:sp>
        <p:nvSpPr>
          <p:cNvPr id="21" name="p12-rightArrow-20">
            <a:extLst xmlns:a="http://schemas.openxmlformats.org/drawingml/2006/main">
              <a:ext uri="{FF2B5EF4-FFF2-40B4-BE49-F238E27FC236}">
                <a16:creationId xmlns:a16="http://schemas.microsoft.com/office/drawing/2014/main" id="{41F75B77-28F8-4102-8A18-1AC2C76F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790" y="303847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2-rect-21">
            <a:extLst xmlns:a="http://schemas.openxmlformats.org/drawingml/2006/main">
              <a:ext uri="{FF2B5EF4-FFF2-40B4-BE49-F238E27FC236}">
                <a16:creationId xmlns:a16="http://schemas.microsoft.com/office/drawing/2014/main" id="{836541D7-9A56-4C12-B6FE-44A5289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2324100"/>
            <a:ext cx="173736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p12-textbox-22">
            <a:extLst xmlns:a="http://schemas.openxmlformats.org/drawingml/2006/main">
              <a:ext uri="{FF2B5EF4-FFF2-40B4-BE49-F238E27FC236}">
                <a16:creationId xmlns:a16="http://schemas.microsoft.com/office/drawing/2014/main" id="{0D73944B-7A84-46F6-8C62-A319215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90" y="2476500"/>
            <a:ext cx="13944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Visual</a:t>
            </a:r>
          </a:p>
        </p:txBody>
      </p:sp>
      <p:sp>
        <p:nvSpPr>
          <p:cNvPr id="24" name="p12-textbox-23">
            <a:extLst xmlns:a="http://schemas.openxmlformats.org/drawingml/2006/main">
              <a:ext uri="{FF2B5EF4-FFF2-40B4-BE49-F238E27FC236}">
                <a16:creationId xmlns:a16="http://schemas.microsoft.com/office/drawing/2014/main" id="{E9969C0C-08E6-4775-8999-07849AAF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90" y="3048000"/>
            <a:ext cx="139446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JSON + 4-panel PNG</a:t>
            </a:r>
          </a:p>
        </p:txBody>
      </p:sp>
      <p:sp>
        <p:nvSpPr>
          <p:cNvPr id="25" name="p12-rect-24">
            <a:extLst xmlns:a="http://schemas.openxmlformats.org/drawingml/2006/main">
              <a:ext uri="{FF2B5EF4-FFF2-40B4-BE49-F238E27FC236}">
                <a16:creationId xmlns:a16="http://schemas.microsoft.com/office/drawing/2014/main" id="{D9E726AD-5B1F-4392-99FD-4A5C4B1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2-textbox-25">
            <a:extLst xmlns:a="http://schemas.openxmlformats.org/drawingml/2006/main">
              <a:ext uri="{FF2B5EF4-FFF2-40B4-BE49-F238E27FC236}">
                <a16:creationId xmlns:a16="http://schemas.microsoft.com/office/drawing/2014/main" id="{8E089C69-B8C6-47C0-BA44-EE95B60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USA / Taiwan 使用各自的課程投影設定。</a:t>
            </a:r>
          </a:p>
        </p:txBody>
      </p:sp>
      <p:sp>
        <p:nvSpPr>
          <p:cNvPr id="27" name="p12-textbox-26">
            <a:extLst xmlns:a="http://schemas.openxmlformats.org/drawingml/2006/main">
              <a:ext uri="{FF2B5EF4-FFF2-40B4-BE49-F238E27FC236}">
                <a16:creationId xmlns:a16="http://schemas.microsoft.com/office/drawing/2014/main" id="{7FD342DF-C24F-4C54-A39C-4D4B163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USA right offset -0.5（slide）取代 active parser -0.1；Taiwan path / lane calibration 分別處理。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數值修正：stable softplus 避免有限 logits 導致 exp overflow。Step 6 traffic [0,0] 與 training [1,0] 差異保留在解釋中。</a:t>
            </a:r>
          </a:p>
        </p:txBody>
      </p:sp>
    </p:spTree>
    <p:extLst>
      <p:ext uri="{BB962C8B-B14F-4D97-AF65-F5344CB8AC3E}">
        <p14:creationId xmlns:p14="http://schemas.microsoft.com/office/powerpoint/2010/main" val="107992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3-textbox-0">
            <a:extLst xmlns:a="http://schemas.openxmlformats.org/drawingml/2006/main">
              <a:ext uri="{FF2B5EF4-FFF2-40B4-BE49-F238E27FC236}">
                <a16:creationId xmlns:a16="http://schemas.microsoft.com/office/drawing/2014/main" id="{BD279FCC-B0D5-4268-A40B-5A6E4314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6 · CONFIRMED</a:t>
            </a:r>
          </a:p>
        </p:txBody>
      </p:sp>
      <p:sp>
        <p:nvSpPr>
          <p:cNvPr id="2" name="p13-textbox-1">
            <a:extLst xmlns:a="http://schemas.openxmlformats.org/drawingml/2006/main">
              <a:ext uri="{FF2B5EF4-FFF2-40B4-BE49-F238E27FC236}">
                <a16:creationId xmlns:a16="http://schemas.microsoft.com/office/drawing/2014/main" id="{622A8A89-F523-4F96-ADBB-B39A22A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四組完整影片技術驗證</a:t>
            </a:r>
          </a:p>
        </p:txBody>
      </p:sp>
      <p:sp>
        <p:nvSpPr>
          <p:cNvPr id="3" name="p13-rect-2">
            <a:extLst xmlns:a="http://schemas.openxmlformats.org/drawingml/2006/main">
              <a:ext uri="{FF2B5EF4-FFF2-40B4-BE49-F238E27FC236}">
                <a16:creationId xmlns:a16="http://schemas.microsoft.com/office/drawing/2014/main" id="{8E5C3461-2EA4-4097-BF44-11BB542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3-textbox-3">
            <a:extLst xmlns:a="http://schemas.openxmlformats.org/drawingml/2006/main">
              <a:ext uri="{FF2B5EF4-FFF2-40B4-BE49-F238E27FC236}">
                <a16:creationId xmlns:a16="http://schemas.microsoft.com/office/drawing/2014/main" id="{7769E98C-E959-4E2B-A3C6-7C37779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E04</a:t>
            </a:r>
          </a:p>
        </p:txBody>
      </p:sp>
      <p:sp>
        <p:nvSpPr>
          <p:cNvPr id="5" name="p13-textbox-4">
            <a:extLst xmlns:a="http://schemas.openxmlformats.org/drawingml/2006/main">
              <a:ext uri="{FF2B5EF4-FFF2-40B4-BE49-F238E27FC236}">
                <a16:creationId xmlns:a16="http://schemas.microsoft.com/office/drawing/2014/main" id="{49EBF2C8-CF80-44AE-BD52-33E0EC62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95648-3771-4628-A801-E5EA3D87E4FF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809750"/>
                <a:gridCol w="3333750"/>
                <a:gridCol w="3105150"/>
              </a:tblGrid>
              <a:tr h="5143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Domain / model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Predictions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近端 path 變化均值 m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width ≤0 frames</a:t>
                      </a:r>
                    </a:p>
                  </a:txBody>
                  <a:tcPr marL="91440" marR="91440" marT="45720" marB="45720" anchor="ctr">
                    <a:solidFill>
                      <a:srgbClr val="EDE9FE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final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1.0903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best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0.00460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final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0.9993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best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0.00460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p13-textbox-5">
            <a:extLst xmlns:a="http://schemas.openxmlformats.org/drawingml/2006/main">
              <a:ext uri="{FF2B5EF4-FFF2-40B4-BE49-F238E27FC236}">
                <a16:creationId xmlns:a16="http://schemas.microsoft.com/office/drawing/2014/main" id="{A4948ECE-9CE4-41B8-99C5-8181392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Raw (predictions,2383) 四組皆 finite。Path 變化保留歷史 near-path 範圍（索引 4:40）；width 採固定前 40 點計數（Taiwan Final 943）。描述性計數不代表 accuracy，USA --37 為 train-seen。</a:t>
            </a:r>
          </a:p>
        </p:txBody>
      </p:sp>
    </p:spTree>
    <p:extLst>
      <p:ext uri="{BB962C8B-B14F-4D97-AF65-F5344CB8AC3E}">
        <p14:creationId xmlns:p14="http://schemas.microsoft.com/office/powerpoint/2010/main" val="1366038318"/>
      </p:ext>
    </p:extLst>
  </p:cSld>
</p:sld>
</file>

<file path=ppt/slides/slide1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4" name="Edited text 13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的原始曲線在投影前已出現鋸齒</a:t>
            </a:r>
          </a:p>
        </p:txBody>
      </p:sp>
      <p:sp>
        <p:nvSpPr>
          <p:cNvPr id="135" name="Edited text 13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136" name="Rule 13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7" name="Edited text 13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38" name="Edited text 13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GEOMETRY · SAME-FRAME CONTROL</a:t>
            </a:r>
          </a:p>
        </p:txBody>
      </p:sp>
      <p:sp>
        <p:nvSpPr>
          <p:cNvPr id="139" name="Edited text 139"/>
          <p:cNvSpPr txBox="1"/>
          <p:nvPr/>
        </p:nvSpPr>
        <p:spPr>
          <a:xfrm>
            <a:off x="685800" y="1590675"/>
            <a:ext cx="34004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TEACHER · supercombo079</a:t>
            </a:r>
          </a:p>
        </p:txBody>
      </p:sp>
      <p:pic>
        <p:nvPicPr>
          <p:cNvPr id="140" name="raw-0" descr="Actual replay screenshot; see slide notes for provenance."/>
          <p:cNvPicPr/>
          <p:nvPr/>
        </p:nvPicPr>
        <p:blipFill>
          <a:blip r:embed="rIdNew140"/>
          <a:stretch>
            <a:fillRect/>
          </a:stretch>
        </p:blipFill>
        <p:spPr>
          <a:xfrm>
            <a:off x="685800" y="2095500"/>
            <a:ext cx="3400425" cy="2272689"/>
          </a:xfrm>
          <a:prstGeom prst="rect">
            <a:avLst/>
          </a:prstGeom>
        </p:spPr>
      </p:pic>
      <p:sp>
        <p:nvSpPr>
          <p:cNvPr id="141" name="Edited text 141"/>
          <p:cNvSpPr txBox="1"/>
          <p:nvPr/>
        </p:nvSpPr>
        <p:spPr>
          <a:xfrm>
            <a:off x="4391025" y="1590675"/>
            <a:ext cx="34004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B6 BEST</a:t>
            </a:r>
          </a:p>
        </p:txBody>
      </p:sp>
      <p:pic>
        <p:nvPicPr>
          <p:cNvPr id="142" name="raw-1" descr="Actual replay screenshot; see slide notes for provenance."/>
          <p:cNvPicPr/>
          <p:nvPr/>
        </p:nvPicPr>
        <p:blipFill>
          <a:blip r:embed="rIdNew142"/>
          <a:stretch>
            <a:fillRect/>
          </a:stretch>
        </p:blipFill>
        <p:spPr>
          <a:xfrm>
            <a:off x="4391025" y="2095500"/>
            <a:ext cx="3400425" cy="2272689"/>
          </a:xfrm>
          <a:prstGeom prst="rect">
            <a:avLst/>
          </a:prstGeom>
        </p:spPr>
      </p:pic>
      <p:sp>
        <p:nvSpPr>
          <p:cNvPr id="143" name="Edited text 143"/>
          <p:cNvSpPr txBox="1"/>
          <p:nvPr/>
        </p:nvSpPr>
        <p:spPr>
          <a:xfrm>
            <a:off x="8096250" y="1590675"/>
            <a:ext cx="34004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B6 FINAL</a:t>
            </a:r>
          </a:p>
        </p:txBody>
      </p:sp>
      <p:pic>
        <p:nvPicPr>
          <p:cNvPr id="144" name="raw-2" descr="Actual replay screenshot; see slide notes for provenance."/>
          <p:cNvPicPr/>
          <p:nvPr/>
        </p:nvPicPr>
        <p:blipFill>
          <a:blip r:embed="rIdNew144"/>
          <a:stretch>
            <a:fillRect/>
          </a:stretch>
        </p:blipFill>
        <p:spPr>
          <a:xfrm>
            <a:off x="8096250" y="2095500"/>
            <a:ext cx="3400425" cy="2272689"/>
          </a:xfrm>
          <a:prstGeom prst="rect">
            <a:avLst/>
          </a:prstGeom>
        </p:spPr>
      </p:pic>
      <p:sp>
        <p:nvSpPr>
          <p:cNvPr id="145" name="Edited text 145"/>
          <p:cNvSpPr txBox="1"/>
          <p:nvPr/>
        </p:nvSpPr>
        <p:spPr>
          <a:xfrm>
            <a:off x="685800" y="45148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各圖 Y 軸沿用原始尺度：此頁比較曲線形狀，不直接比較幅度。橫軸為距離取樣，單位 m。</a:t>
            </a:r>
          </a:p>
        </p:txBody>
      </p:sp>
      <p:pic>
        <p:nvPicPr>
          <p:cNvPr id="146" name="final-road" descr="Actual replay screenshot; see slide notes for provenance."/>
          <p:cNvPicPr/>
          <p:nvPr/>
        </p:nvPicPr>
        <p:blipFill>
          <a:blip r:embed="rIdNew146"/>
          <a:stretch>
            <a:fillRect/>
          </a:stretch>
        </p:blipFill>
        <p:spPr>
          <a:xfrm>
            <a:off x="1201003" y="5029200"/>
            <a:ext cx="1560395" cy="1171575"/>
          </a:xfrm>
          <a:prstGeom prst="rect">
            <a:avLst/>
          </a:prstGeom>
        </p:spPr>
      </p:pic>
      <p:sp>
        <p:nvSpPr>
          <p:cNvPr id="147" name="Edited text 147"/>
          <p:cNvSpPr txBox="1"/>
          <p:nvPr/>
        </p:nvSpPr>
        <p:spPr>
          <a:xfrm>
            <a:off x="3733800" y="5048250"/>
            <a:ext cx="77724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如何閱讀這組對照？</a:t>
            </a:r>
          </a:p>
        </p:txBody>
      </p:sp>
      <p:sp>
        <p:nvSpPr>
          <p:cNvPr id="148" name="Edited text 148"/>
          <p:cNvSpPr txBox="1"/>
          <p:nvPr/>
        </p:nvSpPr>
        <p:spPr>
          <a:xfrm>
            <a:off x="3733800" y="5486400"/>
            <a:ext cx="77724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同一 Taiwan frame 601，共享 teacher 前一時刻 state、traffic=[1,0]。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原始 path／lane 曲線已不平滑；camera overlay 是下游顯示結果。</a:t>
            </a:r>
          </a:p>
        </p:txBody>
      </p:sp>
    </p:spTree>
    <p:extLst>
      <p:ext uri="{BB962C8B-B14F-4D97-AF65-F5344CB8AC3E}">
        <ns3:creationId val="385347971"/>
      </p:ext>
    </p:extLst>
  </p:cSld>
</p:sld>
</file>

<file path=ppt/slides/slide1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9" name="Edited text 149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Raw、Parsed、Projected：異常在顯示前就存在</a:t>
            </a:r>
          </a:p>
        </p:txBody>
      </p:sp>
      <p:sp>
        <p:nvSpPr>
          <p:cNvPr id="150" name="Edited text 150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51" name="Rule 151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2" name="Edited text 152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53" name="Edited text 153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GEOMETRY · RAW → PARSED → PROJECTED</a:t>
            </a:r>
          </a:p>
        </p:txBody>
      </p:sp>
      <p:pic>
        <p:nvPicPr>
          <p:cNvPr id="154" name="raw-parsed-projected" descr="Actual replay screenshot; see slide notes for provenance."/>
          <p:cNvPicPr/>
          <p:nvPr/>
        </p:nvPicPr>
        <p:blipFill>
          <a:blip r:embed="rIdNew154"/>
          <a:stretch>
            <a:fillRect/>
          </a:stretch>
        </p:blipFill>
        <p:spPr>
          <a:xfrm>
            <a:off x="685800" y="1562100"/>
            <a:ext cx="10820400" cy="3381375"/>
          </a:xfrm>
          <a:prstGeom prst="rect">
            <a:avLst/>
          </a:prstGeom>
        </p:spPr>
      </p:pic>
      <p:sp>
        <p:nvSpPr>
          <p:cNvPr id="155" name="Edited text 155"/>
          <p:cNvSpPr txBox="1"/>
          <p:nvPr/>
        </p:nvSpPr>
        <p:spPr>
          <a:xfrm>
            <a:off x="685800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Raw output</a:t>
            </a:r>
          </a:p>
        </p:txBody>
      </p:sp>
      <p:sp>
        <p:nvSpPr>
          <p:cNvPr id="156" name="Edited text 156"/>
          <p:cNvSpPr txBox="1"/>
          <p:nvPr/>
        </p:nvSpPr>
        <p:spPr>
          <a:xfrm>
            <a:off x="685800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紅線已呈鋸齒與偏移。</a:t>
            </a:r>
          </a:p>
        </p:txBody>
      </p:sp>
      <p:sp>
        <p:nvSpPr>
          <p:cNvPr id="157" name="Edited text 157"/>
          <p:cNvSpPr txBox="1"/>
          <p:nvPr/>
        </p:nvSpPr>
        <p:spPr>
          <a:xfrm>
            <a:off x="4410075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Parsed output</a:t>
            </a:r>
          </a:p>
        </p:txBody>
      </p:sp>
      <p:sp>
        <p:nvSpPr>
          <p:cNvPr id="158" name="Edited text 158"/>
          <p:cNvSpPr txBox="1"/>
          <p:nvPr/>
        </p:nvSpPr>
        <p:spPr>
          <a:xfrm>
            <a:off x="4410075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加上 parser 偏移後仍保留異常。</a:t>
            </a:r>
          </a:p>
        </p:txBody>
      </p:sp>
      <p:sp>
        <p:nvSpPr>
          <p:cNvPr id="159" name="Edited text 159"/>
          <p:cNvSpPr txBox="1"/>
          <p:nvPr/>
        </p:nvSpPr>
        <p:spPr>
          <a:xfrm>
            <a:off x="8134350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Projected pixels</a:t>
            </a:r>
          </a:p>
        </p:txBody>
      </p:sp>
      <p:sp>
        <p:nvSpPr>
          <p:cNvPr id="160" name="Edited text 160"/>
          <p:cNvSpPr txBox="1"/>
          <p:nvPr/>
        </p:nvSpPr>
        <p:spPr>
          <a:xfrm>
            <a:off x="8134350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投影把異常曲線轉為像素座標。</a:t>
            </a:r>
          </a:p>
        </p:txBody>
      </p:sp>
      <p:sp>
        <p:nvSpPr>
          <p:cNvPr id="161" name="Edited text 161"/>
          <p:cNvSpPr txBox="1"/>
          <p:nvPr/>
        </p:nvSpPr>
        <p:spPr>
          <a:xfrm>
            <a:off x="685800" y="6067425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已測投影與參考最大差異 1.14e−13 px；支持異常在上游，未證明所有 calibration 都正確。</a:t>
            </a:r>
          </a:p>
        </p:txBody>
      </p:sp>
    </p:spTree>
    <p:extLst>
      <p:ext uri="{BB962C8B-B14F-4D97-AF65-F5344CB8AC3E}">
        <ns3:creationId val="1014198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18-textbox-0">
            <a:extLst xmlns:a="http://schemas.openxmlformats.org/drawingml/2006/main">
              <a:ext uri="{FF2B5EF4-FFF2-40B4-BE49-F238E27FC236}">
                <a16:creationId xmlns:a16="http://schemas.microsoft.com/office/drawing/2014/main" id="{B74105B2-E06C-4D3A-AAEA-2322E6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SUPPORTING EVIDENCE · INPUT CONTROL</a:t>
            </a:r>
          </a:p>
        </p:txBody>
      </p:sp>
      <p:sp>
        <p:nvSpPr>
          <p:cNvPr id="2" name="p18-textbox-1">
            <a:extLst xmlns:a="http://schemas.openxmlformats.org/drawingml/2006/main">
              <a:ext uri="{FF2B5EF4-FFF2-40B4-BE49-F238E27FC236}">
                <a16:creationId xmlns:a16="http://schemas.microsoft.com/office/drawing/2014/main" id="{C89EFE40-9B27-4B7C-B1C0-E1D4615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前處理檢查：真實輸入確實不同</a:t>
            </a:r>
          </a:p>
        </p:txBody>
      </p:sp>
      <p:sp>
        <p:nvSpPr>
          <p:cNvPr id="3" name="p18-rect-2">
            <a:extLst xmlns:a="http://schemas.openxmlformats.org/drawingml/2006/main">
              <a:ext uri="{FF2B5EF4-FFF2-40B4-BE49-F238E27FC236}">
                <a16:creationId xmlns:a16="http://schemas.microsoft.com/office/drawing/2014/main" id="{EBA49DD4-3047-4F15-8158-ED721F6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8-textbox-3">
            <a:extLst xmlns:a="http://schemas.openxmlformats.org/drawingml/2006/main">
              <a:ext uri="{FF2B5EF4-FFF2-40B4-BE49-F238E27FC236}">
                <a16:creationId xmlns:a16="http://schemas.microsoft.com/office/drawing/2014/main" id="{64FE1260-5E35-4694-878C-3056F38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E05  E06</a:t>
            </a:r>
          </a:p>
        </p:txBody>
      </p:sp>
      <p:sp>
        <p:nvSpPr>
          <p:cNvPr id="5" name="p18-textbox-4">
            <a:extLst xmlns:a="http://schemas.openxmlformats.org/drawingml/2006/main">
              <a:ext uri="{FF2B5EF4-FFF2-40B4-BE49-F238E27FC236}">
                <a16:creationId xmlns:a16="http://schemas.microsoft.com/office/drawing/2014/main" id="{6C9FCF42-463A-4FF6-B455-3B01A31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6" name="p18-textbox-5">
            <a:extLst xmlns:a="http://schemas.openxmlformats.org/drawingml/2006/main">
              <a:ext uri="{FF2B5EF4-FFF2-40B4-BE49-F238E27FC236}">
                <a16:creationId xmlns:a16="http://schemas.microsoft.com/office/drawing/2014/main" id="{395119FB-92C6-4649-BA51-76887DC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19.0024388631</a:t>
            </a:r>
          </a:p>
        </p:txBody>
      </p:sp>
      <p:sp>
        <p:nvSpPr>
          <p:cNvPr id="7" name="p18-textbox-6">
            <a:extLst xmlns:a="http://schemas.openxmlformats.org/drawingml/2006/main">
              <a:ext uri="{FF2B5EF4-FFF2-40B4-BE49-F238E27FC236}">
                <a16:creationId xmlns:a16="http://schemas.microsoft.com/office/drawing/2014/main" id="{85E37487-FCDD-4C8B-BAEA-730DB47C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native pixel MAE · USA quarter vs Taiwan quarter</a:t>
            </a:r>
          </a:p>
        </p:txBody>
      </p:sp>
      <p:sp>
        <p:nvSpPr>
          <p:cNvPr id="8" name="p18-textbox-7">
            <a:extLst xmlns:a="http://schemas.openxmlformats.org/drawingml/2006/main">
              <a:ext uri="{FF2B5EF4-FFF2-40B4-BE49-F238E27FC236}">
                <a16:creationId xmlns:a16="http://schemas.microsoft.com/office/drawing/2014/main" id="{B82B1E80-1351-4C74-A083-DD73971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不同影像輸入</a:t>
            </a:r>
          </a:p>
        </p:txBody>
      </p:sp>
      <p:sp>
        <p:nvSpPr>
          <p:cNvPr id="9" name="p18-textbox-8">
            <a:extLst xmlns:a="http://schemas.openxmlformats.org/drawingml/2006/main">
              <a:ext uri="{FF2B5EF4-FFF2-40B4-BE49-F238E27FC236}">
                <a16:creationId xmlns:a16="http://schemas.microsoft.com/office/drawing/2014/main" id="{BF422588-3DA3-4E89-8998-BDBBD5A1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736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cross-domain matching samples MAE 9.312–19.002 pixel levels</a:t>
            </a:r>
          </a:p>
        </p:txBody>
      </p:sp>
      <p:sp>
        <p:nvSpPr>
          <p:cNvPr id="10" name="p18-textbox-9">
            <a:extLst xmlns:a="http://schemas.openxmlformats.org/drawingml/2006/main">
              <a:ext uri="{FF2B5EF4-FFF2-40B4-BE49-F238E27FC236}">
                <a16:creationId xmlns:a16="http://schemas.microsoft.com/office/drawing/2014/main" id="{761B57C4-19F5-4685-99FB-0592F4E4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train / inference 一致</a:t>
            </a:r>
          </a:p>
        </p:txBody>
      </p:sp>
      <p:sp>
        <p:nvSpPr>
          <p:cNvPr id="11" name="p18-textbox-10">
            <a:extLst xmlns:a="http://schemas.openxmlformats.org/drawingml/2006/main">
              <a:ext uri="{FF2B5EF4-FFF2-40B4-BE49-F238E27FC236}">
                <a16:creationId xmlns:a16="http://schemas.microsoft.com/office/drawing/2014/main" id="{1CA15E1C-509A-4758-87E2-B4A50599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736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3 組 USA decoded pair 與 yuv.h5 完全相同，difference = 0</a:t>
            </a:r>
          </a:p>
        </p:txBody>
      </p:sp>
      <p:sp>
        <p:nvSpPr>
          <p:cNvPr id="12" name="p18-textbox-11">
            <a:extLst xmlns:a="http://schemas.openxmlformats.org/drawingml/2006/main">
              <a:ext uri="{FF2B5EF4-FFF2-40B4-BE49-F238E27FC236}">
                <a16:creationId xmlns:a16="http://schemas.microsoft.com/office/drawing/2014/main" id="{478D12E9-E083-42D9-869C-D1C1C679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native YUV scale</a:t>
            </a:r>
          </a:p>
        </p:txBody>
      </p:sp>
      <p:sp>
        <p:nvSpPr>
          <p:cNvPr id="13" name="p18-textbox-12">
            <a:extLst xmlns:a="http://schemas.openxmlformats.org/drawingml/2006/main">
              <a:ext uri="{FF2B5EF4-FFF2-40B4-BE49-F238E27FC236}">
                <a16:creationId xmlns:a16="http://schemas.microsoft.com/office/drawing/2014/main" id="{BAF52DF5-F49B-490B-B434-FF64645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67225"/>
            <a:ext cx="7362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train / inference 都未除以 255；訓練首 batch range 35–204</a:t>
            </a:r>
          </a:p>
        </p:txBody>
      </p:sp>
      <p:sp>
        <p:nvSpPr>
          <p:cNvPr id="14" name="p18-textbox-13">
            <a:extLst xmlns:a="http://schemas.openxmlformats.org/drawingml/2006/main">
              <a:ext uri="{FF2B5EF4-FFF2-40B4-BE49-F238E27FC236}">
                <a16:creationId xmlns:a16="http://schemas.microsoft.com/office/drawing/2014/main" id="{5D9CC6BF-76A9-43C6-95ED-EA9C045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重複 identical input 的輸出 bitwise identical。這些檢查排除已檢查 samples 的近似影像／scale mismatch 解釋，未證明所有 preprocessing 都理想。</a:t>
            </a:r>
          </a:p>
        </p:txBody>
      </p:sp>
    </p:spTree>
    <p:extLst>
      <p:ext uri="{BB962C8B-B14F-4D97-AF65-F5344CB8AC3E}">
        <p14:creationId xmlns:p14="http://schemas.microsoft.com/office/powerpoint/2010/main" val="772945314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2" name="Edited text 162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換影像後輸出幾乎不變，換 state 的影響較大</a:t>
            </a:r>
          </a:p>
        </p:txBody>
      </p:sp>
      <p:sp>
        <p:nvSpPr>
          <p:cNvPr id="163" name="Edited text 163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164" name="Rule 164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65" name="Edited text 165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66" name="Edited text 166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SUPPORTING EVIDENCE · IMAGE / STATE</a:t>
            </a:r>
          </a:p>
        </p:txBody>
      </p:sp>
      <p:sp>
        <p:nvSpPr>
          <p:cNvPr id="167" name="Edited text 167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讀圖：MAE 是平均絕對差；這裡越大，表示介入讓輸出改變越多。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0CB55AFB-0F7E-462A-A0A2-C4EA2123D621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ns3:chart r:id="Rf02c9d9a6f7e442d"/>
          </a:graphicData>
        </a:graphic>
      </p:graphicFrame>
      <p:sp>
        <p:nvSpPr>
          <p:cNvPr id="168" name="Edited text 168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縱軸為 log10(MAE)，負值不代表負誤差。−7 約等於 1e−7。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已測 image swap n=5、prior state n=4／cell；固定其他 inputs／weights。</a:t>
            </a:r>
          </a:p>
        </p:txBody>
      </p:sp>
      <p:sp>
        <p:nvSpPr>
          <p:cNvPr id="169" name="Edited text 169"/>
          <p:cNvSpPr txBox="1"/>
          <p:nvPr/>
        </p:nvSpPr>
        <p:spPr>
          <a:xfrm>
            <a:off x="685800" y="5848350"/>
            <a:ext cx="108204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USA 的 state 介入 MAE=1.868；Best USA=2.046。結論限於已測 inputs，未建立全域 image independence。</a:t>
            </a:r>
          </a:p>
        </p:txBody>
      </p:sp>
    </p:spTree>
    <p:extLst>
      <p:ext uri="{BB962C8B-B14F-4D97-AF65-F5344CB8AC3E}">
        <ns5:creationId val="2129467400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0" name="Edited text 170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影像差異沿 Encoder 深度整體衰減</a:t>
            </a:r>
          </a:p>
        </p:txBody>
      </p:sp>
      <p:sp>
        <p:nvSpPr>
          <p:cNvPr id="171" name="Edited text 171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172" name="Rule 172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73" name="Edited text 173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74" name="Edited text 174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SUPPORTING EVIDENCE · ENCODER</a:t>
            </a:r>
          </a:p>
        </p:txBody>
      </p:sp>
      <p:sp>
        <p:nvSpPr>
          <p:cNvPr id="175" name="Edited text 175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讀圖：activation MAE 比較兩張影像在同一層的回應；越低，兩者越接近。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F4B95873-A328-41B7-911D-976B2F5445A1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ns3:chart r:id="Rf44d4ab235d54c62"/>
          </a:graphicData>
        </a:graphic>
      </p:graphicFrame>
      <p:sp>
        <p:nvSpPr>
          <p:cNvPr id="176" name="Edited text 176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縱軸為 log10(activation MAE)。整體下降，表示可區分影像的差異逐步縮小。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同一 USA-quarter／Taiwan-quarter real swap；不同層的尺度也可能不同。</a:t>
            </a:r>
          </a:p>
        </p:txBody>
      </p:sp>
      <p:sp>
        <p:nvSpPr>
          <p:cNvPr id="177" name="Edited text 177"/>
          <p:cNvSpPr txBox="1"/>
          <p:nvPr/>
        </p:nvSpPr>
        <p:spPr>
          <a:xfrm>
            <a:off x="685800" y="5848350"/>
            <a:ext cx="108204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flatten MAE=1.076e−7；平均 activation magnitude≈2.824。這是已測對照，並非所有影像或唯一成因。</a:t>
            </a:r>
          </a:p>
        </p:txBody>
      </p:sp>
    </p:spTree>
    <p:extLst>
      <p:ext uri="{BB962C8B-B14F-4D97-AF65-F5344CB8AC3E}">
        <ns5:creationId val="1849719283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8" name="Edited text 178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局部 loss gradient：影像方向極弱，state 較大</a:t>
            </a:r>
          </a:p>
        </p:txBody>
      </p:sp>
      <p:sp>
        <p:nvSpPr>
          <p:cNvPr id="179" name="Edited text 179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180" name="Rule 180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1" name="Edited text 181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82" name="Edited text 182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SUPPORTING EVIDENCE · SUPERVISED GRADIENT</a:t>
            </a:r>
          </a:p>
        </p:txBody>
      </p:sp>
      <p:sp>
        <p:nvSpPr>
          <p:cNvPr id="183" name="Edited text 183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讀圖：gradient RMS 表示此處 loss 對輸入微小變動的局部敏感度。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119EFEA3-10F1-4945-A46A-BE66187AF308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ns3:chart r:id="Rf16e28a9c1404e94"/>
          </a:graphicData>
        </a:graphic>
      </p:graphicFrame>
      <p:sp>
        <p:nvSpPr>
          <p:cNvPr id="184" name="Edited text 184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縱軸為 log10(RMS)，低柱表示梯度更小；RMS 有助比較不同大小的 tensors。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18 samples 的 original-condition median；原 custom loss 與 targets 保留。</a:t>
            </a:r>
          </a:p>
        </p:txBody>
      </p:sp>
      <p:sp>
        <p:nvSpPr>
          <p:cNvPr id="185" name="Edited text 185"/>
          <p:cNvSpPr txBox="1"/>
          <p:nvPr/>
        </p:nvSpPr>
        <p:spPr>
          <a:xfrm>
            <a:off x="685800" y="5848350"/>
            <a:ext cx="108204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image/state RMS=9.775e−15／0.1907；Best=2.580e−15／0.2903。Tiny nonzero 並非 numerical zero；局部梯度不等於全域因果。</a:t>
            </a:r>
          </a:p>
        </p:txBody>
      </p:sp>
    </p:spTree>
    <p:extLst>
      <p:ext uri="{BB962C8B-B14F-4D97-AF65-F5344CB8AC3E}">
        <ns5:creationId val="1290305350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6" name="Edited text 186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Fresh controls：訓練前就有嚴重梯度衰減</a:t>
            </a:r>
          </a:p>
        </p:txBody>
      </p:sp>
      <p:sp>
        <p:nvSpPr>
          <p:cNvPr id="187" name="Edited text 187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188" name="Rule 188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9" name="Edited text 189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90" name="Edited text 190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SUPPORTING EVIDENCE · FRESH CONTROLS</a:t>
            </a:r>
          </a:p>
        </p:txBody>
      </p:sp>
      <p:sp>
        <p:nvSpPr>
          <p:cNvPr id="191" name="Edited text 191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讀圖：log10(top RMS／stem RMS) 越大，反向傳至 stem 的衰減越嚴重。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F9C7AABE-6FE2-4B0E-BECA-D6B12E183E6E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ns3:chart r:id="Ra5d73f823f5a4f96"/>
          </a:graphicData>
        </a:graphic>
      </p:graphicFrame>
      <p:sp>
        <p:nvSpPr>
          <p:cNvPr id="192" name="Edited text 192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三個 fresh seeds、54 records、0 optimizer steps，同一 18 cached samples。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三組約 9.30–9.40 orders；計算使用 ratios of medians，不是平均逐筆比值。</a:t>
            </a:r>
          </a:p>
        </p:txBody>
      </p:sp>
      <p:sp>
        <p:nvSpPr>
          <p:cNvPr id="193" name="Edited text 193"/>
          <p:cNvSpPr txBox="1"/>
          <p:nvPr/>
        </p:nvSpPr>
        <p:spPr>
          <a:xfrm>
            <a:off x="685800" y="5848350"/>
            <a:ext cx="108204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支持衰減在訓練前已存在；fresh controls 不是歷史初始權重，也未單獨隔離 initializer 為唯一原因。</a:t>
            </a:r>
          </a:p>
        </p:txBody>
      </p:sp>
    </p:spTree>
    <p:extLst>
      <p:ext uri="{BB962C8B-B14F-4D97-AF65-F5344CB8AC3E}">
        <ns5:creationId val="4385032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2-21-0">
            <a:extLst xmlns:a="http://schemas.openxmlformats.org/drawingml/2006/main">
              <a:ext uri="{FF2B5EF4-FFF2-40B4-BE49-F238E27FC236}">
                <a16:creationId xmlns:a16="http://schemas.microsoft.com/office/drawing/2014/main" id="{AFA3716A-7E91-471D-A642-A1ED527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· DISTRIBUTION MISMATCH</a:t>
            </a:r>
          </a:p>
        </p:txBody>
      </p:sp>
      <p:sp>
        <p:nvSpPr>
          <p:cNvPr id="2" name="v2-21-1">
            <a:extLst xmlns:a="http://schemas.openxmlformats.org/drawingml/2006/main">
              <a:ext uri="{FF2B5EF4-FFF2-40B4-BE49-F238E27FC236}">
                <a16:creationId xmlns:a16="http://schemas.microsoft.com/office/drawing/2014/main" id="{704FCD66-D2CE-42D7-954E-D3E4B6F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訓練與自由運行使用不同的 state 來源</a:t>
            </a:r>
          </a:p>
        </p:txBody>
      </p:sp>
      <p:sp>
        <p:nvSpPr>
          <p:cNvPr id="3" name="v2-21-2">
            <a:extLst xmlns:a="http://schemas.openxmlformats.org/drawingml/2006/main">
              <a:ext uri="{FF2B5EF4-FFF2-40B4-BE49-F238E27FC236}">
                <a16:creationId xmlns:a16="http://schemas.microsoft.com/office/drawing/2014/main" id="{43770706-DAE8-4F62-824D-945B9D7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2-21-3">
            <a:extLst xmlns:a="http://schemas.openxmlformats.org/drawingml/2006/main">
              <a:ext uri="{FF2B5EF4-FFF2-40B4-BE49-F238E27FC236}">
                <a16:creationId xmlns:a16="http://schemas.microsoft.com/office/drawing/2014/main" id="{68ADFBDF-D432-41A5-9D79-DCCADC4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S01  M01</a:t>
            </a:r>
          </a:p>
        </p:txBody>
      </p:sp>
      <p:sp>
        <p:nvSpPr>
          <p:cNvPr id="5" name="v2-21-4">
            <a:extLst xmlns:a="http://schemas.openxmlformats.org/drawingml/2006/main">
              <a:ext uri="{FF2B5EF4-FFF2-40B4-BE49-F238E27FC236}">
                <a16:creationId xmlns:a16="http://schemas.microsoft.com/office/drawing/2014/main" id="{2B2F5316-3A0B-408D-8C43-482BC4C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  <p:sp>
        <p:nvSpPr>
          <p:cNvPr id="6" name="v2-21-5">
            <a:extLst xmlns:a="http://schemas.openxmlformats.org/drawingml/2006/main">
              <a:ext uri="{FF2B5EF4-FFF2-40B4-BE49-F238E27FC236}">
                <a16:creationId xmlns:a16="http://schemas.microsoft.com/office/drawing/2014/main" id="{E2C7AFCF-731C-41A3-9D29-1A3E2277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TRAINING</a:t>
            </a:r>
          </a:p>
        </p:txBody>
      </p:sp>
      <p:sp>
        <p:nvSpPr>
          <p:cNvPr id="7" name="v2-21-6">
            <a:extLst xmlns:a="http://schemas.openxmlformats.org/drawingml/2006/main">
              <a:ext uri="{FF2B5EF4-FFF2-40B4-BE49-F238E27FC236}">
                <a16:creationId xmlns:a16="http://schemas.microsoft.com/office/drawing/2014/main" id="{CB8DB4FB-41D7-43EF-9007-E58DCDEF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s[t−1]</a:t>
            </a:r>
          </a:p>
        </p:txBody>
      </p:sp>
      <p:sp>
        <p:nvSpPr>
          <p:cNvPr id="8" name="v2-21-7">
            <a:extLst xmlns:a="http://schemas.openxmlformats.org/drawingml/2006/main">
              <a:ext uri="{FF2B5EF4-FFF2-40B4-BE49-F238E27FC236}">
                <a16:creationId xmlns:a16="http://schemas.microsoft.com/office/drawing/2014/main" id="{8EDC543F-C9B2-4F42-B769-348A03BC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05075"/>
            <a:ext cx="781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v2-21-8">
            <a:extLst xmlns:a="http://schemas.openxmlformats.org/drawingml/2006/main">
              <a:ext uri="{FF2B5EF4-FFF2-40B4-BE49-F238E27FC236}">
                <a16:creationId xmlns:a16="http://schemas.microsoft.com/office/drawing/2014/main" id="{5B739DAB-D3E8-4FE6-ABDF-805EFCAB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+ image pair</a:t>
            </a:r>
          </a:p>
        </p:txBody>
      </p:sp>
      <p:sp>
        <p:nvSpPr>
          <p:cNvPr id="10" name="v2-21-9">
            <a:extLst xmlns:a="http://schemas.openxmlformats.org/drawingml/2006/main">
              <a:ext uri="{FF2B5EF4-FFF2-40B4-BE49-F238E27FC236}">
                <a16:creationId xmlns:a16="http://schemas.microsoft.com/office/drawing/2014/main" id="{2459C151-7EA7-4C1F-951C-9484D11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2-21-10">
            <a:extLst xmlns:a="http://schemas.openxmlformats.org/drawingml/2006/main">
              <a:ext uri="{FF2B5EF4-FFF2-40B4-BE49-F238E27FC236}">
                <a16:creationId xmlns:a16="http://schemas.microsoft.com/office/drawing/2014/main" id="{8099ED2E-3773-4938-9531-EB8A45C8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FREE RUNNING</a:t>
            </a:r>
          </a:p>
        </p:txBody>
      </p:sp>
      <p:sp>
        <p:nvSpPr>
          <p:cNvPr id="12" name="v2-21-11">
            <a:extLst xmlns:a="http://schemas.openxmlformats.org/drawingml/2006/main">
              <a:ext uri="{FF2B5EF4-FFF2-40B4-BE49-F238E27FC236}">
                <a16:creationId xmlns:a16="http://schemas.microsoft.com/office/drawing/2014/main" id="{57BE210C-850C-433D-84FF-CE2748B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s[t−1]</a:t>
            </a:r>
          </a:p>
        </p:txBody>
      </p:sp>
      <p:sp>
        <p:nvSpPr>
          <p:cNvPr id="13" name="v2-21-12">
            <a:extLst xmlns:a="http://schemas.openxmlformats.org/drawingml/2006/main">
              <a:ext uri="{FF2B5EF4-FFF2-40B4-BE49-F238E27FC236}">
                <a16:creationId xmlns:a16="http://schemas.microsoft.com/office/drawing/2014/main" id="{8AE556C4-CA0E-4DA5-85B8-90EA0A06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86250"/>
            <a:ext cx="781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2-21-13">
            <a:extLst xmlns:a="http://schemas.openxmlformats.org/drawingml/2006/main">
              <a:ext uri="{FF2B5EF4-FFF2-40B4-BE49-F238E27FC236}">
                <a16:creationId xmlns:a16="http://schemas.microsoft.com/office/drawing/2014/main" id="{4631A5ED-13BC-4653-A1BC-5290998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338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+ image pair</a:t>
            </a:r>
          </a:p>
        </p:txBody>
      </p:sp>
      <p:sp>
        <p:nvSpPr>
          <p:cNvPr id="15" name="v2-21-14">
            <a:extLst xmlns:a="http://schemas.openxmlformats.org/drawingml/2006/main">
              <a:ext uri="{FF2B5EF4-FFF2-40B4-BE49-F238E27FC236}">
                <a16:creationId xmlns:a16="http://schemas.microsoft.com/office/drawing/2014/main" id="{D6C2506B-A1B5-42F5-8512-2EA9BEBA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2-21-15">
            <a:extLst xmlns:a="http://schemas.openxmlformats.org/drawingml/2006/main">
              <a:ext uri="{FF2B5EF4-FFF2-40B4-BE49-F238E27FC236}">
                <a16:creationId xmlns:a16="http://schemas.microsoft.com/office/drawing/2014/main" id="{C943C6BA-23C1-41DF-823B-E3EFD550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057775"/>
            <a:ext cx="6219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2-21-16">
            <a:extLst xmlns:a="http://schemas.openxmlformats.org/drawingml/2006/main">
              <a:ext uri="{FF2B5EF4-FFF2-40B4-BE49-F238E27FC236}">
                <a16:creationId xmlns:a16="http://schemas.microsoft.com/office/drawing/2014/main" id="{1985D027-8ECD-4CDC-9B0A-5679FF3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52975"/>
            <a:ext cx="152400" cy="3238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2-21-17">
            <a:extLst xmlns:a="http://schemas.openxmlformats.org/drawingml/2006/main">
              <a:ext uri="{FF2B5EF4-FFF2-40B4-BE49-F238E27FC236}">
                <a16:creationId xmlns:a16="http://schemas.microsoft.com/office/drawing/2014/main" id="{8D098479-F08A-403B-98D1-1D86A06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229225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回饋自己的 512-value next state</a:t>
            </a:r>
          </a:p>
        </p:txBody>
      </p:sp>
      <p:sp>
        <p:nvSpPr>
          <p:cNvPr id="19" name="v2-21-18">
            <a:extLst xmlns:a="http://schemas.openxmlformats.org/drawingml/2006/main">
              <a:ext uri="{FF2B5EF4-FFF2-40B4-BE49-F238E27FC236}">
                <a16:creationId xmlns:a16="http://schemas.microsoft.com/office/drawing/2014/main" id="{616E2C11-8A8D-4B69-AFB2-CDDE8C9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 s[t−1] 是過去資訊，並非 future leakage。來源分布差異可能影響循環軌跡（LIKELY / SUGGESTED）；是否為唯一可訓練根因仍 NOT VERIFIED。</a:t>
            </a:r>
          </a:p>
        </p:txBody>
      </p:sp>
    </p:spTree>
    <p:extLst>
      <p:ext uri="{BB962C8B-B14F-4D97-AF65-F5344CB8AC3E}">
        <p14:creationId xmlns:p14="http://schemas.microsoft.com/office/powerpoint/2010/main" val="1793235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22-0">
            <a:extLst xmlns:a="http://schemas.openxmlformats.org/drawingml/2006/main">
              <a:ext uri="{FF2B5EF4-FFF2-40B4-BE49-F238E27FC236}">
                <a16:creationId xmlns:a16="http://schemas.microsoft.com/office/drawing/2014/main" id="{ECC74C0A-1BAB-42A4-ADB6-351F7534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· CONTROLLED FULL-SEQUENCE EVIDENCE</a:t>
            </a:r>
          </a:p>
        </p:txBody>
      </p:sp>
      <p:sp>
        <p:nvSpPr>
          <p:cNvPr id="2" name="v2-22-1">
            <a:extLst xmlns:a="http://schemas.openxmlformats.org/drawingml/2006/main">
              <a:ext uri="{FF2B5EF4-FFF2-40B4-BE49-F238E27FC236}">
                <a16:creationId xmlns:a16="http://schemas.microsoft.com/office/drawing/2014/main" id="{88BA70B7-1838-4E66-A4D9-4813E9F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State policy 明顯改變整段幾何行為</a:t>
            </a:r>
          </a:p>
        </p:txBody>
      </p:sp>
      <p:sp>
        <p:nvSpPr>
          <p:cNvPr id="3" name="v2-22-2">
            <a:extLst xmlns:a="http://schemas.openxmlformats.org/drawingml/2006/main">
              <a:ext uri="{FF2B5EF4-FFF2-40B4-BE49-F238E27FC236}">
                <a16:creationId xmlns:a16="http://schemas.microsoft.com/office/drawing/2014/main" id="{F4970117-68C8-4BC1-9AF7-2D154A7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2-22-3">
            <a:extLst xmlns:a="http://schemas.openxmlformats.org/drawingml/2006/main">
              <a:ext uri="{FF2B5EF4-FFF2-40B4-BE49-F238E27FC236}">
                <a16:creationId xmlns:a16="http://schemas.microsoft.com/office/drawing/2014/main" id="{F49948EC-2F59-45A0-9351-DD382822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S02</a:t>
            </a:r>
          </a:p>
        </p:txBody>
      </p:sp>
      <p:sp>
        <p:nvSpPr>
          <p:cNvPr id="5" name="v2-22-4">
            <a:extLst xmlns:a="http://schemas.openxmlformats.org/drawingml/2006/main">
              <a:ext uri="{FF2B5EF4-FFF2-40B4-BE49-F238E27FC236}">
                <a16:creationId xmlns:a16="http://schemas.microsoft.com/office/drawing/2014/main" id="{B33FAA8F-F631-4D2F-801F-805E3FD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D36A0-B55B-4D2D-BA5D-0849E55B1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5d4a4aeb54d45"/>
          <a:stretch xmlns:a="http://schemas.openxmlformats.org/drawingml/2006/main"/>
        </p:blipFill>
        <p:spPr>
          <a:xfrm xmlns:a="http://schemas.openxmlformats.org/drawingml/2006/main">
            <a:off x="972570" y="1990725"/>
            <a:ext cx="5312911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v2-22-5">
            <a:extLst xmlns:a="http://schemas.openxmlformats.org/drawingml/2006/main">
              <a:ext uri="{FF2B5EF4-FFF2-40B4-BE49-F238E27FC236}">
                <a16:creationId xmlns:a16="http://schemas.microsoft.com/office/drawing/2014/main" id="{3109ACB6-811A-424D-A74A-7123F295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USA Final · frame 65</a:t>
            </a:r>
          </a:p>
        </p:txBody>
      </p:sp>
      <p:sp>
        <p:nvSpPr>
          <p:cNvPr id="8" name="v2-22-6">
            <a:extLst xmlns:a="http://schemas.openxmlformats.org/drawingml/2006/main">
              <a:ext uri="{FF2B5EF4-FFF2-40B4-BE49-F238E27FC236}">
                <a16:creationId xmlns:a16="http://schemas.microsoft.com/office/drawing/2014/main" id="{816D3607-B20B-4109-9D41-0E49499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96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 黑 / free-run 紅 / teacher-state 綠虛線</a:t>
            </a:r>
          </a:p>
        </p:txBody>
      </p:sp>
      <p:sp>
        <p:nvSpPr>
          <p:cNvPr id="9" name="v2-22-7">
            <a:extLst xmlns:a="http://schemas.openxmlformats.org/drawingml/2006/main">
              <a:ext uri="{FF2B5EF4-FFF2-40B4-BE49-F238E27FC236}">
                <a16:creationId xmlns:a16="http://schemas.microsoft.com/office/drawing/2014/main" id="{A31DA06C-67F0-42F3-BD34-20C3B037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66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整段 width ≤0 frames</a:t>
            </a:r>
          </a:p>
        </p:txBody>
      </p:sp>
      <p:sp>
        <p:nvSpPr>
          <p:cNvPr id="10" name="v2-22-8">
            <a:extLst xmlns:a="http://schemas.openxmlformats.org/drawingml/2006/main">
              <a:ext uri="{FF2B5EF4-FFF2-40B4-BE49-F238E27FC236}">
                <a16:creationId xmlns:a16="http://schemas.microsoft.com/office/drawing/2014/main" id="{7FEB7395-2332-41BF-A4F2-2950F3A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USA · 1199 frames</a:t>
            </a:r>
          </a:p>
        </p:txBody>
      </p:sp>
      <p:sp>
        <p:nvSpPr>
          <p:cNvPr id="11" name="v2-22-9">
            <a:extLst xmlns:a="http://schemas.openxmlformats.org/drawingml/2006/main">
              <a:ext uri="{FF2B5EF4-FFF2-40B4-BE49-F238E27FC236}">
                <a16:creationId xmlns:a16="http://schemas.microsoft.com/office/drawing/2014/main" id="{4C2047D8-81CE-45E9-8C20-892EDFD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1006</a:t>
            </a:r>
          </a:p>
        </p:txBody>
      </p:sp>
      <p:sp>
        <p:nvSpPr>
          <p:cNvPr id="12" name="v2-22-10">
            <a:extLst xmlns:a="http://schemas.openxmlformats.org/drawingml/2006/main">
              <a:ext uri="{FF2B5EF4-FFF2-40B4-BE49-F238E27FC236}">
                <a16:creationId xmlns:a16="http://schemas.microsoft.com/office/drawing/2014/main" id="{A33DF4E0-373C-4400-B3A9-D874AA82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14650"/>
            <a:ext cx="666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2-22-11">
            <a:extLst xmlns:a="http://schemas.openxmlformats.org/drawingml/2006/main">
              <a:ext uri="{FF2B5EF4-FFF2-40B4-BE49-F238E27FC236}">
                <a16:creationId xmlns:a16="http://schemas.microsoft.com/office/drawing/2014/main" id="{0B1075BF-59CE-43F6-9949-76F1EE9C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51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4" name="v2-22-12">
            <a:extLst xmlns:a="http://schemas.openxmlformats.org/drawingml/2006/main">
              <a:ext uri="{FF2B5EF4-FFF2-40B4-BE49-F238E27FC236}">
                <a16:creationId xmlns:a16="http://schemas.microsoft.com/office/drawing/2014/main" id="{578A6F1C-258B-4316-9109-65EC5CB8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Taiwan · 1201 frames</a:t>
            </a:r>
          </a:p>
        </p:txBody>
      </p:sp>
      <p:sp>
        <p:nvSpPr>
          <p:cNvPr id="15" name="v2-22-13">
            <a:extLst xmlns:a="http://schemas.openxmlformats.org/drawingml/2006/main">
              <a:ext uri="{FF2B5EF4-FFF2-40B4-BE49-F238E27FC236}">
                <a16:creationId xmlns:a16="http://schemas.microsoft.com/office/drawing/2014/main" id="{664D7507-9171-40D8-AE79-1872588E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433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943</a:t>
            </a:r>
          </a:p>
        </p:txBody>
      </p:sp>
      <p:sp>
        <p:nvSpPr>
          <p:cNvPr id="16" name="v2-22-14">
            <a:extLst xmlns:a="http://schemas.openxmlformats.org/drawingml/2006/main">
              <a:ext uri="{FF2B5EF4-FFF2-40B4-BE49-F238E27FC236}">
                <a16:creationId xmlns:a16="http://schemas.microsoft.com/office/drawing/2014/main" id="{42640674-D9F7-4C4D-9D74-ACA3D00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52900"/>
            <a:ext cx="666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2-22-15">
            <a:extLst xmlns:a="http://schemas.openxmlformats.org/drawingml/2006/main">
              <a:ext uri="{FF2B5EF4-FFF2-40B4-BE49-F238E27FC236}">
                <a16:creationId xmlns:a16="http://schemas.microsoft.com/office/drawing/2014/main" id="{C7507D11-9193-47A4-8416-CCA0C67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433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8" name="v2-22-16">
            <a:extLst xmlns:a="http://schemas.openxmlformats.org/drawingml/2006/main">
              <a:ext uri="{FF2B5EF4-FFF2-40B4-BE49-F238E27FC236}">
                <a16:creationId xmlns:a16="http://schemas.microsoft.com/office/drawing/2014/main" id="{247C3A47-BA4D-417E-8279-737BAB6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free-running</a:t>
            </a:r>
          </a:p>
        </p:txBody>
      </p:sp>
      <p:sp>
        <p:nvSpPr>
          <p:cNvPr id="19" name="v2-22-17">
            <a:extLst xmlns:a="http://schemas.openxmlformats.org/drawingml/2006/main">
              <a:ext uri="{FF2B5EF4-FFF2-40B4-BE49-F238E27FC236}">
                <a16:creationId xmlns:a16="http://schemas.microsoft.com/office/drawing/2014/main" id="{2AD10D14-560D-4840-8523-35D1785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101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teacher-state</a:t>
            </a:r>
          </a:p>
        </p:txBody>
      </p:sp>
      <p:sp>
        <p:nvSpPr>
          <p:cNvPr id="20" name="v2-22-18">
            <a:extLst xmlns:a="http://schemas.openxmlformats.org/drawingml/2006/main">
              <a:ext uri="{FF2B5EF4-FFF2-40B4-BE49-F238E27FC236}">
                <a16:creationId xmlns:a16="http://schemas.microsoft.com/office/drawing/2014/main" id="{4844E324-7569-45EA-82A9-FF72BF1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CONFIRMED：state policy 的影響很大，但 teacher injection 並非通用解法。兩段影片、固定 traffic=[0,0]；零失敗計數不代表平滑、準確或可安全駕駛。</a:t>
            </a:r>
          </a:p>
        </p:txBody>
      </p:sp>
    </p:spTree>
    <p:extLst>
      <p:ext uri="{BB962C8B-B14F-4D97-AF65-F5344CB8AC3E}">
        <p14:creationId xmlns:p14="http://schemas.microsoft.com/office/powerpoint/2010/main" val="18497192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v2-23-0">
            <a:extLst xmlns:a="http://schemas.openxmlformats.org/drawingml/2006/main">
              <a:ext uri="{FF2B5EF4-FFF2-40B4-BE49-F238E27FC236}">
                <a16:creationId xmlns:a16="http://schemas.microsoft.com/office/drawing/2014/main" id="{63C034FD-A992-44B8-BC74-A7E834C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· CORRECTED COUNTEREXAMPLE</a:t>
            </a:r>
          </a:p>
        </p:txBody>
      </p:sp>
      <p:sp>
        <p:nvSpPr>
          <p:cNvPr id="2" name="v2-23-1">
            <a:extLst xmlns:a="http://schemas.openxmlformats.org/drawingml/2006/main">
              <a:ext uri="{FF2B5EF4-FFF2-40B4-BE49-F238E27FC236}">
                <a16:creationId xmlns:a16="http://schemas.microsoft.com/office/drawing/2014/main" id="{4A5687FB-0359-4528-82E2-81CF696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單次 teacher-state 注入取決於時機</a:t>
            </a:r>
          </a:p>
        </p:txBody>
      </p:sp>
      <p:sp>
        <p:nvSpPr>
          <p:cNvPr id="3" name="v2-23-2">
            <a:extLst xmlns:a="http://schemas.openxmlformats.org/drawingml/2006/main">
              <a:ext uri="{FF2B5EF4-FFF2-40B4-BE49-F238E27FC236}">
                <a16:creationId xmlns:a16="http://schemas.microsoft.com/office/drawing/2014/main" id="{28CA00AA-9020-4AD7-92A2-000E1D0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2-23-3">
            <a:extLst xmlns:a="http://schemas.openxmlformats.org/drawingml/2006/main">
              <a:ext uri="{FF2B5EF4-FFF2-40B4-BE49-F238E27FC236}">
                <a16:creationId xmlns:a16="http://schemas.microsoft.com/office/drawing/2014/main" id="{E268B3A8-AAB5-406B-8610-EB94F6D8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S03</a:t>
            </a:r>
          </a:p>
        </p:txBody>
      </p:sp>
      <p:sp>
        <p:nvSpPr>
          <p:cNvPr id="5" name="v2-23-4">
            <a:extLst xmlns:a="http://schemas.openxmlformats.org/drawingml/2006/main">
              <a:ext uri="{FF2B5EF4-FFF2-40B4-BE49-F238E27FC236}">
                <a16:creationId xmlns:a16="http://schemas.microsoft.com/office/drawing/2014/main" id="{ADE398EF-51CD-4ACA-8FF5-F2D2A8C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  <p:sp>
        <p:nvSpPr>
          <p:cNvPr id="6" name="v2-23-5">
            <a:extLst xmlns:a="http://schemas.openxmlformats.org/drawingml/2006/main">
              <a:ext uri="{FF2B5EF4-FFF2-40B4-BE49-F238E27FC236}">
                <a16:creationId xmlns:a16="http://schemas.microsoft.com/office/drawing/2014/main" id="{63ADD575-082D-4ADB-BDD6-44D629FC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Taiwan Final · 整段非正 lane width frames</a:t>
            </a:r>
          </a:p>
        </p:txBody>
      </p:sp>
      <p:sp>
        <p:nvSpPr>
          <p:cNvPr id="7" name="v2-23-6">
            <a:extLst xmlns:a="http://schemas.openxmlformats.org/drawingml/2006/main">
              <a:ext uri="{FF2B5EF4-FFF2-40B4-BE49-F238E27FC236}">
                <a16:creationId xmlns:a16="http://schemas.microsoft.com/office/drawing/2014/main" id="{62F01368-0813-4445-A9BA-ED0C573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943</a:t>
            </a:r>
          </a:p>
        </p:txBody>
      </p:sp>
      <p:sp>
        <p:nvSpPr>
          <p:cNvPr id="8" name="v2-23-7">
            <a:extLst xmlns:a="http://schemas.openxmlformats.org/drawingml/2006/main">
              <a:ext uri="{FF2B5EF4-FFF2-40B4-BE49-F238E27FC236}">
                <a16:creationId xmlns:a16="http://schemas.microsoft.com/office/drawing/2014/main" id="{44E6E311-2F11-427C-9D7D-39F5D66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無注入</a:t>
            </a:r>
          </a:p>
        </p:txBody>
      </p:sp>
      <p:sp>
        <p:nvSpPr>
          <p:cNvPr id="9" name="v2-23-8">
            <a:extLst xmlns:a="http://schemas.openxmlformats.org/drawingml/2006/main">
              <a:ext uri="{FF2B5EF4-FFF2-40B4-BE49-F238E27FC236}">
                <a16:creationId xmlns:a16="http://schemas.microsoft.com/office/drawing/2014/main" id="{8736FD0C-2613-40FD-A5A0-6C87A281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952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23-9">
            <a:extLst xmlns:a="http://schemas.openxmlformats.org/drawingml/2006/main">
              <a:ext uri="{FF2B5EF4-FFF2-40B4-BE49-F238E27FC236}">
                <a16:creationId xmlns:a16="http://schemas.microsoft.com/office/drawing/2014/main" id="{A1CC1254-671A-42AD-B12F-9DF6E90D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717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1006</a:t>
            </a:r>
          </a:p>
        </p:txBody>
      </p:sp>
      <p:sp>
        <p:nvSpPr>
          <p:cNvPr id="11" name="v2-23-10">
            <a:extLst xmlns:a="http://schemas.openxmlformats.org/drawingml/2006/main">
              <a:ext uri="{FF2B5EF4-FFF2-40B4-BE49-F238E27FC236}">
                <a16:creationId xmlns:a16="http://schemas.microsoft.com/office/drawing/2014/main" id="{E91F2B3C-086F-4851-BF20-C847324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86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frame 1 注入後</a:t>
            </a:r>
          </a:p>
        </p:txBody>
      </p:sp>
      <p:sp>
        <p:nvSpPr>
          <p:cNvPr id="12" name="v2-23-11">
            <a:extLst xmlns:a="http://schemas.openxmlformats.org/drawingml/2006/main">
              <a:ext uri="{FF2B5EF4-FFF2-40B4-BE49-F238E27FC236}">
                <a16:creationId xmlns:a16="http://schemas.microsoft.com/office/drawing/2014/main" id="{327CE325-E407-4EF7-9F90-7D5503B0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9825"/>
            <a:ext cx="2724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+63 frames</a:t>
            </a:r>
          </a:p>
        </p:txBody>
      </p:sp>
      <p:sp>
        <p:nvSpPr>
          <p:cNvPr id="13" name="v2-23-12">
            <a:extLst xmlns:a="http://schemas.openxmlformats.org/drawingml/2006/main">
              <a:ext uri="{FF2B5EF4-FFF2-40B4-BE49-F238E27FC236}">
                <a16:creationId xmlns:a16="http://schemas.microsoft.com/office/drawing/2014/main" id="{EFBD80B2-F40F-465C-9899-56A31DA8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2-23-13">
            <a:extLst xmlns:a="http://schemas.openxmlformats.org/drawingml/2006/main">
              <a:ext uri="{FF2B5EF4-FFF2-40B4-BE49-F238E27FC236}">
                <a16:creationId xmlns:a16="http://schemas.microsoft.com/office/drawing/2014/main" id="{F242267D-1F16-4D82-A6F1-513C9787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Frame 135 注入：改善僅維持一段時間</a:t>
            </a:r>
          </a:p>
        </p:txBody>
      </p:sp>
      <p:sp>
        <p:nvSpPr>
          <p:cNvPr id="15" name="v2-23-14">
            <a:extLst xmlns:a="http://schemas.openxmlformats.org/drawingml/2006/main">
              <a:ext uri="{FF2B5EF4-FFF2-40B4-BE49-F238E27FC236}">
                <a16:creationId xmlns:a16="http://schemas.microsoft.com/office/drawing/2014/main" id="{AE90CE20-75E1-4602-9674-14C23A82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2-23-15">
            <a:extLst xmlns:a="http://schemas.openxmlformats.org/drawingml/2006/main">
              <a:ext uri="{FF2B5EF4-FFF2-40B4-BE49-F238E27FC236}">
                <a16:creationId xmlns:a16="http://schemas.microsoft.com/office/drawing/2014/main" id="{ECD498D5-1ADA-4015-9B2B-14215A54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2-23-16">
            <a:extLst xmlns:a="http://schemas.openxmlformats.org/drawingml/2006/main">
              <a:ext uri="{FF2B5EF4-FFF2-40B4-BE49-F238E27FC236}">
                <a16:creationId xmlns:a16="http://schemas.microsoft.com/office/drawing/2014/main" id="{451578F3-4586-4848-ACF8-42177CA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135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注入</a:t>
            </a:r>
          </a:p>
        </p:txBody>
      </p:sp>
      <p:sp>
        <p:nvSpPr>
          <p:cNvPr id="18" name="v2-23-17">
            <a:extLst xmlns:a="http://schemas.openxmlformats.org/drawingml/2006/main">
              <a:ext uri="{FF2B5EF4-FFF2-40B4-BE49-F238E27FC236}">
                <a16:creationId xmlns:a16="http://schemas.microsoft.com/office/drawing/2014/main" id="{3DB007B5-8502-4AA2-9FCE-49A00C8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v2-23-18">
            <a:extLst xmlns:a="http://schemas.openxmlformats.org/drawingml/2006/main">
              <a:ext uri="{FF2B5EF4-FFF2-40B4-BE49-F238E27FC236}">
                <a16:creationId xmlns:a16="http://schemas.microsoft.com/office/drawing/2014/main" id="{FAD7F598-A9F7-4711-B857-956787BB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95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接下來 100 frames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width / path-out = 0</a:t>
            </a:r>
          </a:p>
        </p:txBody>
      </p:sp>
      <p:sp>
        <p:nvSpPr>
          <p:cNvPr id="20" name="v2-23-19">
            <a:extLst xmlns:a="http://schemas.openxmlformats.org/drawingml/2006/main">
              <a:ext uri="{FF2B5EF4-FFF2-40B4-BE49-F238E27FC236}">
                <a16:creationId xmlns:a16="http://schemas.microsoft.com/office/drawing/2014/main" id="{4DA3C0AD-C31B-49DC-B46E-9A55A085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2-23-20">
            <a:extLst xmlns:a="http://schemas.openxmlformats.org/drawingml/2006/main">
              <a:ext uri="{FF2B5EF4-FFF2-40B4-BE49-F238E27FC236}">
                <a16:creationId xmlns:a16="http://schemas.microsoft.com/office/drawing/2014/main" id="{E2A97720-8E47-4F35-B140-F58223A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282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path-out 再現</a:t>
            </a:r>
          </a:p>
        </p:txBody>
      </p:sp>
      <p:sp>
        <p:nvSpPr>
          <p:cNvPr id="22" name="v2-23-21">
            <a:extLst xmlns:a="http://schemas.openxmlformats.org/drawingml/2006/main">
              <a:ext uri="{FF2B5EF4-FFF2-40B4-BE49-F238E27FC236}">
                <a16:creationId xmlns:a16="http://schemas.microsoft.com/office/drawing/2014/main" id="{F3E94996-D6EC-418C-BFE9-D6596579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v2-23-22">
            <a:extLst xmlns:a="http://schemas.openxmlformats.org/drawingml/2006/main">
              <a:ext uri="{FF2B5EF4-FFF2-40B4-BE49-F238E27FC236}">
                <a16:creationId xmlns:a16="http://schemas.microsoft.com/office/drawing/2014/main" id="{5BDD54E2-D1E1-4725-A4E6-CCC3199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95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352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width ≤0 再現</a:t>
            </a:r>
          </a:p>
        </p:txBody>
      </p:sp>
      <p:sp>
        <p:nvSpPr>
          <p:cNvPr id="24" name="v2-23-23">
            <a:extLst xmlns:a="http://schemas.openxmlformats.org/drawingml/2006/main">
              <a:ext uri="{FF2B5EF4-FFF2-40B4-BE49-F238E27FC236}">
                <a16:creationId xmlns:a16="http://schemas.microsoft.com/office/drawing/2014/main" id="{7C4F66B5-5E08-484D-8406-2423DD1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CONFIRMED：單一「正確」state 無法保證穩定恢復。上列 timeline 為 Taiwan；USA 的 path-out / width 再現分別在 245 / 313。</a:t>
            </a:r>
          </a:p>
        </p:txBody>
      </p:sp>
    </p:spTree>
    <p:extLst>
      <p:ext uri="{BB962C8B-B14F-4D97-AF65-F5344CB8AC3E}">
        <p14:creationId xmlns:p14="http://schemas.microsoft.com/office/powerpoint/2010/main" val="685622872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4" name="Edited text 19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Depthwise 候選：哪些門檻通過、哪些未通過</a:t>
            </a:r>
          </a:p>
        </p:txBody>
      </p:sp>
      <p:sp>
        <p:nvSpPr>
          <p:cNvPr id="195" name="Edited text 19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24</a:t>
            </a:r>
          </a:p>
        </p:txBody>
      </p:sp>
      <p:sp>
        <p:nvSpPr>
          <p:cNvPr id="196" name="Rule 19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7" name="Edited text 19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98" name="Edited text 19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CONTROLLED FIX 1 · DO NOT PROMOTE</a:t>
            </a:r>
          </a:p>
        </p:txBody>
      </p:sp>
      <p:sp>
        <p:nvSpPr>
          <p:cNvPr id="199" name="Edited text 199"/>
          <p:cNvSpPr txBox="1"/>
          <p:nvPr/>
        </p:nvSpPr>
        <p:spPr>
          <a:xfrm>
            <a:off x="685800" y="1562100"/>
            <a:ext cx="108204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匹配 8 epochs ×20 steps ×batch 2；只改 depthwise 初始化，固定 120 筆 validation。</a:t>
            </a:r>
          </a:p>
        </p:txBody>
      </p:sp>
      <p:graphicFrame>
        <p:nvGraphicFramePr>
          <p:cNvPr id="10" name="">
            <a:extLst>
              <a:ext uri="{FF2B5EF4-FFF2-40B4-BE49-F238E27FC236}">
                <ns2:creationId id="{B7010770-09B4-46F8-897E-7444AC30C3BF}"/>
              </a:ext>
            </a:extLst>
          </p:cNvPr>
          <p:cNvGraphicFramePr/>
          <p:nvPr/>
        </p:nvGraphicFramePr>
        <p:xfrm>
          <a:off x="685800" y="2257425"/>
          <a:ext cx="10820400" cy="2943225"/>
        </p:xfrm>
        <a:graphic>
          <a:graphicData uri="http://schemas.openxmlformats.org/drawingml/2006/table">
            <a:tbl>
              <a:tblPr/>
              <a:tblGrid>
                <a:gridCol w="3962400"/>
                <a:gridCol w="4572000"/>
                <a:gridCol w="2286000"/>
              </a:tblGrid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升級必要條件／指標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Default → Variant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結果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</a:tr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Total loss 更低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12.2589 →12.2391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通過（−0.16%）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Path／lane MSE 更低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23.9895／23.4174 →23.9954／23.4308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空間二階差分更低（較平滑）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0.4223 →0.4909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車道交錯計數不退化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已測片段：0 →0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Image-swap path 回應增加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1.47e−7 →4.06e−8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Edited text 200"/>
          <p:cNvSpPr txBox="1"/>
          <p:nvPr/>
        </p:nvSpPr>
        <p:spPr>
          <a:xfrm>
            <a:off x="685800" y="5400675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5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必要條件須全部滿足；僅降低 total loss 不足以升級至 60 epochs。</a:t>
            </a:r>
          </a:p>
        </p:txBody>
      </p:sp>
      <p:sp>
        <p:nvSpPr>
          <p:cNvPr id="201" name="Edited text 201"/>
          <p:cNvSpPr txBox="1"/>
          <p:nvPr/>
        </p:nvSpPr>
        <p:spPr>
          <a:xfrm>
            <a:off x="685800" y="5991225"/>
            <a:ext cx="1082040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CONFIRMED｜兩個短訓練都已完成；候選沒有建立有效幾何修復，未執行長訓練。</a:t>
            </a:r>
          </a:p>
        </p:txBody>
      </p:sp>
    </p:spTree>
    <p:extLst>
      <p:ext uri="{BB962C8B-B14F-4D97-AF65-F5344CB8AC3E}">
        <ns3:creationId val="11971235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25-0">
            <a:extLst xmlns:a="http://schemas.openxmlformats.org/drawingml/2006/main">
              <a:ext uri="{FF2B5EF4-FFF2-40B4-BE49-F238E27FC236}">
                <a16:creationId xmlns:a16="http://schemas.microsoft.com/office/drawing/2014/main" id="{E176CD14-AB93-444C-B4E1-CECD392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CONTROLLED FIX 2 · FROZEN-BEST DESIGN</a:t>
            </a:r>
          </a:p>
        </p:txBody>
      </p:sp>
      <p:sp>
        <p:nvSpPr>
          <p:cNvPr id="2" name="v2-25-1">
            <a:extLst xmlns:a="http://schemas.openxmlformats.org/drawingml/2006/main">
              <a:ext uri="{FF2B5EF4-FFF2-40B4-BE49-F238E27FC236}">
                <a16:creationId xmlns:a16="http://schemas.microsoft.com/office/drawing/2014/main" id="{8AC9A6CA-BE25-4C63-B9DE-1ECFA3E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Mixed-state：只改前一時刻 state 的來源</a:t>
            </a:r>
          </a:p>
        </p:txBody>
      </p:sp>
      <p:sp>
        <p:nvSpPr>
          <p:cNvPr id="3" name="v2-25-2">
            <a:extLst xmlns:a="http://schemas.openxmlformats.org/drawingml/2006/main">
              <a:ext uri="{FF2B5EF4-FFF2-40B4-BE49-F238E27FC236}">
                <a16:creationId xmlns:a16="http://schemas.microsoft.com/office/drawing/2014/main" id="{3B6FB58A-B756-4232-829B-90E60668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2-25-3">
            <a:extLst xmlns:a="http://schemas.openxmlformats.org/drawingml/2006/main">
              <a:ext uri="{FF2B5EF4-FFF2-40B4-BE49-F238E27FC236}">
                <a16:creationId xmlns:a16="http://schemas.microsoft.com/office/drawing/2014/main" id="{BA15101F-2C7B-4395-BC3B-4F3AC07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M01</a:t>
            </a:r>
          </a:p>
        </p:txBody>
      </p:sp>
      <p:sp>
        <p:nvSpPr>
          <p:cNvPr id="5" name="v2-25-4">
            <a:extLst xmlns:a="http://schemas.openxmlformats.org/drawingml/2006/main">
              <a:ext uri="{FF2B5EF4-FFF2-40B4-BE49-F238E27FC236}">
                <a16:creationId xmlns:a16="http://schemas.microsoft.com/office/drawing/2014/main" id="{8FB103B3-6A17-40ED-AD32-78757B9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25</a:t>
            </a:r>
          </a:p>
        </p:txBody>
      </p:sp>
      <p:sp>
        <p:nvSpPr>
          <p:cNvPr id="6" name="v2-25-5">
            <a:extLst xmlns:a="http://schemas.openxmlformats.org/drawingml/2006/main">
              <a:ext uri="{FF2B5EF4-FFF2-40B4-BE49-F238E27FC236}">
                <a16:creationId xmlns:a16="http://schemas.microsoft.com/office/drawing/2014/main" id="{EF03CBBA-CAFB-4F72-A695-B9B6D4A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s[t−1]</a:t>
            </a:r>
          </a:p>
        </p:txBody>
      </p:sp>
      <p:sp>
        <p:nvSpPr>
          <p:cNvPr id="7" name="v2-25-6">
            <a:extLst xmlns:a="http://schemas.openxmlformats.org/drawingml/2006/main">
              <a:ext uri="{FF2B5EF4-FFF2-40B4-BE49-F238E27FC236}">
                <a16:creationId xmlns:a16="http://schemas.microsoft.com/office/drawing/2014/main" id="{62A60373-558D-45B8-BEEA-0784E3AF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Frozen Best s[t−1]</a:t>
            </a:r>
          </a:p>
        </p:txBody>
      </p:sp>
      <p:sp>
        <p:nvSpPr>
          <p:cNvPr id="8" name="v2-25-7">
            <a:extLst xmlns:a="http://schemas.openxmlformats.org/drawingml/2006/main">
              <a:ext uri="{FF2B5EF4-FFF2-40B4-BE49-F238E27FC236}">
                <a16:creationId xmlns:a16="http://schemas.microsoft.com/office/drawing/2014/main" id="{212B0A38-829C-4D49-94A4-CC35B165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各 recording 從起點循環產生 cache</a:t>
            </a:r>
          </a:p>
        </p:txBody>
      </p:sp>
      <p:sp>
        <p:nvSpPr>
          <p:cNvPr id="9" name="v2-25-8">
            <a:extLst xmlns:a="http://schemas.openxmlformats.org/drawingml/2006/main">
              <a:ext uri="{FF2B5EF4-FFF2-40B4-BE49-F238E27FC236}">
                <a16:creationId xmlns:a16="http://schemas.microsoft.com/office/drawing/2014/main" id="{92B11207-A1EF-4C1B-A5F1-B72A431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25-9">
            <a:extLst xmlns:a="http://schemas.openxmlformats.org/drawingml/2006/main">
              <a:ext uri="{FF2B5EF4-FFF2-40B4-BE49-F238E27FC236}">
                <a16:creationId xmlns:a16="http://schemas.microsoft.com/office/drawing/2014/main" id="{69A6BFDD-6A53-4BBD-AFCF-48F93B5C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2-25-10">
            <a:extLst xmlns:a="http://schemas.openxmlformats.org/drawingml/2006/main">
              <a:ext uri="{FF2B5EF4-FFF2-40B4-BE49-F238E27FC236}">
                <a16:creationId xmlns:a16="http://schemas.microsoft.com/office/drawing/2014/main" id="{8A6E0F4F-A04D-4C7B-AF04-A43376B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09750"/>
            <a:ext cx="240030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v2-25-11">
            <a:extLst xmlns:a="http://schemas.openxmlformats.org/drawingml/2006/main">
              <a:ext uri="{FF2B5EF4-FFF2-40B4-BE49-F238E27FC236}">
                <a16:creationId xmlns:a16="http://schemas.microsoft.com/office/drawing/2014/main" id="{B2A07CB7-EA85-41BB-ABCC-1B6D0A70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47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逐列選擇來源</a:t>
            </a:r>
          </a:p>
        </p:txBody>
      </p:sp>
      <p:sp>
        <p:nvSpPr>
          <p:cNvPr id="13" name="v2-25-12">
            <a:extLst xmlns:a="http://schemas.openxmlformats.org/drawingml/2006/main">
              <a:ext uri="{FF2B5EF4-FFF2-40B4-BE49-F238E27FC236}">
                <a16:creationId xmlns:a16="http://schemas.microsoft.com/office/drawing/2014/main" id="{AA0A1618-E958-4A3F-82E0-A0D7234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717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q = 0 /25 /50%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不混平均向量</a:t>
            </a:r>
          </a:p>
        </p:txBody>
      </p:sp>
      <p:sp>
        <p:nvSpPr>
          <p:cNvPr id="14" name="v2-25-13">
            <a:extLst xmlns:a="http://schemas.openxmlformats.org/drawingml/2006/main">
              <a:ext uri="{FF2B5EF4-FFF2-40B4-BE49-F238E27FC236}">
                <a16:creationId xmlns:a16="http://schemas.microsoft.com/office/drawing/2014/main" id="{4ABDF831-3FD9-4E78-99F3-53253AA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2-25-14">
            <a:extLst xmlns:a="http://schemas.openxmlformats.org/drawingml/2006/main">
              <a:ext uri="{FF2B5EF4-FFF2-40B4-BE49-F238E27FC236}">
                <a16:creationId xmlns:a16="http://schemas.microsoft.com/office/drawing/2014/main" id="{201AD3E6-200E-4753-AF4E-30BAB1EE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193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相同 Student</a:t>
            </a:r>
          </a:p>
        </p:txBody>
      </p:sp>
      <p:sp>
        <p:nvSpPr>
          <p:cNvPr id="16" name="v2-25-15">
            <a:extLst xmlns:a="http://schemas.openxmlformats.org/drawingml/2006/main">
              <a:ext uri="{FF2B5EF4-FFF2-40B4-BE49-F238E27FC236}">
                <a16:creationId xmlns:a16="http://schemas.microsoft.com/office/drawing/2014/main" id="{2448DA7E-F389-485C-9088-ED531DBC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6702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target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保持不變</a:t>
            </a:r>
          </a:p>
        </p:txBody>
      </p:sp>
      <p:sp>
        <p:nvSpPr>
          <p:cNvPr id="17" name="v2-25-16">
            <a:extLst xmlns:a="http://schemas.openxmlformats.org/drawingml/2006/main">
              <a:ext uri="{FF2B5EF4-FFF2-40B4-BE49-F238E27FC236}">
                <a16:creationId xmlns:a16="http://schemas.microsoft.com/office/drawing/2014/main" id="{B9067DA0-5CAA-4E78-8655-D7BE9A62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2-25-17">
            <a:extLst xmlns:a="http://schemas.openxmlformats.org/drawingml/2006/main">
              <a:ext uri="{FF2B5EF4-FFF2-40B4-BE49-F238E27FC236}">
                <a16:creationId xmlns:a16="http://schemas.microsoft.com/office/drawing/2014/main" id="{5F61B448-C756-4987-BEBE-48A13EF8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E0  0%       E1  25%       E2  50%</a:t>
            </a:r>
          </a:p>
        </p:txBody>
      </p:sp>
      <p:sp>
        <p:nvSpPr>
          <p:cNvPr id="19" name="v2-25-18">
            <a:extLst xmlns:a="http://schemas.openxmlformats.org/drawingml/2006/main">
              <a:ext uri="{FF2B5EF4-FFF2-40B4-BE49-F238E27FC236}">
                <a16:creationId xmlns:a16="http://schemas.microsoft.com/office/drawing/2014/main" id="{7041E57F-BEAD-45E6-8963-05F8C45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8 epochs ×20 steps ×batch 2；相同初始化、資料、Adam 與 loss</a:t>
            </a:r>
          </a:p>
        </p:txBody>
      </p:sp>
      <p:sp>
        <p:nvSpPr>
          <p:cNvPr id="20" name="v2-25-19">
            <a:extLst xmlns:a="http://schemas.openxmlformats.org/drawingml/2006/main">
              <a:ext uri="{FF2B5EF4-FFF2-40B4-BE49-F238E27FC236}">
                <a16:creationId xmlns:a16="http://schemas.microsoft.com/office/drawing/2014/main" id="{DAB48A4E-0D3F-46AA-87C9-10C8286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 為過去 state。只測 frozen original-Best 分布，未使用 evolving candidate cache、BPTT 或 adaptive scheduled sampling。USA --37 為 train-seen，Taiwan 為 OOD。</a:t>
            </a:r>
          </a:p>
        </p:txBody>
      </p:sp>
    </p:spTree>
    <p:extLst>
      <p:ext uri="{BB962C8B-B14F-4D97-AF65-F5344CB8AC3E}">
        <p14:creationId xmlns:p14="http://schemas.microsoft.com/office/powerpoint/2010/main" val="1290305350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2" name="Edited text 202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Mixed-state 候選未通過預先定義的升級門檻</a:t>
            </a:r>
          </a:p>
        </p:txBody>
      </p:sp>
      <p:sp>
        <p:nvSpPr>
          <p:cNvPr id="203" name="Edited text 203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26</a:t>
            </a:r>
          </a:p>
        </p:txBody>
      </p:sp>
      <p:sp>
        <p:nvSpPr>
          <p:cNvPr id="204" name="Rule 204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5" name="Edited text 205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06" name="Edited text 206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CONTROLLED FIX 2 · MATCHED E0 / E1 / E2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2AD2D4B6-DD79-4356-8492-14C2B4F06074}"/>
              </a:ext>
            </a:extLst>
          </p:cNvPr>
          <p:cNvGraphicFramePr/>
          <p:nvPr/>
        </p:nvGraphicFramePr>
        <p:xfrm>
          <a:off x="685800" y="1571625"/>
          <a:ext cx="10820400" cy="2381250"/>
        </p:xfrm>
        <a:graphic>
          <a:graphicData uri="http://schemas.openxmlformats.org/drawingml/2006/table">
            <a:tbl>
              <a:tblPr/>
              <a:tblGrid>
                <a:gridCol w="4419600"/>
                <a:gridCol w="2133600"/>
                <a:gridCol w="2133600"/>
                <a:gridCol w="2133600"/>
              </a:tblGrid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完整序列／固定評估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E0 · 0%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E1 · 25%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E2 · 50%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</a:tr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Fixed val loss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14.4614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16.3557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17.5898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path-out／1199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412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path-out／1201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731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free-run state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8.237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16.280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13.075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free-run state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8.259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16.286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13.066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Edited text 106"/>
          <p:cNvSpPr txBox="1"/>
          <p:nvPr/>
        </p:nvSpPr>
        <p:spPr>
          <a:xfrm>
            <a:off x="685800" y="4143375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原訂必要門檻：兩個 domain 都須符合，才可升級長訓練。</a:t>
            </a:r>
          </a:p>
        </p:txBody>
      </p:sp>
      <p:sp>
        <p:nvSpPr>
          <p:cNvPr id="107" name="Edited text 107"/>
          <p:cNvSpPr txBox="1"/>
          <p:nvPr/>
        </p:nvSpPr>
        <p:spPr>
          <a:xfrm>
            <a:off x="685800" y="45720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幾何：失敗不增加；每域一項非零計數降 ≥20%。</a:t>
            </a:r>
          </a:p>
        </p:txBody>
      </p:sp>
      <p:sp>
        <p:nvSpPr>
          <p:cNvPr id="108" name="Edited text 108"/>
          <p:cNvSpPr txBox="1"/>
          <p:nvPr/>
        </p:nvSpPr>
        <p:spPr>
          <a:xfrm>
            <a:off x="6362700" y="45720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State：RMS 降 ≥10%；temporal change 不增 &gt;10%。</a:t>
            </a:r>
          </a:p>
        </p:txBody>
      </p:sp>
      <p:sp>
        <p:nvSpPr>
          <p:cNvPr id="109" name="Edited text 109"/>
          <p:cNvSpPr txBox="1"/>
          <p:nvPr/>
        </p:nvSpPr>
        <p:spPr>
          <a:xfrm>
            <a:off x="685800" y="5038725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模仿：path／lane 誤差不增 &gt;10%；不只看 total loss。</a:t>
            </a:r>
          </a:p>
        </p:txBody>
      </p:sp>
      <p:sp>
        <p:nvSpPr>
          <p:cNvPr id="110" name="Edited text 110"/>
          <p:cNvSpPr txBox="1"/>
          <p:nvPr/>
        </p:nvSpPr>
        <p:spPr>
          <a:xfrm>
            <a:off x="6362700" y="5038725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影像：有效回應不降 &gt;20%；finite／reload／重複驗證須過。</a:t>
            </a:r>
          </a:p>
        </p:txBody>
      </p:sp>
      <p:sp>
        <p:nvSpPr>
          <p:cNvPr id="111" name="Edited text 111"/>
          <p:cNvSpPr txBox="1"/>
          <p:nvPr/>
        </p:nvSpPr>
        <p:spPr>
          <a:xfrm>
            <a:off x="685800" y="542925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零基準限制：E0 USA 的兩項失敗計數皆為 0，無法達成「非零計數降 ≥20%」。</a:t>
            </a:r>
          </a:p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PLANNED｜零計數先檢查不退化；改善須另設指標，不能事後宣稱已通過原門檻。</a:t>
            </a:r>
          </a:p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E1／E2 的 path-out 與 state RMS 仍退化，因此本次 DO NOT PROMOTE。</a:t>
            </a:r>
          </a:p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Path-out 是預測曲線超出預測 lanes，並非實車偏離；結論限於本次設計。</a:t>
            </a:r>
          </a:p>
        </p:txBody>
      </p:sp>
    </p:spTree>
    <p:extLst>
      <p:ext uri="{BB962C8B-B14F-4D97-AF65-F5344CB8AC3E}">
        <ns3:creationId val="1246784643"/>
      </p:ext>
    </p:extLst>
  </p:cSld>
</p:sld>
</file>

<file path=ppt/slides/slide27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3" name="Edited text 213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單點誤差改善，不代表循環軌跡更穩定</a:t>
            </a:r>
          </a:p>
        </p:txBody>
      </p:sp>
      <p:sp>
        <p:nvSpPr>
          <p:cNvPr id="214" name="Edited text 214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27</a:t>
            </a:r>
          </a:p>
        </p:txBody>
      </p:sp>
      <p:sp>
        <p:nvSpPr>
          <p:cNvPr id="215" name="Rule 215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6" name="Edited text 216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17" name="Edited text 217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CONTROLLED FIX 2 · POINTWISE VS TRAJECTORY</a:t>
            </a:r>
          </a:p>
        </p:txBody>
      </p:sp>
      <p:sp>
        <p:nvSpPr>
          <p:cNvPr id="218" name="Edited text 218"/>
          <p:cNvSpPr txBox="1"/>
          <p:nvPr/>
        </p:nvSpPr>
        <p:spPr>
          <a:xfrm>
            <a:off x="685800" y="1581150"/>
            <a:ext cx="108204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E2 USA，相對 E0：同一組評估，同時觀察兩種不同指標。</a:t>
            </a:r>
          </a:p>
        </p:txBody>
      </p:sp>
      <p:sp>
        <p:nvSpPr>
          <p:cNvPr id="219" name="Edited text 219"/>
          <p:cNvSpPr txBox="1"/>
          <p:nvPr/>
        </p:nvSpPr>
        <p:spPr>
          <a:xfrm>
            <a:off x="685800" y="2333625"/>
            <a:ext cx="49339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54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−12.8%</a:t>
            </a:r>
          </a:p>
        </p:txBody>
      </p:sp>
      <p:sp>
        <p:nvSpPr>
          <p:cNvPr id="220" name="Edited text 220"/>
          <p:cNvSpPr txBox="1"/>
          <p:nvPr/>
        </p:nvSpPr>
        <p:spPr>
          <a:xfrm>
            <a:off x="685800" y="3448050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Path MAE 改善</a:t>
            </a:r>
          </a:p>
        </p:txBody>
      </p:sp>
      <p:sp>
        <p:nvSpPr>
          <p:cNvPr id="221" name="Edited text 221"/>
          <p:cNvSpPr txBox="1"/>
          <p:nvPr/>
        </p:nvSpPr>
        <p:spPr>
          <a:xfrm>
            <a:off x="685800" y="3981450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0.4702 →0.4102 m</a:t>
            </a:r>
          </a:p>
        </p:txBody>
      </p:sp>
      <p:sp>
        <p:nvSpPr>
          <p:cNvPr id="222" name="Edited text 222"/>
          <p:cNvSpPr txBox="1"/>
          <p:nvPr/>
        </p:nvSpPr>
        <p:spPr>
          <a:xfrm>
            <a:off x="685800" y="4533900"/>
            <a:ext cx="4933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每次預測與 teacher 的距離較近。</a:t>
            </a:r>
          </a:p>
        </p:txBody>
      </p:sp>
      <p:sp>
        <p:nvSpPr>
          <p:cNvPr id="223" name="Edited text 223"/>
          <p:cNvSpPr txBox="1"/>
          <p:nvPr/>
        </p:nvSpPr>
        <p:spPr>
          <a:xfrm>
            <a:off x="6572250" y="2333625"/>
            <a:ext cx="49339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5400" b="1" lang="zh-TW" noProof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約 22×</a:t>
            </a:r>
          </a:p>
        </p:txBody>
      </p:sp>
      <p:sp>
        <p:nvSpPr>
          <p:cNvPr id="224" name="Edited text 224"/>
          <p:cNvSpPr txBox="1"/>
          <p:nvPr/>
        </p:nvSpPr>
        <p:spPr>
          <a:xfrm>
            <a:off x="6572250" y="3448050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每 frame path 變化增大</a:t>
            </a:r>
          </a:p>
        </p:txBody>
      </p:sp>
      <p:sp>
        <p:nvSpPr>
          <p:cNvPr id="225" name="Edited text 225"/>
          <p:cNvSpPr txBox="1"/>
          <p:nvPr/>
        </p:nvSpPr>
        <p:spPr>
          <a:xfrm>
            <a:off x="6572250" y="3981450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0.01330 →0.29306 m</a:t>
            </a:r>
          </a:p>
        </p:txBody>
      </p:sp>
      <p:sp>
        <p:nvSpPr>
          <p:cNvPr id="226" name="Edited text 226"/>
          <p:cNvSpPr txBox="1"/>
          <p:nvPr/>
        </p:nvSpPr>
        <p:spPr>
          <a:xfrm>
            <a:off x="6572250" y="4533900"/>
            <a:ext cx="4933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相鄰預測變動更大，循環穩定性較差。</a:t>
            </a:r>
          </a:p>
        </p:txBody>
      </p:sp>
      <p:sp>
        <p:nvSpPr>
          <p:cNvPr id="227" name="Rule 227"/>
          <p:cNvSpPr/>
          <p:nvPr/>
        </p:nvSpPr>
        <p:spPr>
          <a:xfrm>
            <a:off x="685800" y="542925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8" name="Edited text 228"/>
          <p:cNvSpPr txBox="1"/>
          <p:nvPr/>
        </p:nvSpPr>
        <p:spPr>
          <a:xfrm>
            <a:off x="685800" y="5610225"/>
            <a:ext cx="108204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決策：仍須同時通過幾何、state、temporal 與模仿門檻；此候選不升級。</a:t>
            </a:r>
          </a:p>
        </p:txBody>
      </p:sp>
      <p:sp>
        <p:nvSpPr>
          <p:cNvPr id="229" name="Edited text 229"/>
          <p:cNvSpPr txBox="1"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E2 Taiwan path MAE 未改善；結論只適用本次 frozen-Best formulation，未排除未測的其他方法。</a:t>
            </a:r>
          </a:p>
        </p:txBody>
      </p:sp>
    </p:spTree>
    <p:extLst>
      <p:ext uri="{BB962C8B-B14F-4D97-AF65-F5344CB8AC3E}">
        <ns2:creationId val="4385032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2-28-0">
            <a:extLst xmlns:a="http://schemas.openxmlformats.org/drawingml/2006/main">
              <a:ext uri="{FF2B5EF4-FFF2-40B4-BE49-F238E27FC236}">
                <a16:creationId xmlns:a16="http://schemas.microsoft.com/office/drawing/2014/main" id="{478429B1-1DAE-4AA5-983D-40A3C9D7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MODEL B6 · EVIDENCE-BOUNDED CONCLUSION</a:t>
            </a:r>
          </a:p>
        </p:txBody>
      </p:sp>
      <p:sp>
        <p:nvSpPr>
          <p:cNvPr id="2" name="v2-28-1">
            <a:extLst xmlns:a="http://schemas.openxmlformats.org/drawingml/2006/main">
              <a:ext uri="{FF2B5EF4-FFF2-40B4-BE49-F238E27FC236}">
                <a16:creationId xmlns:a16="http://schemas.microsoft.com/office/drawing/2014/main" id="{7748A54D-19FC-4CE3-92C9-3444C0F9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根因範圍已縮小，有效修復仍待建立</a:t>
            </a:r>
          </a:p>
        </p:txBody>
      </p:sp>
      <p:sp>
        <p:nvSpPr>
          <p:cNvPr id="3" name="v2-28-2">
            <a:extLst xmlns:a="http://schemas.openxmlformats.org/drawingml/2006/main">
              <a:ext uri="{FF2B5EF4-FFF2-40B4-BE49-F238E27FC236}">
                <a16:creationId xmlns:a16="http://schemas.microsoft.com/office/drawing/2014/main" id="{825B895F-1BEF-4C71-9362-CAB7F5A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2-28-3">
            <a:extLst xmlns:a="http://schemas.openxmlformats.org/drawingml/2006/main">
              <a:ext uri="{FF2B5EF4-FFF2-40B4-BE49-F238E27FC236}">
                <a16:creationId xmlns:a16="http://schemas.microsoft.com/office/drawing/2014/main" id="{B78602AE-69E6-4B89-9DBC-4157E1FD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G01–04  S01–03  M01–03</a:t>
            </a:r>
          </a:p>
        </p:txBody>
      </p:sp>
      <p:sp>
        <p:nvSpPr>
          <p:cNvPr id="5" name="v2-28-4">
            <a:extLst xmlns:a="http://schemas.openxmlformats.org/drawingml/2006/main">
              <a:ext uri="{FF2B5EF4-FFF2-40B4-BE49-F238E27FC236}">
                <a16:creationId xmlns:a16="http://schemas.microsoft.com/office/drawing/2014/main" id="{AD1DA2A4-9CCB-4200-A1B9-081DA814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</a:t>
            </a:r>
          </a:p>
        </p:txBody>
      </p:sp>
      <p:sp>
        <p:nvSpPr>
          <p:cNvPr id="6" name="v2-28-5">
            <a:extLst xmlns:a="http://schemas.openxmlformats.org/drawingml/2006/main">
              <a:ext uri="{FF2B5EF4-FFF2-40B4-BE49-F238E27FC236}">
                <a16:creationId xmlns:a16="http://schemas.microsoft.com/office/drawing/2014/main" id="{9BD19D47-B731-47D3-9585-72BCEE95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CONFIRMED</a:t>
            </a:r>
          </a:p>
        </p:txBody>
      </p:sp>
      <p:sp>
        <p:nvSpPr>
          <p:cNvPr id="7" name="v2-28-6">
            <a:extLst xmlns:a="http://schemas.openxmlformats.org/drawingml/2006/main">
              <a:ext uri="{FF2B5EF4-FFF2-40B4-BE49-F238E27FC236}">
                <a16:creationId xmlns:a16="http://schemas.microsoft.com/office/drawing/2014/main" id="{F1F03E46-959F-4B87-8963-CBA924C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v2-28-7">
            <a:extLst xmlns:a="http://schemas.openxmlformats.org/drawingml/2006/main">
              <a:ext uri="{FF2B5EF4-FFF2-40B4-BE49-F238E27FC236}">
                <a16:creationId xmlns:a16="http://schemas.microsoft.com/office/drawing/2014/main" id="{D981EE75-7815-4CAA-A9E8-A61C88C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257425"/>
            <a:ext cx="9801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幾何異常出現在 raw output，早於 parser / projection</a:t>
            </a:r>
          </a:p>
        </p:txBody>
      </p:sp>
      <p:sp>
        <p:nvSpPr>
          <p:cNvPr id="9" name="v2-28-8">
            <a:extLst xmlns:a="http://schemas.openxmlformats.org/drawingml/2006/main">
              <a:ext uri="{FF2B5EF4-FFF2-40B4-BE49-F238E27FC236}">
                <a16:creationId xmlns:a16="http://schemas.microsoft.com/office/drawing/2014/main" id="{2149D9A7-7C74-4F8B-AA3D-E9F5BE4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v2-28-9">
            <a:extLst xmlns:a="http://schemas.openxmlformats.org/drawingml/2006/main">
              <a:ext uri="{FF2B5EF4-FFF2-40B4-BE49-F238E27FC236}">
                <a16:creationId xmlns:a16="http://schemas.microsoft.com/office/drawing/2014/main" id="{A82FFE4C-5115-47B2-A4B8-F5A8F09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67025"/>
            <a:ext cx="9801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影像介入回應極弱，state policy 明顯改變循環幾何</a:t>
            </a:r>
          </a:p>
        </p:txBody>
      </p:sp>
      <p:sp>
        <p:nvSpPr>
          <p:cNvPr id="11" name="v2-28-10">
            <a:extLst xmlns:a="http://schemas.openxmlformats.org/drawingml/2006/main">
              <a:ext uri="{FF2B5EF4-FFF2-40B4-BE49-F238E27FC236}">
                <a16:creationId xmlns:a16="http://schemas.microsoft.com/office/drawing/2014/main" id="{0015D239-05EC-4216-A4D5-F63891E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2" name="v2-28-11">
            <a:extLst xmlns:a="http://schemas.openxmlformats.org/drawingml/2006/main">
              <a:ext uri="{FF2B5EF4-FFF2-40B4-BE49-F238E27FC236}">
                <a16:creationId xmlns:a16="http://schemas.microsoft.com/office/drawing/2014/main" id="{5BAA89D1-FFD0-4282-879F-13D78B4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76625"/>
            <a:ext cx="9801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固定評估 Final 較 Best 差，未確認單一退化成因</a:t>
            </a:r>
          </a:p>
        </p:txBody>
      </p:sp>
      <p:sp>
        <p:nvSpPr>
          <p:cNvPr id="13" name="v2-28-12">
            <a:extLst xmlns:a="http://schemas.openxmlformats.org/drawingml/2006/main">
              <a:ext uri="{FF2B5EF4-FFF2-40B4-BE49-F238E27FC236}">
                <a16:creationId xmlns:a16="http://schemas.microsoft.com/office/drawing/2014/main" id="{9863568B-32B6-4B32-ADFE-412663A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4" name="v2-28-13">
            <a:extLst xmlns:a="http://schemas.openxmlformats.org/drawingml/2006/main">
              <a:ext uri="{FF2B5EF4-FFF2-40B4-BE49-F238E27FC236}">
                <a16:creationId xmlns:a16="http://schemas.microsoft.com/office/drawing/2014/main" id="{B64E381F-6EC6-4FB1-8AB6-1EF2EF8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086225"/>
            <a:ext cx="9801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兩個修復假設經短訓練檢驗，皆未通過升級門檻</a:t>
            </a:r>
          </a:p>
        </p:txBody>
      </p:sp>
      <p:sp>
        <p:nvSpPr>
          <p:cNvPr id="15" name="v2-28-14">
            <a:extLst xmlns:a="http://schemas.openxmlformats.org/drawingml/2006/main">
              <a:ext uri="{FF2B5EF4-FFF2-40B4-BE49-F238E27FC236}">
                <a16:creationId xmlns:a16="http://schemas.microsoft.com/office/drawing/2014/main" id="{4000F11F-E82E-436B-BD1A-2A11B11D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2-28-15">
            <a:extLst xmlns:a="http://schemas.openxmlformats.org/drawingml/2006/main">
              <a:ext uri="{FF2B5EF4-FFF2-40B4-BE49-F238E27FC236}">
                <a16:creationId xmlns:a16="http://schemas.microsoft.com/office/drawing/2014/main" id="{11CDF411-ECD5-46C1-9A40-97989C3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571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LIKELY / SUGGESTED</a:t>
            </a:r>
          </a:p>
        </p:txBody>
      </p:sp>
      <p:sp>
        <p:nvSpPr>
          <p:cNvPr id="17" name="v2-28-16">
            <a:extLst xmlns:a="http://schemas.openxmlformats.org/drawingml/2006/main">
              <a:ext uri="{FF2B5EF4-FFF2-40B4-BE49-F238E27FC236}">
                <a16:creationId xmlns:a16="http://schemas.microsoft.com/office/drawing/2014/main" id="{9545AAEC-621F-4A6F-9651-00EA4ED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循環不穩定與微弱 visual correction 可能共同影響恢復</a:t>
            </a:r>
          </a:p>
        </p:txBody>
      </p:sp>
      <p:sp>
        <p:nvSpPr>
          <p:cNvPr id="18" name="v2-28-17">
            <a:extLst xmlns:a="http://schemas.openxmlformats.org/drawingml/2006/main">
              <a:ext uri="{FF2B5EF4-FFF2-40B4-BE49-F238E27FC236}">
                <a16:creationId xmlns:a16="http://schemas.microsoft.com/office/drawing/2014/main" id="{9591CA8C-9F4E-422C-9ADC-0A200D7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VALIDATION BOUNDARY</a:t>
            </a:r>
          </a:p>
        </p:txBody>
      </p:sp>
      <p:sp>
        <p:nvSpPr>
          <p:cNvPr id="19" name="v2-28-18">
            <a:extLst xmlns:a="http://schemas.openxmlformats.org/drawingml/2006/main">
              <a:ext uri="{FF2B5EF4-FFF2-40B4-BE49-F238E27FC236}">
                <a16:creationId xmlns:a16="http://schemas.microsoft.com/office/drawing/2014/main" id="{0B60F1AC-1FA1-47F2-B4B4-1F6C971D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959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唯一可訓練根因、有效修復、駕駛品質：NOT VERIFIED</a:t>
            </a:r>
          </a:p>
        </p:txBody>
      </p:sp>
    </p:spTree>
    <p:extLst>
      <p:ext uri="{BB962C8B-B14F-4D97-AF65-F5344CB8AC3E}">
        <p14:creationId xmlns:p14="http://schemas.microsoft.com/office/powerpoint/2010/main" val="920564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29-textbox-0">
            <a:extLst xmlns:a="http://schemas.openxmlformats.org/drawingml/2006/main">
              <a:ext uri="{FF2B5EF4-FFF2-40B4-BE49-F238E27FC236}">
                <a16:creationId xmlns:a16="http://schemas.microsoft.com/office/drawing/2014/main" id="{C1E0988F-95C8-4874-A842-FB1F9AF6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PART B · AI AGENT</a:t>
            </a:r>
          </a:p>
        </p:txBody>
      </p:sp>
      <p:sp>
        <p:nvSpPr>
          <p:cNvPr id="2" name="p29-textbox-1">
            <a:extLst xmlns:a="http://schemas.openxmlformats.org/drawingml/2006/main">
              <a:ext uri="{FF2B5EF4-FFF2-40B4-BE49-F238E27FC236}">
                <a16:creationId xmlns:a16="http://schemas.microsoft.com/office/drawing/2014/main" id="{76256DE8-0F53-49A1-B03A-6BE2170A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Agent 基線在獨立 Python 環境執行</a:t>
            </a:r>
          </a:p>
        </p:txBody>
      </p:sp>
      <p:sp>
        <p:nvSpPr>
          <p:cNvPr id="3" name="p29-rect-2">
            <a:extLst xmlns:a="http://schemas.openxmlformats.org/drawingml/2006/main">
              <a:ext uri="{FF2B5EF4-FFF2-40B4-BE49-F238E27FC236}">
                <a16:creationId xmlns:a16="http://schemas.microsoft.com/office/drawing/2014/main" id="{37B30562-2E7F-4249-88A2-70075973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9-textbox-3">
            <a:extLst xmlns:a="http://schemas.openxmlformats.org/drawingml/2006/main">
              <a:ext uri="{FF2B5EF4-FFF2-40B4-BE49-F238E27FC236}">
                <a16:creationId xmlns:a16="http://schemas.microsoft.com/office/drawing/2014/main" id="{49B162EF-6941-4B61-9965-ED9D533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E09  E10</a:t>
            </a:r>
          </a:p>
        </p:txBody>
      </p:sp>
      <p:sp>
        <p:nvSpPr>
          <p:cNvPr id="5" name="p29-textbox-4">
            <a:extLst xmlns:a="http://schemas.openxmlformats.org/drawingml/2006/main">
              <a:ext uri="{FF2B5EF4-FFF2-40B4-BE49-F238E27FC236}">
                <a16:creationId xmlns:a16="http://schemas.microsoft.com/office/drawing/2014/main" id="{3377EEB3-F3A3-49B8-BE37-844CFD8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29</a:t>
            </a:r>
          </a:p>
        </p:txBody>
      </p:sp>
      <p:sp>
        <p:nvSpPr>
          <p:cNvPr id="6" name="p29-textbox-5">
            <a:extLst xmlns:a="http://schemas.openxmlformats.org/drawingml/2006/main">
              <a:ext uri="{FF2B5EF4-FFF2-40B4-BE49-F238E27FC236}">
                <a16:creationId xmlns:a16="http://schemas.microsoft.com/office/drawing/2014/main" id="{335BEB8A-2226-4755-B953-AA584DB2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Runtime</a:t>
            </a:r>
          </a:p>
        </p:txBody>
      </p:sp>
      <p:sp>
        <p:nvSpPr>
          <p:cNvPr id="7" name="p29-textbox-6">
            <a:extLst xmlns:a="http://schemas.openxmlformats.org/drawingml/2006/main">
              <a:ext uri="{FF2B5EF4-FFF2-40B4-BE49-F238E27FC236}">
                <a16:creationId xmlns:a16="http://schemas.microsoft.com/office/drawing/2014/main" id="{3B586084-3CEE-4C2D-B5EA-A9FAE0E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0225"/>
            <a:ext cx="8029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3.11.4 / Agno 3.1.1 / Google GenAI 2.28.0</a:t>
            </a:r>
          </a:p>
        </p:txBody>
      </p:sp>
      <p:sp>
        <p:nvSpPr>
          <p:cNvPr id="8" name="p29-textbox-7">
            <a:extLst xmlns:a="http://schemas.openxmlformats.org/drawingml/2006/main">
              <a:ext uri="{FF2B5EF4-FFF2-40B4-BE49-F238E27FC236}">
                <a16:creationId xmlns:a16="http://schemas.microsoft.com/office/drawing/2014/main" id="{65408CA9-87EA-435F-8803-498E02A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Reference</a:t>
            </a:r>
          </a:p>
        </p:txBody>
      </p:sp>
      <p:sp>
        <p:nvSpPr>
          <p:cNvPr id="9" name="p29-textbox-8">
            <a:extLst xmlns:a="http://schemas.openxmlformats.org/drawingml/2006/main">
              <a:ext uri="{FF2B5EF4-FFF2-40B4-BE49-F238E27FC236}">
                <a16:creationId xmlns:a16="http://schemas.microsoft.com/office/drawing/2014/main" id="{4E3002E4-6409-4EAE-9C85-C913982C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28925"/>
            <a:ext cx="8029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6 constructors；只有 reasoning travel prompt 為 active request</a:t>
            </a:r>
          </a:p>
        </p:txBody>
      </p:sp>
      <p:sp>
        <p:nvSpPr>
          <p:cNvPr id="10" name="p29-textbox-9">
            <a:extLst xmlns:a="http://schemas.openxmlformats.org/drawingml/2006/main">
              <a:ext uri="{FF2B5EF4-FFF2-40B4-BE49-F238E27FC236}">
                <a16:creationId xmlns:a16="http://schemas.microsoft.com/office/drawing/2014/main" id="{D9592B76-3F77-46F5-BF41-9C42690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Observed live</a:t>
            </a:r>
          </a:p>
        </p:txBody>
      </p:sp>
      <p:sp>
        <p:nvSpPr>
          <p:cNvPr id="11" name="p29-textbox-10">
            <a:extLst xmlns:a="http://schemas.openxmlformats.org/drawingml/2006/main">
              <a:ext uri="{FF2B5EF4-FFF2-40B4-BE49-F238E27FC236}">
                <a16:creationId xmlns:a16="http://schemas.microsoft.com/office/drawing/2014/main" id="{E06022B8-66EA-45EC-9E2A-83E48DE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8029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2026-10-08：think / analyze calls、完整 structured answer、返回 shell</a:t>
            </a:r>
          </a:p>
        </p:txBody>
      </p:sp>
      <p:sp>
        <p:nvSpPr>
          <p:cNvPr id="12" name="p29-textbox-11">
            <a:extLst xmlns:a="http://schemas.openxmlformats.org/drawingml/2006/main">
              <a:ext uri="{FF2B5EF4-FFF2-40B4-BE49-F238E27FC236}">
                <a16:creationId xmlns:a16="http://schemas.microsoft.com/office/drawing/2014/main" id="{5074417D-365F-4B34-9F24-B05F929C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CONFIRMED：audit 記錄完整 user-submitted baseline receipt。旅行細節只是示範回答，未驗證或預訂。Student default model ID 為 gemini-3.8-flash，可由 GEMINI_MODEL_ID 覆寫；此為目前 source 設定。</a:t>
            </a:r>
          </a:p>
        </p:txBody>
      </p:sp>
    </p:spTree>
    <p:extLst>
      <p:ext uri="{BB962C8B-B14F-4D97-AF65-F5344CB8AC3E}">
        <p14:creationId xmlns:p14="http://schemas.microsoft.com/office/powerpoint/2010/main" val="10988356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30-textbox-0">
            <a:extLst xmlns:a="http://schemas.openxmlformats.org/drawingml/2006/main">
              <a:ext uri="{FF2B5EF4-FFF2-40B4-BE49-F238E27FC236}">
                <a16:creationId xmlns:a16="http://schemas.microsoft.com/office/drawing/2014/main" id="{5CC13B46-C43A-459D-8447-4E857C9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ENGINEERING IMPROVEMENT</a:t>
            </a:r>
          </a:p>
        </p:txBody>
      </p:sp>
      <p:sp>
        <p:nvSpPr>
          <p:cNvPr id="2" name="p30-textbox-1">
            <a:extLst xmlns:a="http://schemas.openxmlformats.org/drawingml/2006/main">
              <a:ext uri="{FF2B5EF4-FFF2-40B4-BE49-F238E27FC236}">
                <a16:creationId xmlns:a16="http://schemas.microsoft.com/office/drawing/2014/main" id="{67385BE2-486C-4735-8D95-D99294E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以 adapter 處理 Agno API 相容性</a:t>
            </a:r>
          </a:p>
        </p:txBody>
      </p:sp>
      <p:sp>
        <p:nvSpPr>
          <p:cNvPr id="3" name="p30-rect-2">
            <a:extLst xmlns:a="http://schemas.openxmlformats.org/drawingml/2006/main">
              <a:ext uri="{FF2B5EF4-FFF2-40B4-BE49-F238E27FC236}">
                <a16:creationId xmlns:a16="http://schemas.microsoft.com/office/drawing/2014/main" id="{3D008F13-E3E0-4909-ACB3-F205D6B3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0-textbox-3">
            <a:extLst xmlns:a="http://schemas.openxmlformats.org/drawingml/2006/main">
              <a:ext uri="{FF2B5EF4-FFF2-40B4-BE49-F238E27FC236}">
                <a16:creationId xmlns:a16="http://schemas.microsoft.com/office/drawing/2014/main" id="{C52E2FBF-B563-4151-B790-998331B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E09  E12</a:t>
            </a:r>
          </a:p>
        </p:txBody>
      </p:sp>
      <p:sp>
        <p:nvSpPr>
          <p:cNvPr id="5" name="p30-textbox-4">
            <a:extLst xmlns:a="http://schemas.openxmlformats.org/drawingml/2006/main">
              <a:ext uri="{FF2B5EF4-FFF2-40B4-BE49-F238E27FC236}">
                <a16:creationId xmlns:a16="http://schemas.microsoft.com/office/drawing/2014/main" id="{690014AE-2320-43BB-9540-E1CF691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30</a:t>
            </a:r>
          </a:p>
        </p:txBody>
      </p:sp>
      <p:sp>
        <p:nvSpPr>
          <p:cNvPr id="6" name="p30-textbox-5">
            <a:extLst xmlns:a="http://schemas.openxmlformats.org/drawingml/2006/main">
              <a:ext uri="{FF2B5EF4-FFF2-40B4-BE49-F238E27FC236}">
                <a16:creationId xmlns:a16="http://schemas.microsoft.com/office/drawing/2014/main" id="{6D073A4A-C80F-467C-99D5-FA3DDD91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Professor reference</a:t>
            </a:r>
          </a:p>
        </p:txBody>
      </p:sp>
      <p:sp>
        <p:nvSpPr>
          <p:cNvPr id="7" name="p30-textbox-6">
            <a:extLst xmlns:a="http://schemas.openxmlformats.org/drawingml/2006/main">
              <a:ext uri="{FF2B5EF4-FFF2-40B4-BE49-F238E27FC236}">
                <a16:creationId xmlns:a16="http://schemas.microsoft.com/office/drawing/2014/main" id="{20CC2AAD-3906-405F-9145-F2901E9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agent_id / add_datetime_to_instructions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舊 YFinance keyword / show_tool_calls</a:t>
            </a:r>
          </a:p>
        </p:txBody>
      </p:sp>
      <p:sp>
        <p:nvSpPr>
          <p:cNvPr id="8" name="p30-textbox-7">
            <a:extLst xmlns:a="http://schemas.openxmlformats.org/drawingml/2006/main">
              <a:ext uri="{FF2B5EF4-FFF2-40B4-BE49-F238E27FC236}">
                <a16:creationId xmlns:a16="http://schemas.microsoft.com/office/drawing/2014/main" id="{7AEB7B4A-CB2D-4363-9AF6-D9293D6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145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Student adapter</a:t>
            </a:r>
          </a:p>
        </p:txBody>
      </p:sp>
      <p:sp>
        <p:nvSpPr>
          <p:cNvPr id="9" name="p30-textbox-8">
            <a:extLst xmlns:a="http://schemas.openxmlformats.org/drawingml/2006/main">
              <a:ext uri="{FF2B5EF4-FFF2-40B4-BE49-F238E27FC236}">
                <a16:creationId xmlns:a16="http://schemas.microsoft.com/office/drawing/2014/main" id="{341F349D-1EDA-49FE-92B5-2E72D091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id / add_datetime_to_context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enable_* finance keywords / 移除 display flag</a:t>
            </a:r>
          </a:p>
        </p:txBody>
      </p:sp>
      <p:sp>
        <p:nvSpPr>
          <p:cNvPr id="10" name="p30-rect-9">
            <a:extLst xmlns:a="http://schemas.openxmlformats.org/drawingml/2006/main">
              <a:ext uri="{FF2B5EF4-FFF2-40B4-BE49-F238E27FC236}">
                <a16:creationId xmlns:a16="http://schemas.microsoft.com/office/drawing/2014/main" id="{BEFF1FE8-F4AB-464F-8B96-F96D6AF2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30-textbox-10">
            <a:extLst xmlns:a="http://schemas.openxmlformats.org/drawingml/2006/main">
              <a:ext uri="{FF2B5EF4-FFF2-40B4-BE49-F238E27FC236}">
                <a16:creationId xmlns:a16="http://schemas.microsoft.com/office/drawing/2014/main" id="{C6E99940-E3AF-4E3F-BE72-175CE8F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AST 讀取 constructor 與 active prompt，避免 import 時執行 top-level API calls。</a:t>
            </a:r>
          </a:p>
        </p:txBody>
      </p:sp>
      <p:sp>
        <p:nvSpPr>
          <p:cNvPr id="12" name="p30-textbox-11">
            <a:extLst xmlns:a="http://schemas.openxmlformats.org/drawingml/2006/main">
              <a:ext uri="{FF2B5EF4-FFF2-40B4-BE49-F238E27FC236}">
                <a16:creationId xmlns:a16="http://schemas.microsoft.com/office/drawing/2014/main" id="{7658A663-D525-4AC8-AFA1-12C95265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確認 6 Agent constructors、1 active request；不直接改寫教授檔案。Baseline offline tests 檢查實際 construction / registered tools。相容 adapter 不改變 Agent architecture level。</a:t>
            </a:r>
          </a:p>
        </p:txBody>
      </p:sp>
    </p:spTree>
    <p:extLst>
      <p:ext uri="{BB962C8B-B14F-4D97-AF65-F5344CB8AC3E}">
        <p14:creationId xmlns:p14="http://schemas.microsoft.com/office/powerpoint/2010/main" val="5012847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31-textbox-0">
            <a:extLst xmlns:a="http://schemas.openxmlformats.org/drawingml/2006/main">
              <a:ext uri="{FF2B5EF4-FFF2-40B4-BE49-F238E27FC236}">
                <a16:creationId xmlns:a16="http://schemas.microsoft.com/office/drawing/2014/main" id="{9EE10727-6D3B-47A3-BFD8-7B450759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COURSE REQUIREMENT</a:t>
            </a:r>
          </a:p>
        </p:txBody>
      </p:sp>
      <p:sp>
        <p:nvSpPr>
          <p:cNvPr id="2" name="p31-textbox-1">
            <a:extLst xmlns:a="http://schemas.openxmlformats.org/drawingml/2006/main">
              <a:ext uri="{FF2B5EF4-FFF2-40B4-BE49-F238E27FC236}">
                <a16:creationId xmlns:a16="http://schemas.microsoft.com/office/drawing/2014/main" id="{5E45328A-57DC-4E51-963C-EADC4E3B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5-Level review 與實作的架構定位</a:t>
            </a:r>
          </a:p>
        </p:txBody>
      </p:sp>
      <p:sp>
        <p:nvSpPr>
          <p:cNvPr id="3" name="p31-rect-2">
            <a:extLst xmlns:a="http://schemas.openxmlformats.org/drawingml/2006/main">
              <a:ext uri="{FF2B5EF4-FFF2-40B4-BE49-F238E27FC236}">
                <a16:creationId xmlns:a16="http://schemas.microsoft.com/office/drawing/2014/main" id="{48206314-3890-49FA-9761-9131B89F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1-textbox-3">
            <a:extLst xmlns:a="http://schemas.openxmlformats.org/drawingml/2006/main">
              <a:ext uri="{FF2B5EF4-FFF2-40B4-BE49-F238E27FC236}">
                <a16:creationId xmlns:a16="http://schemas.microsoft.com/office/drawing/2014/main" id="{A7041DBC-0472-4695-9428-55B80DC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E09</a:t>
            </a:r>
          </a:p>
        </p:txBody>
      </p:sp>
      <p:sp>
        <p:nvSpPr>
          <p:cNvPr id="5" name="p31-textbox-4">
            <a:extLst xmlns:a="http://schemas.openxmlformats.org/drawingml/2006/main">
              <a:ext uri="{FF2B5EF4-FFF2-40B4-BE49-F238E27FC236}">
                <a16:creationId xmlns:a16="http://schemas.microsoft.com/office/drawing/2014/main" id="{D465A26C-BD4B-44C8-B2FB-C4D723A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31</a:t>
            </a:r>
          </a:p>
        </p:txBody>
      </p:sp>
      <p:sp>
        <p:nvSpPr>
          <p:cNvPr id="6" name="p31-textbox-5">
            <a:extLst xmlns:a="http://schemas.openxmlformats.org/drawingml/2006/main">
              <a:ext uri="{FF2B5EF4-FFF2-40B4-BE49-F238E27FC236}">
                <a16:creationId xmlns:a16="http://schemas.microsoft.com/office/drawing/2014/main" id="{3E8160C7-A38B-4A1B-B2BA-EEE49BF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7" name="p31-textbox-6">
            <a:extLst xmlns:a="http://schemas.openxmlformats.org/drawingml/2006/main">
              <a:ext uri="{FF2B5EF4-FFF2-40B4-BE49-F238E27FC236}">
                <a16:creationId xmlns:a16="http://schemas.microsoft.com/office/drawing/2014/main" id="{E55CCDB3-C5A3-4D83-ACA6-72F16AE8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0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Tools + instructions</a:t>
            </a:r>
          </a:p>
        </p:txBody>
      </p:sp>
      <p:sp>
        <p:nvSpPr>
          <p:cNvPr id="8" name="p31-textbox-7">
            <a:extLst xmlns:a="http://schemas.openxmlformats.org/drawingml/2006/main">
              <a:ext uri="{FF2B5EF4-FFF2-40B4-BE49-F238E27FC236}">
                <a16:creationId xmlns:a16="http://schemas.microsoft.com/office/drawing/2014/main" id="{4D78D386-5238-4B20-A2F6-85A1C110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9" name="p31-textbox-8">
            <a:extLst xmlns:a="http://schemas.openxmlformats.org/drawingml/2006/main">
              <a:ext uri="{FF2B5EF4-FFF2-40B4-BE49-F238E27FC236}">
                <a16:creationId xmlns:a16="http://schemas.microsoft.com/office/drawing/2014/main" id="{EE144869-997A-40B1-8E21-5DF2F7C0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14575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Knowledge + session memory</a:t>
            </a:r>
          </a:p>
        </p:txBody>
      </p:sp>
      <p:sp>
        <p:nvSpPr>
          <p:cNvPr id="10" name="p31-textbox-9">
            <a:extLst xmlns:a="http://schemas.openxmlformats.org/drawingml/2006/main">
              <a:ext uri="{FF2B5EF4-FFF2-40B4-BE49-F238E27FC236}">
                <a16:creationId xmlns:a16="http://schemas.microsoft.com/office/drawing/2014/main" id="{10846DC6-2210-4135-9960-233A08BE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1" name="p31-textbox-10">
            <a:extLst xmlns:a="http://schemas.openxmlformats.org/drawingml/2006/main">
              <a:ext uri="{FF2B5EF4-FFF2-40B4-BE49-F238E27FC236}">
                <a16:creationId xmlns:a16="http://schemas.microsoft.com/office/drawing/2014/main" id="{C75A3839-EC8B-457B-9F20-24F3948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Long-term memory + reasoning</a:t>
            </a:r>
          </a:p>
        </p:txBody>
      </p:sp>
      <p:sp>
        <p:nvSpPr>
          <p:cNvPr id="12" name="p31-textbox-11">
            <a:extLst xmlns:a="http://schemas.openxmlformats.org/drawingml/2006/main">
              <a:ext uri="{FF2B5EF4-FFF2-40B4-BE49-F238E27FC236}">
                <a16:creationId xmlns:a16="http://schemas.microsoft.com/office/drawing/2014/main" id="{DE4CF347-1AD8-4DA0-9E24-498E9B5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3" name="p31-textbox-12">
            <a:extLst xmlns:a="http://schemas.openxmlformats.org/drawingml/2006/main">
              <a:ext uri="{FF2B5EF4-FFF2-40B4-BE49-F238E27FC236}">
                <a16:creationId xmlns:a16="http://schemas.microsoft.com/office/drawing/2014/main" id="{3DC32DD4-8EFE-4FC1-96B6-DE22C858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14725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Multi-agent teams</a:t>
            </a:r>
          </a:p>
        </p:txBody>
      </p:sp>
      <p:sp>
        <p:nvSpPr>
          <p:cNvPr id="14" name="p31-textbox-13">
            <a:extLst xmlns:a="http://schemas.openxmlformats.org/drawingml/2006/main">
              <a:ext uri="{FF2B5EF4-FFF2-40B4-BE49-F238E27FC236}">
                <a16:creationId xmlns:a16="http://schemas.microsoft.com/office/drawing/2014/main" id="{F3AB5F92-51CA-41A5-B69E-0D84002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15" name="p31-textbox-14">
            <a:extLst xmlns:a="http://schemas.openxmlformats.org/drawingml/2006/main">
              <a:ext uri="{FF2B5EF4-FFF2-40B4-BE49-F238E27FC236}">
                <a16:creationId xmlns:a16="http://schemas.microsoft.com/office/drawing/2014/main" id="{DFA800AF-B9AD-47DC-A9F1-7E1C0FBA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Persistent agentic workflows</a:t>
            </a:r>
          </a:p>
        </p:txBody>
      </p:sp>
      <p:sp>
        <p:nvSpPr>
          <p:cNvPr id="16" name="p31-textbox-15">
            <a:extLst xmlns:a="http://schemas.openxmlformats.org/drawingml/2006/main">
              <a:ext uri="{FF2B5EF4-FFF2-40B4-BE49-F238E27FC236}">
                <a16:creationId xmlns:a16="http://schemas.microsoft.com/office/drawing/2014/main" id="{1E3D5EFA-2F60-43A7-BCC9-5CDE55E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24075"/>
            <a:ext cx="331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39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Level 1</a:t>
            </a:r>
          </a:p>
        </p:txBody>
      </p:sp>
      <p:sp>
        <p:nvSpPr>
          <p:cNvPr id="17" name="p31-textbox-16">
            <a:extLst xmlns:a="http://schemas.openxmlformats.org/drawingml/2006/main">
              <a:ext uri="{FF2B5EF4-FFF2-40B4-BE49-F238E27FC236}">
                <a16:creationId xmlns:a16="http://schemas.microsoft.com/office/drawing/2014/main" id="{D1E50B62-139F-45AE-B9DE-8647995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48025"/>
            <a:ext cx="331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主要架構定位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reasoning / evidence tools</a:t>
            </a:r>
          </a:p>
        </p:txBody>
      </p:sp>
      <p:sp>
        <p:nvSpPr>
          <p:cNvPr id="18" name="p31-textbox-17">
            <a:extLst xmlns:a="http://schemas.openxmlformats.org/drawingml/2006/main">
              <a:ext uri="{FF2B5EF4-FFF2-40B4-BE49-F238E27FC236}">
                <a16:creationId xmlns:a16="http://schemas.microsoft.com/office/drawing/2014/main" id="{D778C6E3-A3D2-4D65-B3EB-CCEAAF31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LIKELY / SUGGESTED：依 assigned framework 與實際配置分析。ReasoningTools 本身不建立 Level 3；多個 examples 不構成 Team。沒有 persistent memory、retrieval index、delegation 或 background job architecture。</a:t>
            </a:r>
          </a:p>
        </p:txBody>
      </p:sp>
    </p:spTree>
    <p:extLst>
      <p:ext uri="{BB962C8B-B14F-4D97-AF65-F5344CB8AC3E}">
        <p14:creationId xmlns:p14="http://schemas.microsoft.com/office/powerpoint/2010/main" val="1650224252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0" name="Edited text 230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原始 Do New：真實工具數值與已驗收回答</a:t>
            </a:r>
          </a:p>
        </p:txBody>
      </p:sp>
      <p:sp>
        <p:nvSpPr>
          <p:cNvPr id="231" name="Edited text 231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32</a:t>
            </a:r>
          </a:p>
        </p:txBody>
      </p:sp>
      <p:sp>
        <p:nvSpPr>
          <p:cNvPr id="232" name="Rule 232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3" name="Edited text 233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34" name="Edited text 234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ORIGINAL EXTENSION · HISTORICAL LIVE EVIDENCE</a:t>
            </a:r>
          </a:p>
        </p:txBody>
      </p:sp>
      <p:sp>
        <p:nvSpPr>
          <p:cNvPr id="235" name="Edited text 235"/>
          <p:cNvSpPr txBox="1"/>
          <p:nvPr/>
        </p:nvSpPr>
        <p:spPr>
          <a:xfrm>
            <a:off x="685800" y="1581150"/>
            <a:ext cx="108204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實際任務：比較 final／best gradients，並區分技術完成與駕駛品質。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2AD2D4B6-DD79-4356-8492-14C2B4F06074}"/>
              </a:ext>
            </a:extLst>
          </p:cNvPr>
          <p:cNvGraphicFramePr/>
          <p:nvPr/>
        </p:nvGraphicFramePr>
        <p:xfrm>
          <a:off x="685800" y="3038475"/>
          <a:ext cx="10820400" cy="2038350"/>
        </p:xfrm>
        <a:graphic>
          <a:graphicData uri="http://schemas.openxmlformats.org/drawingml/2006/table">
            <a:tbl>
              <a:tblPr/>
              <a:tblGrid>
                <a:gridCol w="5410200"/>
                <a:gridCol w="2705100"/>
                <a:gridCol w="2705100"/>
              </a:tblGrid>
              <a:tr h="40767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回答中核對的數值（overall median）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Final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Best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</a:tr>
              <a:tr h="40767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Diagnostic loss · median 18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30.7705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29.9163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Image gradient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9.7748e−15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2.5796e−15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State gradient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0.1907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0.2903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Image／state ratio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6.7352e−14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2.2175e−14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" name="Edited text 237"/>
          <p:cNvSpPr txBox="1"/>
          <p:nvPr/>
        </p:nvSpPr>
        <p:spPr>
          <a:xfrm>
            <a:off x="685800" y="5286375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已驗收回覆重點（依 audit §27 摘要，非逐字重製）</a:t>
            </a:r>
          </a:p>
        </p:txBody>
      </p:sp>
      <p:sp>
        <p:nvSpPr>
          <p:cNvPr id="238" name="Edited text 238"/>
          <p:cNvSpPr txBox="1"/>
          <p:nvPr/>
        </p:nvSpPr>
        <p:spPr>
          <a:xfrm>
            <a:off x="685800" y="5676900"/>
            <a:ext cx="10820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回答使用上述八個匹配數值，並指出駕駛品質尚未驗證。</a:t>
            </a:r>
          </a:p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人工審核也修正其「near machine precision zero」措辭：極小非零梯度不等於零。</a:t>
            </a:r>
          </a:p>
        </p:txBody>
      </p:sp>
      <p:sp>
        <p:nvSpPr>
          <p:cNvPr id="112" name="Edited text 112"/>
          <p:cNvSpPr txBox="1"/>
          <p:nvPr/>
        </p:nvSpPr>
        <p:spPr>
          <a:xfrm>
            <a:off x="685800" y="2038350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summarize_p2_evidence() →144 records／18 samples →Gemini 完整回答</a:t>
            </a:r>
          </a:p>
        </p:txBody>
      </p:sp>
      <p:sp>
        <p:nvSpPr>
          <p:cNvPr id="113" name="Edited text 113"/>
          <p:cNvSpPr txBox="1"/>
          <p:nvPr/>
        </p:nvSpPr>
        <p:spPr>
          <a:xfrm>
            <a:off x="685800" y="2409825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評估 C｜USA train／validation／Taiwan 各 6 筆；原始 teacher-state 條件，custom loss。</a:t>
            </a:r>
          </a:p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下表 loss 為 18 筆中位數，用於梯度診斷；非第 10 頁 epoch 平均或第 11 頁固定 120 筆平均。</a:t>
            </a:r>
          </a:p>
        </p:txBody>
      </p:sp>
    </p:spTree>
    <p:extLst>
      <p:ext uri="{BB962C8B-B14F-4D97-AF65-F5344CB8AC3E}">
        <ns3:creationId val="1803405352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9" name="Edited text 239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教授 baseline 與我的 Do New 新增能力</a:t>
            </a:r>
          </a:p>
        </p:txBody>
      </p:sp>
      <p:sp>
        <p:nvSpPr>
          <p:cNvPr id="240" name="Edited text 240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33</a:t>
            </a:r>
          </a:p>
        </p:txBody>
      </p:sp>
      <p:sp>
        <p:nvSpPr>
          <p:cNvPr id="241" name="Rule 241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42" name="Edited text 242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43" name="Edited text 243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ORIGINAL EXTENSION · BEFORE / AFTER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2AD2D4B6-DD79-4356-8492-14C2B4F06074}"/>
              </a:ext>
            </a:extLst>
          </p:cNvPr>
          <p:cNvGraphicFramePr/>
          <p:nvPr/>
        </p:nvGraphicFramePr>
        <p:xfrm>
          <a:off x="685800" y="1628775"/>
          <a:ext cx="10820400" cy="2857500"/>
        </p:xfrm>
        <a:graphic>
          <a:graphicData uri="http://schemas.openxmlformats.org/drawingml/2006/table">
            <a:tbl>
              <a:tblPr/>
              <a:tblGrid>
                <a:gridCol w="2505075"/>
                <a:gridCol w="3371850"/>
                <a:gridCol w="4943475"/>
              </a:tblGrid>
              <a:tr h="5715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比較面向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教授 baseline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我的 Evidence／Vision 延伸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輸入與任務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目前啟用：旅行規劃問題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ModelB6 實驗結果與驗證影像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工具與證據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ReasoningTools；未接本地實驗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證據讀取、來源／hash／完成狀態驗證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結果呈現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文字／表格規劃回答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匹配數值＋定性影像報告與限制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驗收範圍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 baseline 回答已記錄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Evidence v1、Vision 單張 live 已驗收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Edited text 244"/>
          <p:cNvSpPr txBox="1"/>
          <p:nvPr/>
        </p:nvSpPr>
        <p:spPr>
          <a:xfrm>
            <a:off x="685800" y="4686300"/>
            <a:ext cx="108204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5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額外 v2 的三種模式</a:t>
            </a:r>
          </a:p>
        </p:txBody>
      </p:sp>
      <p:sp>
        <p:nvSpPr>
          <p:cNvPr id="245" name="Edited text 245"/>
          <p:cNvSpPr txBox="1"/>
          <p:nvPr/>
        </p:nvSpPr>
        <p:spPr>
          <a:xfrm>
            <a:off x="68580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Diagnosis</a:t>
            </a:r>
          </a:p>
        </p:txBody>
      </p:sp>
      <p:sp>
        <p:nvSpPr>
          <p:cNvPr id="246" name="Edited text 246"/>
          <p:cNvSpPr txBox="1"/>
          <p:nvPr/>
        </p:nvSpPr>
        <p:spPr>
          <a:xfrm>
            <a:off x="685800" y="5629275"/>
            <a:ext cx="32956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八個數值工具；live 待驗收</a:t>
            </a:r>
          </a:p>
        </p:txBody>
      </p:sp>
      <p:sp>
        <p:nvSpPr>
          <p:cNvPr id="247" name="Edited text 247"/>
          <p:cNvSpPr txBox="1"/>
          <p:nvPr/>
        </p:nvSpPr>
        <p:spPr>
          <a:xfrm>
            <a:off x="443865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Vision</a:t>
            </a:r>
          </a:p>
        </p:txBody>
      </p:sp>
      <p:sp>
        <p:nvSpPr>
          <p:cNvPr id="248" name="Edited text 248"/>
          <p:cNvSpPr txBox="1"/>
          <p:nvPr/>
        </p:nvSpPr>
        <p:spPr>
          <a:xfrm>
            <a:off x="4438650" y="5629275"/>
            <a:ext cx="32956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實際 PNG bytes；單張已驗收</a:t>
            </a:r>
          </a:p>
        </p:txBody>
      </p:sp>
      <p:sp>
        <p:nvSpPr>
          <p:cNvPr id="249" name="Edited text 249"/>
          <p:cNvSpPr txBox="1"/>
          <p:nvPr/>
        </p:nvSpPr>
        <p:spPr>
          <a:xfrm>
            <a:off x="819150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8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Unified</a:t>
            </a:r>
          </a:p>
        </p:txBody>
      </p:sp>
      <p:sp>
        <p:nvSpPr>
          <p:cNvPr id="250" name="Edited text 250"/>
          <p:cNvSpPr txBox="1"/>
          <p:nvPr/>
        </p:nvSpPr>
        <p:spPr>
          <a:xfrm>
            <a:off x="8191500" y="5629275"/>
            <a:ext cx="32956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圖片＋數值工具；live 待驗收</a:t>
            </a:r>
          </a:p>
        </p:txBody>
      </p:sp>
    </p:spTree>
    <p:extLst>
      <p:ext uri="{BB962C8B-B14F-4D97-AF65-F5344CB8AC3E}">
        <ns3:creationId val="6731984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34-textbox-0">
            <a:extLst xmlns:a="http://schemas.openxmlformats.org/drawingml/2006/main">
              <a:ext uri="{FF2B5EF4-FFF2-40B4-BE49-F238E27FC236}">
                <a16:creationId xmlns:a16="http://schemas.microsoft.com/office/drawing/2014/main" id="{003A4543-3133-4BC3-AB6A-C58E1CA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DO NEW V2 · IMPLEMENTATION</a:t>
            </a:r>
          </a:p>
        </p:txBody>
      </p:sp>
      <p:sp>
        <p:nvSpPr>
          <p:cNvPr id="2" name="p34-textbox-1">
            <a:extLst xmlns:a="http://schemas.openxmlformats.org/drawingml/2006/main">
              <a:ext uri="{FF2B5EF4-FFF2-40B4-BE49-F238E27FC236}">
                <a16:creationId xmlns:a16="http://schemas.microsoft.com/office/drawing/2014/main" id="{BA031D18-F1FE-49CF-8EE5-F4E44410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八個工具與可追溯 evidence export</a:t>
            </a:r>
          </a:p>
        </p:txBody>
      </p:sp>
      <p:sp>
        <p:nvSpPr>
          <p:cNvPr id="3" name="p34-rect-2">
            <a:extLst xmlns:a="http://schemas.openxmlformats.org/drawingml/2006/main">
              <a:ext uri="{FF2B5EF4-FFF2-40B4-BE49-F238E27FC236}">
                <a16:creationId xmlns:a16="http://schemas.microsoft.com/office/drawing/2014/main" id="{742CEC96-51C0-4D30-B738-B2696C6B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4-textbox-3">
            <a:extLst xmlns:a="http://schemas.openxmlformats.org/drawingml/2006/main">
              <a:ext uri="{FF2B5EF4-FFF2-40B4-BE49-F238E27FC236}">
                <a16:creationId xmlns:a16="http://schemas.microsoft.com/office/drawing/2014/main" id="{AF93BE23-0416-4D04-8CF6-5BD864C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E10  E11</a:t>
            </a:r>
          </a:p>
        </p:txBody>
      </p:sp>
      <p:sp>
        <p:nvSpPr>
          <p:cNvPr id="5" name="p34-textbox-4">
            <a:extLst xmlns:a="http://schemas.openxmlformats.org/drawingml/2006/main">
              <a:ext uri="{FF2B5EF4-FFF2-40B4-BE49-F238E27FC236}">
                <a16:creationId xmlns:a16="http://schemas.microsoft.com/office/drawing/2014/main" id="{304BB9AB-740A-43F1-A3EB-E439B341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34</a:t>
            </a:r>
          </a:p>
        </p:txBody>
      </p:sp>
      <p:sp>
        <p:nvSpPr>
          <p:cNvPr id="6" name="p34-textbox-5">
            <a:extLst xmlns:a="http://schemas.openxmlformats.org/drawingml/2006/main">
              <a:ext uri="{FF2B5EF4-FFF2-40B4-BE49-F238E27FC236}">
                <a16:creationId xmlns:a16="http://schemas.microsoft.com/office/drawing/2014/main" id="{BB7C65C2-D5C9-4F53-BF6B-9D6A21E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get_training_evidence</a:t>
            </a:r>
          </a:p>
        </p:txBody>
      </p:sp>
      <p:sp>
        <p:nvSpPr>
          <p:cNvPr id="7" name="p34-textbox-6">
            <a:extLst xmlns:a="http://schemas.openxmlformats.org/drawingml/2006/main">
              <a:ext uri="{FF2B5EF4-FFF2-40B4-BE49-F238E27FC236}">
                <a16:creationId xmlns:a16="http://schemas.microsoft.com/office/drawing/2014/main" id="{7277255D-F3A9-4C86-876A-E3B729A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8592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Step 5 histories / final-best</a:t>
            </a:r>
          </a:p>
        </p:txBody>
      </p:sp>
      <p:sp>
        <p:nvSpPr>
          <p:cNvPr id="8" name="p34-textbox-7">
            <a:extLst xmlns:a="http://schemas.openxmlformats.org/drawingml/2006/main">
              <a:ext uri="{FF2B5EF4-FFF2-40B4-BE49-F238E27FC236}">
                <a16:creationId xmlns:a16="http://schemas.microsoft.com/office/drawing/2014/main" id="{4F76D373-4ED9-4526-8160-81684BA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get_verification_evidence</a:t>
            </a:r>
          </a:p>
        </p:txBody>
      </p:sp>
      <p:sp>
        <p:nvSpPr>
          <p:cNvPr id="9" name="p34-textbox-8">
            <a:extLst xmlns:a="http://schemas.openxmlformats.org/drawingml/2006/main">
              <a:ext uri="{FF2B5EF4-FFF2-40B4-BE49-F238E27FC236}">
                <a16:creationId xmlns:a16="http://schemas.microsoft.com/office/drawing/2014/main" id="{E525428B-3147-4937-B35F-3DDD921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Step 6 four-cell matrix</a:t>
            </a:r>
          </a:p>
        </p:txBody>
      </p:sp>
      <p:sp>
        <p:nvSpPr>
          <p:cNvPr id="10" name="p34-textbox-9">
            <a:extLst xmlns:a="http://schemas.openxmlformats.org/drawingml/2006/main">
              <a:ext uri="{FF2B5EF4-FFF2-40B4-BE49-F238E27FC236}">
                <a16:creationId xmlns:a16="http://schemas.microsoft.com/office/drawing/2014/main" id="{4CB048CC-1B70-47D3-90D3-16B9F40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get_sensitivity_evidence</a:t>
            </a:r>
          </a:p>
        </p:txBody>
      </p:sp>
      <p:sp>
        <p:nvSpPr>
          <p:cNvPr id="11" name="p34-textbox-10">
            <a:extLst xmlns:a="http://schemas.openxmlformats.org/drawingml/2006/main">
              <a:ext uri="{FF2B5EF4-FFF2-40B4-BE49-F238E27FC236}">
                <a16:creationId xmlns:a16="http://schemas.microsoft.com/office/drawing/2014/main" id="{32596216-1363-4536-A84A-9D34AF8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0507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P2.7 interventions</a:t>
            </a:r>
          </a:p>
        </p:txBody>
      </p:sp>
      <p:sp>
        <p:nvSpPr>
          <p:cNvPr id="12" name="p34-textbox-11">
            <a:extLst xmlns:a="http://schemas.openxmlformats.org/drawingml/2006/main">
              <a:ext uri="{FF2B5EF4-FFF2-40B4-BE49-F238E27FC236}">
                <a16:creationId xmlns:a16="http://schemas.microsoft.com/office/drawing/2014/main" id="{5CAA0BA7-3DED-4FDD-9BE4-0577441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get_encoder_evidence</a:t>
            </a:r>
          </a:p>
        </p:txBody>
      </p:sp>
      <p:sp>
        <p:nvSpPr>
          <p:cNvPr id="13" name="p34-textbox-12">
            <a:extLst xmlns:a="http://schemas.openxmlformats.org/drawingml/2006/main">
              <a:ext uri="{FF2B5EF4-FFF2-40B4-BE49-F238E27FC236}">
                <a16:creationId xmlns:a16="http://schemas.microsoft.com/office/drawing/2014/main" id="{4672EE8A-5D2B-43C5-9978-B82F940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P2.8 layer trace + controls</a:t>
            </a:r>
          </a:p>
        </p:txBody>
      </p:sp>
      <p:sp>
        <p:nvSpPr>
          <p:cNvPr id="14" name="p34-textbox-13">
            <a:extLst xmlns:a="http://schemas.openxmlformats.org/drawingml/2006/main">
              <a:ext uri="{FF2B5EF4-FFF2-40B4-BE49-F238E27FC236}">
                <a16:creationId xmlns:a16="http://schemas.microsoft.com/office/drawing/2014/main" id="{02C3CEE7-CC86-426D-99D4-43FF385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get_gradient_evidence</a:t>
            </a:r>
          </a:p>
        </p:txBody>
      </p:sp>
      <p:sp>
        <p:nvSpPr>
          <p:cNvPr id="15" name="p34-textbox-14">
            <a:extLst xmlns:a="http://schemas.openxmlformats.org/drawingml/2006/main">
              <a:ext uri="{FF2B5EF4-FFF2-40B4-BE49-F238E27FC236}">
                <a16:creationId xmlns:a16="http://schemas.microsoft.com/office/drawing/2014/main" id="{9E4FC2D0-AD37-4AB5-B2BA-B6EFA4E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P2.9 supervised loss</a:t>
            </a:r>
          </a:p>
        </p:txBody>
      </p:sp>
      <p:sp>
        <p:nvSpPr>
          <p:cNvPr id="16" name="p34-textbox-15">
            <a:extLst xmlns:a="http://schemas.openxmlformats.org/drawingml/2006/main">
              <a:ext uri="{FF2B5EF4-FFF2-40B4-BE49-F238E27FC236}">
                <a16:creationId xmlns:a16="http://schemas.microsoft.com/office/drawing/2014/main" id="{3DB1E531-B8DB-49AF-913A-7E02DF0B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get_fresh_gradient_evidence</a:t>
            </a:r>
          </a:p>
        </p:txBody>
      </p:sp>
      <p:sp>
        <p:nvSpPr>
          <p:cNvPr id="17" name="p34-textbox-16">
            <a:extLst xmlns:a="http://schemas.openxmlformats.org/drawingml/2006/main">
              <a:ext uri="{FF2B5EF4-FFF2-40B4-BE49-F238E27FC236}">
                <a16:creationId xmlns:a16="http://schemas.microsoft.com/office/drawing/2014/main" id="{7CF01B3D-1BBA-4724-A149-198C30B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P2.10 fresh seeds</a:t>
            </a:r>
          </a:p>
        </p:txBody>
      </p:sp>
      <p:sp>
        <p:nvSpPr>
          <p:cNvPr id="18" name="p34-textbox-17">
            <a:extLst xmlns:a="http://schemas.openxmlformats.org/drawingml/2006/main">
              <a:ext uri="{FF2B5EF4-FFF2-40B4-BE49-F238E27FC236}">
                <a16:creationId xmlns:a16="http://schemas.microsoft.com/office/drawing/2014/main" id="{9400915C-06B0-4E7C-9795-3C658E7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compare_domains</a:t>
            </a:r>
          </a:p>
        </p:txBody>
      </p:sp>
      <p:sp>
        <p:nvSpPr>
          <p:cNvPr id="19" name="p34-textbox-18">
            <a:extLst xmlns:a="http://schemas.openxmlformats.org/drawingml/2006/main">
              <a:ext uri="{FF2B5EF4-FFF2-40B4-BE49-F238E27FC236}">
                <a16:creationId xmlns:a16="http://schemas.microsoft.com/office/drawing/2014/main" id="{8060A08A-9013-4030-8C01-6F77B25D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4337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paired domain / checkpoint facts</a:t>
            </a:r>
          </a:p>
        </p:txBody>
      </p:sp>
      <p:sp>
        <p:nvSpPr>
          <p:cNvPr id="20" name="p34-textbox-19">
            <a:extLst xmlns:a="http://schemas.openxmlformats.org/drawingml/2006/main">
              <a:ext uri="{FF2B5EF4-FFF2-40B4-BE49-F238E27FC236}">
                <a16:creationId xmlns:a16="http://schemas.microsoft.com/office/drawing/2014/main" id="{9E8DDB40-DCCD-46EA-92DA-059624A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check_diagnostic_claim</a:t>
            </a:r>
          </a:p>
        </p:txBody>
      </p:sp>
      <p:sp>
        <p:nvSpPr>
          <p:cNvPr id="21" name="p34-textbox-20">
            <a:extLst xmlns:a="http://schemas.openxmlformats.org/drawingml/2006/main">
              <a:ext uri="{FF2B5EF4-FFF2-40B4-BE49-F238E27FC236}">
                <a16:creationId xmlns:a16="http://schemas.microsoft.com/office/drawing/2014/main" id="{E22897CF-7EDE-44BC-8EF4-B99930E6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5295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bounded claim catalogue</a:t>
            </a:r>
          </a:p>
        </p:txBody>
      </p:sp>
      <p:sp>
        <p:nvSpPr>
          <p:cNvPr id="22" name="p34-textbox-21">
            <a:extLst xmlns:a="http://schemas.openxmlformats.org/drawingml/2006/main">
              <a:ext uri="{FF2B5EF4-FFF2-40B4-BE49-F238E27FC236}">
                <a16:creationId xmlns:a16="http://schemas.microsoft.com/office/drawing/2014/main" id="{AFD4828C-B63E-4535-B189-C48F20B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26 canonical files：10 evidence JSON、4 cell manifests、12 PNGs。本次全部 byte count / SHA-256 匹配 export manifest。路徑 allowlist、拒絕 symlink／escape、完成狀態與 finite 檢查限制工具輸入。</a:t>
            </a:r>
          </a:p>
        </p:txBody>
      </p:sp>
    </p:spTree>
    <p:extLst>
      <p:ext uri="{BB962C8B-B14F-4D97-AF65-F5344CB8AC3E}">
        <p14:creationId xmlns:p14="http://schemas.microsoft.com/office/powerpoint/2010/main" val="50018435"/>
      </p:ext>
    </p:extLst>
  </p:cSld>
</p:sld>
</file>

<file path=ppt/slides/slide3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1" name="Edited text 251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Vision live：從實際圖片得到哪些觀察</a:t>
            </a:r>
          </a:p>
        </p:txBody>
      </p:sp>
      <p:sp>
        <p:nvSpPr>
          <p:cNvPr id="252" name="Edited text 252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35</a:t>
            </a:r>
          </a:p>
        </p:txBody>
      </p:sp>
      <p:sp>
        <p:nvSpPr>
          <p:cNvPr id="253" name="Rule 253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54" name="Edited text 254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55" name="Edited text 255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DO NEW V2 · SINGLE-IMAGE LIVE EVIDENCE</a:t>
            </a:r>
          </a:p>
        </p:txBody>
      </p:sp>
      <p:pic>
        <p:nvPicPr>
          <p:cNvPr id="256" name="vision-source" descr="Actual replay screenshot; see slide notes for provenance."/>
          <p:cNvPicPr/>
          <p:nvPr/>
        </p:nvPicPr>
        <p:blipFill>
          <a:blip r:embed="rIdNew256"/>
          <a:stretch>
            <a:fillRect/>
          </a:stretch>
        </p:blipFill>
        <p:spPr>
          <a:xfrm>
            <a:off x="687387" y="1590675"/>
            <a:ext cx="5054600" cy="3790950"/>
          </a:xfrm>
          <a:prstGeom prst="rect">
            <a:avLst/>
          </a:prstGeom>
        </p:spPr>
      </p:pic>
      <p:sp>
        <p:nvSpPr>
          <p:cNvPr id="257" name="Edited text 257"/>
          <p:cNvSpPr txBox="1"/>
          <p:nvPr/>
        </p:nvSpPr>
        <p:spPr>
          <a:xfrm>
            <a:off x="6219825" y="1638300"/>
            <a:ext cx="52863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已驗收回覆重點</a:t>
            </a:r>
          </a:p>
        </p:txBody>
      </p:sp>
      <p:sp>
        <p:nvSpPr>
          <p:cNvPr id="258" name="Edited text 258"/>
          <p:cNvSpPr txBox="1"/>
          <p:nvPr/>
        </p:nvSpPr>
        <p:spPr>
          <a:xfrm>
            <a:off x="6219825" y="2076450"/>
            <a:ext cx="5286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42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依 audit §30 整理；非原始逐字輸出。</a:t>
            </a:r>
          </a:p>
        </p:txBody>
      </p:sp>
      <p:sp>
        <p:nvSpPr>
          <p:cNvPr id="259" name="Edited text 259"/>
          <p:cNvSpPr txBox="1"/>
          <p:nvPr/>
        </p:nvSpPr>
        <p:spPr>
          <a:xfrm>
            <a:off x="6219825" y="26384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場景</a:t>
            </a:r>
          </a:p>
        </p:txBody>
      </p:sp>
      <p:sp>
        <p:nvSpPr>
          <p:cNvPr id="260" name="Edited text 260"/>
          <p:cNvSpPr txBox="1"/>
          <p:nvPr/>
        </p:nvSpPr>
        <p:spPr>
          <a:xfrm>
            <a:off x="6219825" y="2990850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陰天、多車道公路；可見車流與左側邊界。</a:t>
            </a:r>
          </a:p>
        </p:txBody>
      </p:sp>
      <p:sp>
        <p:nvSpPr>
          <p:cNvPr id="261" name="Edited text 261"/>
          <p:cNvSpPr txBox="1"/>
          <p:nvPr/>
        </p:nvSpPr>
        <p:spPr>
          <a:xfrm>
            <a:off x="6219825" y="34385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Path／lanes</a:t>
            </a:r>
          </a:p>
        </p:txBody>
      </p:sp>
      <p:sp>
        <p:nvSpPr>
          <p:cNvPr id="262" name="Edited text 262"/>
          <p:cNvSpPr txBox="1"/>
          <p:nvPr/>
        </p:nvSpPr>
        <p:spPr>
          <a:xfrm>
            <a:off x="6219825" y="3790950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綠 path、紅／藍 lanes 呈空間鋸齒，與圖中相符。</a:t>
            </a:r>
          </a:p>
        </p:txBody>
      </p:sp>
      <p:sp>
        <p:nvSpPr>
          <p:cNvPr id="263" name="Edited text 263"/>
          <p:cNvSpPr txBox="1"/>
          <p:nvPr/>
        </p:nvSpPr>
        <p:spPr>
          <a:xfrm>
            <a:off x="6219825" y="42386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Lead</a:t>
            </a:r>
          </a:p>
        </p:txBody>
      </p:sp>
      <p:sp>
        <p:nvSpPr>
          <p:cNvPr id="264" name="Edited text 264"/>
          <p:cNvSpPr txBox="1"/>
          <p:nvPr/>
        </p:nvSpPr>
        <p:spPr>
          <a:xfrm>
            <a:off x="6219825" y="4591050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沒有可辨識的 lead-specific overlay，回答為 unknown。</a:t>
            </a:r>
          </a:p>
        </p:txBody>
      </p:sp>
      <p:sp>
        <p:nvSpPr>
          <p:cNvPr id="265" name="Edited text 265"/>
          <p:cNvSpPr txBox="1"/>
          <p:nvPr/>
        </p:nvSpPr>
        <p:spPr>
          <a:xfrm>
            <a:off x="6219825" y="50387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72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限制</a:t>
            </a:r>
          </a:p>
        </p:txBody>
      </p:sp>
      <p:sp>
        <p:nvSpPr>
          <p:cNvPr id="266" name="Edited text 266"/>
          <p:cNvSpPr txBox="1"/>
          <p:nvPr/>
        </p:nvSpPr>
        <p:spPr>
          <a:xfrm>
            <a:off x="6219825" y="5391150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單張支持空間觀察；時間不穩定、accuracy／safety 未驗證。</a:t>
            </a:r>
          </a:p>
        </p:txBody>
      </p:sp>
      <p:sp>
        <p:nvSpPr>
          <p:cNvPr id="267" name="Edited text 267"/>
          <p:cNvSpPr txBox="1"/>
          <p:nvPr/>
        </p:nvSpPr>
        <p:spPr>
          <a:xfrm>
            <a:off x="685800" y="5772150"/>
            <a:ext cx="50577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USA／final／frame 1；實際 PNG bytes、image hash 與完整 structured report 已核對。</a:t>
            </a:r>
          </a:p>
        </p:txBody>
      </p:sp>
    </p:spTree>
    <p:extLst>
      <p:ext uri="{BB962C8B-B14F-4D97-AF65-F5344CB8AC3E}">
        <ns3:creationId val="31971774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36-textbox-0">
            <a:extLst xmlns:a="http://schemas.openxmlformats.org/drawingml/2006/main">
              <a:ext uri="{FF2B5EF4-FFF2-40B4-BE49-F238E27FC236}">
                <a16:creationId xmlns:a16="http://schemas.microsoft.com/office/drawing/2014/main" id="{095E56A5-0FA4-4C74-BFCA-72F6E84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CURRENT VALIDATION STATUS</a:t>
            </a:r>
          </a:p>
        </p:txBody>
      </p:sp>
      <p:sp>
        <p:nvSpPr>
          <p:cNvPr id="2" name="p36-textbox-1">
            <a:extLst xmlns:a="http://schemas.openxmlformats.org/drawingml/2006/main">
              <a:ext uri="{FF2B5EF4-FFF2-40B4-BE49-F238E27FC236}">
                <a16:creationId xmlns:a16="http://schemas.microsoft.com/office/drawing/2014/main" id="{6CB5F8D3-9191-4739-ACD2-8726213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Diagnosis / Unified：provider 限制與驗收進展</a:t>
            </a:r>
          </a:p>
        </p:txBody>
      </p:sp>
      <p:sp>
        <p:nvSpPr>
          <p:cNvPr id="3" name="p36-rect-2">
            <a:extLst xmlns:a="http://schemas.openxmlformats.org/drawingml/2006/main">
              <a:ext uri="{FF2B5EF4-FFF2-40B4-BE49-F238E27FC236}">
                <a16:creationId xmlns:a16="http://schemas.microsoft.com/office/drawing/2014/main" id="{703CD8C4-B0C6-421B-99F8-671BFFF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6-textbox-3">
            <a:extLst xmlns:a="http://schemas.openxmlformats.org/drawingml/2006/main">
              <a:ext uri="{FF2B5EF4-FFF2-40B4-BE49-F238E27FC236}">
                <a16:creationId xmlns:a16="http://schemas.microsoft.com/office/drawing/2014/main" id="{A50BADC9-1AC1-4570-81C7-1FEEABA7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/  E10  L01  L02</a:t>
            </a:r>
          </a:p>
        </p:txBody>
      </p:sp>
      <p:sp>
        <p:nvSpPr>
          <p:cNvPr id="5" name="p36-textbox-4">
            <a:extLst xmlns:a="http://schemas.openxmlformats.org/drawingml/2006/main">
              <a:ext uri="{FF2B5EF4-FFF2-40B4-BE49-F238E27FC236}">
                <a16:creationId xmlns:a16="http://schemas.microsoft.com/office/drawing/2014/main" id="{D21751B2-BF31-47B3-90C7-EF914F5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36</a:t>
            </a:r>
          </a:p>
        </p:txBody>
      </p:sp>
      <p:sp>
        <p:nvSpPr>
          <p:cNvPr id="6" name="p36-textbox-5">
            <a:extLst xmlns:a="http://schemas.openxmlformats.org/drawingml/2006/main">
              <a:ext uri="{FF2B5EF4-FFF2-40B4-BE49-F238E27FC236}">
                <a16:creationId xmlns:a16="http://schemas.microsoft.com/office/drawing/2014/main" id="{B3D35224-8104-4EFF-A6C0-DC221454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Diagnosis</a:t>
            </a:r>
          </a:p>
        </p:txBody>
      </p:sp>
      <p:sp>
        <p:nvSpPr>
          <p:cNvPr id="7" name="p36-textbox-6">
            <a:extLst xmlns:a="http://schemas.openxmlformats.org/drawingml/2006/main">
              <a:ext uri="{FF2B5EF4-FFF2-40B4-BE49-F238E27FC236}">
                <a16:creationId xmlns:a16="http://schemas.microsoft.com/office/drawing/2014/main" id="{D8B90DD0-AD13-40CD-B758-C847194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IMPLEMENTED / OFFLINE VERIFIED</a:t>
            </a:r>
          </a:p>
        </p:txBody>
      </p:sp>
      <p:sp>
        <p:nvSpPr>
          <p:cNvPr id="8" name="p36-textbox-7">
            <a:extLst xmlns:a="http://schemas.openxmlformats.org/drawingml/2006/main">
              <a:ext uri="{FF2B5EF4-FFF2-40B4-BE49-F238E27FC236}">
                <a16:creationId xmlns:a16="http://schemas.microsoft.com/office/drawing/2014/main" id="{803E6076-4F5E-43FB-96F2-B414DE4F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LIVE VERIFICATION PENDING</a:t>
            </a:r>
          </a:p>
        </p:txBody>
      </p:sp>
      <p:sp>
        <p:nvSpPr>
          <p:cNvPr id="9" name="p36-textbox-8">
            <a:extLst xmlns:a="http://schemas.openxmlformats.org/drawingml/2006/main">
              <a:ext uri="{FF2B5EF4-FFF2-40B4-BE49-F238E27FC236}">
                <a16:creationId xmlns:a16="http://schemas.microsoft.com/office/drawing/2014/main" id="{9FE10B91-53FF-46F4-9DA5-82759A6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八種證據工具已實際呼叫。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完整答案前遇到 429。</a:t>
            </a:r>
          </a:p>
        </p:txBody>
      </p:sp>
      <p:sp>
        <p:nvSpPr>
          <p:cNvPr id="10" name="p36-textbox-9">
            <a:extLst xmlns:a="http://schemas.openxmlformats.org/drawingml/2006/main">
              <a:ext uri="{FF2B5EF4-FFF2-40B4-BE49-F238E27FC236}">
                <a16:creationId xmlns:a16="http://schemas.microsoft.com/office/drawing/2014/main" id="{E6A2FC14-72C4-4691-B37E-AC2A09A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Unified · Taiwan / best</a:t>
            </a:r>
          </a:p>
        </p:txBody>
      </p:sp>
      <p:sp>
        <p:nvSpPr>
          <p:cNvPr id="11" name="p36-textbox-10">
            <a:extLst xmlns:a="http://schemas.openxmlformats.org/drawingml/2006/main">
              <a:ext uri="{FF2B5EF4-FFF2-40B4-BE49-F238E27FC236}">
                <a16:creationId xmlns:a16="http://schemas.microsoft.com/office/drawing/2014/main" id="{78A6BB3D-03FB-4A81-A682-EDF166F4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IMPLEMENTED / OFFLINE VERIFIED</a:t>
            </a:r>
          </a:p>
        </p:txBody>
      </p:sp>
      <p:sp>
        <p:nvSpPr>
          <p:cNvPr id="12" name="p36-textbox-11">
            <a:extLst xmlns:a="http://schemas.openxmlformats.org/drawingml/2006/main">
              <a:ext uri="{FF2B5EF4-FFF2-40B4-BE49-F238E27FC236}">
                <a16:creationId xmlns:a16="http://schemas.microsoft.com/office/drawing/2014/main" id="{58B958BA-CAFB-4525-A72D-02E24A7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LIVE VERIFICATION PENDING</a:t>
            </a:r>
          </a:p>
        </p:txBody>
      </p:sp>
      <p:sp>
        <p:nvSpPr>
          <p:cNvPr id="13" name="p36-textbox-12">
            <a:extLst xmlns:a="http://schemas.openxmlformats.org/drawingml/2006/main">
              <a:ext uri="{FF2B5EF4-FFF2-40B4-BE49-F238E27FC236}">
                <a16:creationId xmlns:a16="http://schemas.microsoft.com/office/drawing/2014/main" id="{ED352E98-CB3C-4D91-9B2C-A4D9E775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338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Taiwan / best PNG bytes 已送出。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Gemini 回傳 503，尚無回答。</a:t>
            </a:r>
          </a:p>
        </p:txBody>
      </p:sp>
      <p:sp>
        <p:nvSpPr>
          <p:cNvPr id="14" name="p36-textbox-13">
            <a:extLst xmlns:a="http://schemas.openxmlformats.org/drawingml/2006/main">
              <a:ext uri="{FF2B5EF4-FFF2-40B4-BE49-F238E27FC236}">
                <a16:creationId xmlns:a16="http://schemas.microsoft.com/office/drawing/2014/main" id="{2D585D31-E4CB-4819-A3AD-7D69949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2026-10-13：Diagnosis 429 為每分鐘 input-token 額度；Unified 503 為高需求。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目前停止重試，保留 live PENDING；外部阻擋不代表功能已通過或失敗。</a:t>
            </a:r>
          </a:p>
        </p:txBody>
      </p:sp>
    </p:spTree>
    <p:extLst>
      <p:ext uri="{BB962C8B-B14F-4D97-AF65-F5344CB8AC3E}">
        <p14:creationId xmlns:p14="http://schemas.microsoft.com/office/powerpoint/2010/main" val="401932043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68" name="Edited text 268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歷史 live 成果與目前可執行版本分開驗證</a:t>
            </a:r>
          </a:p>
        </p:txBody>
      </p:sp>
      <p:sp>
        <p:nvSpPr>
          <p:cNvPr id="269" name="Edited text 269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37</a:t>
            </a:r>
          </a:p>
        </p:txBody>
      </p:sp>
      <p:sp>
        <p:nvSpPr>
          <p:cNvPr id="270" name="Rule 270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71" name="Edited text 271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72" name="Edited text 272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VERIFICATION MATRIX · HISTORICAL / CURRENT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0C993D04-4C38-4239-A5C6-AC8755892188}"/>
              </a:ext>
            </a:extLst>
          </p:cNvPr>
          <p:cNvGraphicFramePr/>
          <p:nvPr/>
        </p:nvGraphicFramePr>
        <p:xfrm>
          <a:off x="685800" y="1628775"/>
          <a:ext cx="10820400" cy="3143250"/>
        </p:xfrm>
        <a:graphic>
          <a:graphicData uri="http://schemas.openxmlformats.org/drawingml/2006/table">
            <a:tbl>
              <a:tblPr/>
              <a:tblGrid>
                <a:gridCol w="2743200"/>
                <a:gridCol w="4362450"/>
                <a:gridCol w="3714750"/>
              </a:tblGrid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項目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已驗證成果／限制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目前工作目錄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</a:tr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Model B6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技術流程完成；driving quality 未驗證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原模型與調查證據保留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Baseline Agent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 live 回答：audit receipt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baseline／adapter 保留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Evidence v1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歷史 live 通過；八個數值匹配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已清理；Git e1a1bc5 可追溯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v2 Vision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USA／final 單張 live 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Vision runner 保留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v2 Diagnosis／Unified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live PENDING；完整答案未完成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已實作／離線驗證；目前擱置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Edited text 273"/>
          <p:cNvSpPr txBox="1"/>
          <p:nvPr/>
        </p:nvSpPr>
        <p:spPr>
          <a:xfrm>
            <a:off x="685800" y="5000625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目前保留的 Agent 離線測試：44／44 通過</a:t>
            </a:r>
          </a:p>
        </p:txBody>
      </p:sp>
      <p:sp>
        <p:nvSpPr>
          <p:cNvPr id="274" name="Edited text 274"/>
          <p:cNvSpPr txBox="1"/>
          <p:nvPr/>
        </p:nvSpPr>
        <p:spPr>
          <a:xfrm>
            <a:off x="685800" y="5543550"/>
            <a:ext cx="108204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 suite：55／55（20 existing＋35 v2），紀錄 2026-10-06。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v1 專用測試已移除；測試數不同反映範圍變更，不能當成功能退化。</a:t>
            </a:r>
          </a:p>
        </p:txBody>
      </p:sp>
    </p:spTree>
    <p:extLst>
      <p:ext uri="{BB962C8B-B14F-4D97-AF65-F5344CB8AC3E}">
        <ns3:creationId val="1950970336"/>
      </p:ext>
    </p:extLst>
  </p:cSld>
</p:sld>
</file>

<file path=ppt/slides/slide38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4" name="Edited text 11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475" b="1" lang="zh-TW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Project 2 的成果與三項具體發現</a:t>
            </a:r>
          </a:p>
        </p:txBody>
      </p:sp>
      <p:sp>
        <p:nvSpPr>
          <p:cNvPr id="115" name="Edited text 11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75" b="1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38</a:t>
            </a:r>
          </a:p>
        </p:txBody>
      </p:sp>
      <p:sp>
        <p:nvSpPr>
          <p:cNvPr id="116" name="Rule 11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7" name="Edited text 11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90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18" name="Edited text 11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125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PROJECT 2 · GRADING SUMMARY</a:t>
            </a:r>
          </a:p>
        </p:txBody>
      </p:sp>
      <p:sp>
        <p:nvSpPr>
          <p:cNvPr id="119" name="Edited text 119"/>
          <p:cNvSpPr txBox="1"/>
          <p:nvPr/>
        </p:nvSpPr>
        <p:spPr>
          <a:xfrm>
            <a:off x="685800" y="1552575"/>
            <a:ext cx="1082040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課程成果｜60 epochs、四組技術驗證、Agno baseline 與 framework review；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Do New：Evidence v1 歷史 live、Vision 單張 live 已驗收。</a:t>
            </a:r>
          </a:p>
        </p:txBody>
      </p:sp>
      <p:sp>
        <p:nvSpPr>
          <p:cNvPr id="120" name="Edited text 120"/>
          <p:cNvSpPr txBox="1"/>
          <p:nvPr/>
        </p:nvSpPr>
        <p:spPr>
          <a:xfrm>
            <a:off x="685800" y="2409825"/>
            <a:ext cx="85725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0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21" name="Edited text 121"/>
          <p:cNvSpPr txBox="1"/>
          <p:nvPr/>
        </p:nvSpPr>
        <p:spPr>
          <a:xfrm>
            <a:off x="1847850" y="2409825"/>
            <a:ext cx="9658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CHECKPOINT COMPARISON</a:t>
            </a:r>
          </a:p>
        </p:txBody>
      </p:sp>
      <p:sp>
        <p:nvSpPr>
          <p:cNvPr id="122" name="Edited text 122"/>
          <p:cNvSpPr txBox="1"/>
          <p:nvPr/>
        </p:nvSpPr>
        <p:spPr>
          <a:xfrm>
            <a:off x="1847850" y="2743200"/>
            <a:ext cx="96583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固定 120 筆評估：Best loss 12.2088，Final 79.1267。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增加訓練 epochs 沒有保證更好；此比較未確認 overfitting。</a:t>
            </a:r>
          </a:p>
        </p:txBody>
      </p:sp>
      <p:sp>
        <p:nvSpPr>
          <p:cNvPr id="123" name="Edited text 123"/>
          <p:cNvSpPr txBox="1"/>
          <p:nvPr/>
        </p:nvSpPr>
        <p:spPr>
          <a:xfrm>
            <a:off x="685800" y="3486150"/>
            <a:ext cx="85725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0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4" name="Edited text 124"/>
          <p:cNvSpPr txBox="1"/>
          <p:nvPr/>
        </p:nvSpPr>
        <p:spPr>
          <a:xfrm>
            <a:off x="1847850" y="3486150"/>
            <a:ext cx="9658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IMAGE / STATE INVESTIGATION</a:t>
            </a:r>
          </a:p>
        </p:txBody>
      </p:sp>
      <p:sp>
        <p:nvSpPr>
          <p:cNvPr id="125" name="Edited text 125"/>
          <p:cNvSpPr txBox="1"/>
          <p:nvPr/>
        </p:nvSpPr>
        <p:spPr>
          <a:xfrm>
            <a:off x="1847850" y="3819525"/>
            <a:ext cx="96583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已測 raw 曲線在投影前已有異常；換影像回應極弱，state policy 影響明顯。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支持縮小調查範圍；仍未建立唯一成因或全域 image independence。</a:t>
            </a:r>
          </a:p>
        </p:txBody>
      </p:sp>
      <p:sp>
        <p:nvSpPr>
          <p:cNvPr id="126" name="Edited text 126"/>
          <p:cNvSpPr txBox="1"/>
          <p:nvPr/>
        </p:nvSpPr>
        <p:spPr>
          <a:xfrm>
            <a:off x="685800" y="4562475"/>
            <a:ext cx="85725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0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27" name="Edited text 127"/>
          <p:cNvSpPr txBox="1"/>
          <p:nvPr/>
        </p:nvSpPr>
        <p:spPr>
          <a:xfrm>
            <a:off x="1847850" y="4562475"/>
            <a:ext cx="9658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00" b="1" lang="zh-TW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CONTROLLED REPAIR DECISIONS</a:t>
            </a:r>
          </a:p>
        </p:txBody>
      </p:sp>
      <p:sp>
        <p:nvSpPr>
          <p:cNvPr id="128" name="Edited text 128"/>
          <p:cNvSpPr txBox="1"/>
          <p:nvPr/>
        </p:nvSpPr>
        <p:spPr>
          <a:xfrm>
            <a:off x="1847850" y="4895850"/>
            <a:ext cx="96583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Depthwise 與 frozen-Best mixed-state 短訓練候選未通過升級門檻。</a:t>
            </a:r>
          </a:p>
          <a:p>
            <a:pPr>
              <a:lnSpc>
                <a:spcPct val="112000"/>
              </a:lnSpc>
              <a:buNone/>
            </a:pPr>
            <a:r>
              <a:rPr sz="15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本次不升級 60 epochs；loss 改善不足以證明幾何與循環穩定性改善。</a:t>
            </a:r>
          </a:p>
        </p:txBody>
      </p:sp>
      <p:sp>
        <p:nvSpPr>
          <p:cNvPr id="129" name="Rule 129"/>
          <p:cNvSpPr/>
          <p:nvPr/>
        </p:nvSpPr>
        <p:spPr>
          <a:xfrm>
            <a:off x="685800" y="569595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0" name="Edited text 130"/>
          <p:cNvSpPr txBox="1"/>
          <p:nvPr/>
        </p:nvSpPr>
        <p:spPr>
          <a:xfrm>
            <a:off x="685800" y="58483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350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NOT VERIFIED｜駕駛品質、唯一 causal mechanism、有效 model repair；Diagnosis／Unified live。</a:t>
            </a:r>
          </a:p>
        </p:txBody>
      </p:sp>
      <p:sp>
        <p:nvSpPr>
          <p:cNvPr id="131" name="Edited text 131"/>
          <p:cNvSpPr txBox="1"/>
          <p:nvPr/>
        </p:nvSpPr>
        <p:spPr>
          <a:xfrm>
            <a:off x="685800" y="6143625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275" b="0" 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PLANNED｜Project 3 ACT 依後續課程要求規劃，不計入本報告成果。</a:t>
            </a:r>
          </a:p>
        </p:txBody>
      </p:sp>
    </p:spTree>
    <p:extLst>
      <p:ext uri="{BB962C8B-B14F-4D97-AF65-F5344CB8AC3E}">
        <ns2:creationId val="1303320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2026-10-08T16:44:56.5590000Z</dcterms:created>
  <dcterms:modified xsi:type="dcterms:W3CDTF">2026-10-08T16:44:56.5590000Z</dcterms:modified>
</coreProperties>
</file>